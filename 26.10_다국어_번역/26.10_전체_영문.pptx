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7" r:id="rId6"/>
    <p:sldId id="266" r:id="rId7"/>
    <p:sldId id="270" r:id="rId8"/>
    <p:sldId id="271" r:id="rId9"/>
    <p:sldId id="272" r:id="rId10"/>
    <p:sldId id="269" r:id="rId11"/>
    <p:sldId id="263" r:id="rId12"/>
    <p:sldId id="264" r:id="rId13"/>
    <p:sldId id="265" r:id="rId14"/>
  </p:sldIdLst>
  <p:sldSz cx="10287000" cy="14544675"/>
  <p:notesSz cx="9928225" cy="6797675"/>
  <p:embeddedFontLst>
    <p:embeddedFont>
      <p:font typeface="신세계 Bold" panose="02000300000000000000" pitchFamily="50" charset="-127"/>
      <p:bold r:id="rId16"/>
    </p:embeddedFont>
    <p:embeddedFont>
      <p:font typeface="신세계 Medium" panose="02000300000000000000" pitchFamily="50" charset="-127"/>
      <p:regular r:id="rId17"/>
    </p:embeddedFont>
    <p:embeddedFont>
      <p:font typeface="신세계 Regular" panose="02000300000000000000" pitchFamily="50" charset="-127"/>
      <p:regular r:id="rId18"/>
    </p:embeddedFont>
    <p:embeddedFont>
      <p:font typeface="신세계 SemiBold" panose="02000300000000000000" pitchFamily="50" charset="-127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2383" y="3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A6AF-CD65-F0CC-6117-BD38F39C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A506A-BDCB-64C1-2116-B51E7C2F7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6D73-28D7-FD0B-3F50-0E4CA9F62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44DFC-52AC-A0A3-4008-572D54F8E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94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13" Type="http://schemas.openxmlformats.org/officeDocument/2006/relationships/image" Target="../media/image24.jpg"/><Relationship Id="rId18" Type="http://schemas.openxmlformats.org/officeDocument/2006/relationships/image" Target="../media/image2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17" Type="http://schemas.openxmlformats.org/officeDocument/2006/relationships/image" Target="../media/image28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5" Type="http://schemas.openxmlformats.org/officeDocument/2006/relationships/image" Target="../media/image2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Relationship Id="rId14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36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SIGNATURE LINE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50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Signature Line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84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14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Signature Care Crafted with Ceramique’s Exclusive Recipe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2EB6DBDC-AF6D-DD99-CC7F-22E715E52120}"/>
              </a:ext>
            </a:extLst>
          </p:cNvPr>
          <p:cNvGrpSpPr/>
          <p:nvPr/>
        </p:nvGrpSpPr>
        <p:grpSpPr>
          <a:xfrm>
            <a:off x="930580" y="3710076"/>
            <a:ext cx="8316077" cy="1114967"/>
            <a:chOff x="930580" y="3710076"/>
            <a:chExt cx="8316077" cy="1114967"/>
          </a:xfrm>
        </p:grpSpPr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E8AB2046-1A0E-F6CF-E68A-F16F1E1F2498}"/>
                </a:ext>
              </a:extLst>
            </p:cNvPr>
            <p:cNvSpPr txBox="1"/>
            <p:nvPr/>
          </p:nvSpPr>
          <p:spPr>
            <a:xfrm>
              <a:off x="930580" y="3710076"/>
              <a:ext cx="169920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KK Injection</a:t>
              </a:r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9354147A-C97C-B641-29AC-0EDC72D20641}"/>
                </a:ext>
              </a:extLst>
            </p:cNvPr>
            <p:cNvGrpSpPr/>
            <p:nvPr/>
          </p:nvGrpSpPr>
          <p:grpSpPr>
            <a:xfrm>
              <a:off x="1041515" y="4036831"/>
              <a:ext cx="8205142" cy="788212"/>
              <a:chOff x="1041515" y="4036831"/>
              <a:chExt cx="8205142" cy="788212"/>
            </a:xfrm>
          </p:grpSpPr>
          <p:grpSp>
            <p:nvGrpSpPr>
              <p:cNvPr id="359" name="그룹 358">
                <a:extLst>
                  <a:ext uri="{FF2B5EF4-FFF2-40B4-BE49-F238E27FC236}">
                    <a16:creationId xmlns:a16="http://schemas.microsoft.com/office/drawing/2014/main" id="{C5C254C2-0D5F-FC28-9CCB-386269DA498A}"/>
                  </a:ext>
                </a:extLst>
              </p:cNvPr>
              <p:cNvGrpSpPr/>
              <p:nvPr/>
            </p:nvGrpSpPr>
            <p:grpSpPr>
              <a:xfrm>
                <a:off x="1041515" y="4036831"/>
                <a:ext cx="8205142" cy="788212"/>
                <a:chOff x="1041515" y="4036831"/>
                <a:chExt cx="8205142" cy="788212"/>
              </a:xfrm>
            </p:grpSpPr>
            <p:sp>
              <p:nvSpPr>
                <p:cNvPr id="296" name="Shape 7">
                  <a:extLst>
                    <a:ext uri="{FF2B5EF4-FFF2-40B4-BE49-F238E27FC236}">
                      <a16:creationId xmlns:a16="http://schemas.microsoft.com/office/drawing/2014/main" id="{469FBFE5-A2B6-EB93-8A48-F19F754DC677}"/>
                    </a:ext>
                  </a:extLst>
                </p:cNvPr>
                <p:cNvSpPr/>
                <p:nvPr/>
              </p:nvSpPr>
              <p:spPr>
                <a:xfrm>
                  <a:off x="1041515" y="4036831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7" name="Shape 7">
                  <a:extLst>
                    <a:ext uri="{FF2B5EF4-FFF2-40B4-BE49-F238E27FC236}">
                      <a16:creationId xmlns:a16="http://schemas.microsoft.com/office/drawing/2014/main" id="{5BACF9CA-20F3-5713-3416-70974C26E959}"/>
                    </a:ext>
                  </a:extLst>
                </p:cNvPr>
                <p:cNvSpPr/>
                <p:nvPr/>
              </p:nvSpPr>
              <p:spPr>
                <a:xfrm>
                  <a:off x="1041515" y="4424592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303" name="Shape 7">
                  <a:extLst>
                    <a:ext uri="{FF2B5EF4-FFF2-40B4-BE49-F238E27FC236}">
                      <a16:creationId xmlns:a16="http://schemas.microsoft.com/office/drawing/2014/main" id="{6F0897AD-A49F-DAE3-DB1F-F29F0824F60A}"/>
                    </a:ext>
                  </a:extLst>
                </p:cNvPr>
                <p:cNvSpPr/>
                <p:nvPr/>
              </p:nvSpPr>
              <p:spPr>
                <a:xfrm>
                  <a:off x="1041515" y="481143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E073F10A-DAC3-3514-F5D0-312A3D66682D}"/>
                  </a:ext>
                </a:extLst>
              </p:cNvPr>
              <p:cNvGrpSpPr/>
              <p:nvPr/>
            </p:nvGrpSpPr>
            <p:grpSpPr>
              <a:xfrm>
                <a:off x="1044691" y="4047496"/>
                <a:ext cx="8201966" cy="375481"/>
                <a:chOff x="1044691" y="4047496"/>
                <a:chExt cx="8201966" cy="37548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C1B91523-7C5E-7560-596F-215C7A208FF6}"/>
                    </a:ext>
                  </a:extLst>
                </p:cNvPr>
                <p:cNvSpPr/>
                <p:nvPr/>
              </p:nvSpPr>
              <p:spPr>
                <a:xfrm>
                  <a:off x="1044691" y="4047496"/>
                  <a:ext cx="6824399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321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 xml:space="preserve">KK Injection  </a:t>
                  </a:r>
                  <a:r>
                    <a:rPr lang="en-US" sz="943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Premium booster: Ceramique recipe of autologous cells &amp; collagen — RAJUNISS stem cells · Celcore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sp>
              <p:nvSpPr>
                <p:cNvPr id="295" name="Text 15">
                  <a:extLst>
                    <a:ext uri="{FF2B5EF4-FFF2-40B4-BE49-F238E27FC236}">
                      <a16:creationId xmlns:a16="http://schemas.microsoft.com/office/drawing/2014/main" id="{53CB26D6-0910-834B-6F4A-D6BE13977286}"/>
                    </a:ext>
                  </a:extLst>
                </p:cNvPr>
                <p:cNvSpPr/>
                <p:nvPr/>
              </p:nvSpPr>
              <p:spPr>
                <a:xfrm>
                  <a:off x="7069424" y="4048967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en-US" sz="1159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1 Kit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3,850,000</a:t>
                  </a: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2BE7EB5D-B5FA-EC08-2ECD-0453A8E6383C}"/>
                  </a:ext>
                </a:extLst>
              </p:cNvPr>
              <p:cNvGrpSpPr/>
              <p:nvPr/>
            </p:nvGrpSpPr>
            <p:grpSpPr>
              <a:xfrm>
                <a:off x="1044691" y="4434340"/>
                <a:ext cx="8201966" cy="375481"/>
                <a:chOff x="1044691" y="4434340"/>
                <a:chExt cx="8201966" cy="375481"/>
              </a:xfrm>
            </p:grpSpPr>
            <p:sp>
              <p:nvSpPr>
                <p:cNvPr id="299" name="Text 11">
                  <a:extLst>
                    <a:ext uri="{FF2B5EF4-FFF2-40B4-BE49-F238E27FC236}">
                      <a16:creationId xmlns:a16="http://schemas.microsoft.com/office/drawing/2014/main" id="{493BF336-4031-7185-D8CA-35E1D99C9F3B}"/>
                    </a:ext>
                  </a:extLst>
                </p:cNvPr>
                <p:cNvSpPr/>
                <p:nvPr/>
              </p:nvSpPr>
              <p:spPr>
                <a:xfrm>
                  <a:off x="1044691" y="4434340"/>
                  <a:ext cx="5660909" cy="37548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Premium KK Injection</a:t>
                  </a:r>
                </a:p>
              </p:txBody>
            </p:sp>
            <p:sp>
              <p:nvSpPr>
                <p:cNvPr id="301" name="Text 15">
                  <a:extLst>
                    <a:ext uri="{FF2B5EF4-FFF2-40B4-BE49-F238E27FC236}">
                      <a16:creationId xmlns:a16="http://schemas.microsoft.com/office/drawing/2014/main" id="{2676FD81-AC82-4D78-9E33-4EB2CB030F09}"/>
                    </a:ext>
                  </a:extLst>
                </p:cNvPr>
                <p:cNvSpPr/>
                <p:nvPr/>
              </p:nvSpPr>
              <p:spPr>
                <a:xfrm>
                  <a:off x="7069424" y="4435811"/>
                  <a:ext cx="2265448" cy="372539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3 Kits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4,500,000</a:t>
                  </a:r>
                </a:p>
              </p:txBody>
            </p:sp>
          </p:grpSp>
        </p:grpSp>
      </p:grp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85FC64BF-48F9-A02B-E08A-1A6978836CD4}"/>
              </a:ext>
            </a:extLst>
          </p:cNvPr>
          <p:cNvGrpSpPr/>
          <p:nvPr/>
        </p:nvGrpSpPr>
        <p:grpSpPr>
          <a:xfrm>
            <a:off x="930580" y="8057148"/>
            <a:ext cx="8316077" cy="1681246"/>
            <a:chOff x="930580" y="8057148"/>
            <a:chExt cx="8316077" cy="1681246"/>
          </a:xfrm>
        </p:grpSpPr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6DDC3603-F8A0-3B3A-2F81-DD508C818502}"/>
                </a:ext>
              </a:extLst>
            </p:cNvPr>
            <p:cNvSpPr txBox="1"/>
            <p:nvPr/>
          </p:nvSpPr>
          <p:spPr>
            <a:xfrm>
              <a:off x="930580" y="8057148"/>
              <a:ext cx="374494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Skin Texture Smoothing Program</a:t>
              </a:r>
            </a:p>
          </p:txBody>
        </p:sp>
        <p:sp>
          <p:nvSpPr>
            <p:cNvPr id="339" name="Text 9">
              <a:extLst>
                <a:ext uri="{FF2B5EF4-FFF2-40B4-BE49-F238E27FC236}">
                  <a16:creationId xmlns:a16="http://schemas.microsoft.com/office/drawing/2014/main" id="{61075F70-EA29-2621-EB7D-1E09005AF291}"/>
                </a:ext>
              </a:extLst>
            </p:cNvPr>
            <p:cNvSpPr/>
            <p:nvPr/>
          </p:nvSpPr>
          <p:spPr>
            <a:xfrm>
              <a:off x="6092181" y="8117613"/>
              <a:ext cx="3154476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Pores / Scars / Trouble Spots 1:1 Custom Curation</a:t>
              </a: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18EE62A7-2B7D-EF42-63C3-0A40657F2284}"/>
                </a:ext>
              </a:extLst>
            </p:cNvPr>
            <p:cNvGrpSpPr/>
            <p:nvPr/>
          </p:nvGrpSpPr>
          <p:grpSpPr>
            <a:xfrm>
              <a:off x="1041515" y="8383903"/>
              <a:ext cx="8205142" cy="1354491"/>
              <a:chOff x="1041515" y="8383903"/>
              <a:chExt cx="8205142" cy="1354491"/>
            </a:xfrm>
          </p:grpSpPr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7142CABF-3EA8-54F6-2218-CF4370962128}"/>
                  </a:ext>
                </a:extLst>
              </p:cNvPr>
              <p:cNvGrpSpPr/>
              <p:nvPr/>
            </p:nvGrpSpPr>
            <p:grpSpPr>
              <a:xfrm>
                <a:off x="1041515" y="8383903"/>
                <a:ext cx="8205142" cy="1354491"/>
                <a:chOff x="1041515" y="8383903"/>
                <a:chExt cx="8205142" cy="1354491"/>
              </a:xfrm>
            </p:grpSpPr>
            <p:sp>
              <p:nvSpPr>
                <p:cNvPr id="344" name="Shape 7">
                  <a:extLst>
                    <a:ext uri="{FF2B5EF4-FFF2-40B4-BE49-F238E27FC236}">
                      <a16:creationId xmlns:a16="http://schemas.microsoft.com/office/drawing/2014/main" id="{0E51EEA8-941C-D516-12A3-17C3B1302D9E}"/>
                    </a:ext>
                  </a:extLst>
                </p:cNvPr>
                <p:cNvSpPr/>
                <p:nvPr/>
              </p:nvSpPr>
              <p:spPr>
                <a:xfrm>
                  <a:off x="1041515" y="8383903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345" name="Shape 7">
                  <a:extLst>
                    <a:ext uri="{FF2B5EF4-FFF2-40B4-BE49-F238E27FC236}">
                      <a16:creationId xmlns:a16="http://schemas.microsoft.com/office/drawing/2014/main" id="{4A87C16F-76FF-7B8D-9E42-A1E623ECCB8F}"/>
                    </a:ext>
                  </a:extLst>
                </p:cNvPr>
                <p:cNvSpPr/>
                <p:nvPr/>
              </p:nvSpPr>
              <p:spPr>
                <a:xfrm>
                  <a:off x="1041515" y="9724787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  <p:grpSp>
            <p:nvGrpSpPr>
              <p:cNvPr id="375" name="그룹 374">
                <a:extLst>
                  <a:ext uri="{FF2B5EF4-FFF2-40B4-BE49-F238E27FC236}">
                    <a16:creationId xmlns:a16="http://schemas.microsoft.com/office/drawing/2014/main" id="{232627F6-6A00-4037-7473-5175B3906409}"/>
                  </a:ext>
                </a:extLst>
              </p:cNvPr>
              <p:cNvGrpSpPr/>
              <p:nvPr/>
            </p:nvGrpSpPr>
            <p:grpSpPr>
              <a:xfrm>
                <a:off x="1044691" y="8394252"/>
                <a:ext cx="8201966" cy="1329908"/>
                <a:chOff x="1044691" y="8394252"/>
                <a:chExt cx="8201966" cy="1329908"/>
              </a:xfrm>
            </p:grpSpPr>
            <p:sp>
              <p:nvSpPr>
                <p:cNvPr id="341" name="Text 11">
                  <a:extLst>
                    <a:ext uri="{FF2B5EF4-FFF2-40B4-BE49-F238E27FC236}">
                      <a16:creationId xmlns:a16="http://schemas.microsoft.com/office/drawing/2014/main" id="{0F7C02AB-C323-4565-E805-4D7413895469}"/>
                    </a:ext>
                  </a:extLst>
                </p:cNvPr>
                <p:cNvSpPr/>
                <p:nvPr/>
              </p:nvSpPr>
              <p:spPr>
                <a:xfrm>
                  <a:off x="1044691" y="8394252"/>
                  <a:ext cx="6557119" cy="1329908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Potenza (Full-Face)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US" sz="774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Analyzes the cause · size · depth · texture · color of pores, scars and breakouts to improve them</a:t>
                  </a:r>
                  <a:br>
                    <a:rPr lang="en-US" altLang="ko-KR" sz="11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</a:br>
                  <a:r>
                    <a:rPr lang="en-US" sz="703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* Pain Care: Anesthetic Cream, Local Anesthesia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* Aftercare: O2Derm + Modeling Pack</a:t>
                  </a:r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 marL="0" indent="0" algn="l">
                    <a:lnSpc>
                      <a:spcPct val="150000"/>
                    </a:lnSpc>
                    <a:buNone/>
                  </a:pPr>
                  <a:r>
                    <a:rPr lang="en-US" sz="851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* Each session is customized by combining Potenza + JUVELOOK, Olidia, or Skin Botox (choose 1) depending on skin condition.</a:t>
                  </a:r>
                </a:p>
              </p:txBody>
            </p:sp>
            <p:sp>
              <p:nvSpPr>
                <p:cNvPr id="343" name="Text 15">
                  <a:extLst>
                    <a:ext uri="{FF2B5EF4-FFF2-40B4-BE49-F238E27FC236}">
                      <a16:creationId xmlns:a16="http://schemas.microsoft.com/office/drawing/2014/main" id="{7FDBD508-0221-3F1F-2A0E-2BFB1E756CDF}"/>
                    </a:ext>
                  </a:extLst>
                </p:cNvPr>
                <p:cNvSpPr/>
                <p:nvPr/>
              </p:nvSpPr>
              <p:spPr>
                <a:xfrm>
                  <a:off x="7069424" y="8395568"/>
                  <a:ext cx="2265448" cy="1327277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986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1 Session</a:t>
                  </a:r>
                  <a:r>
                    <a:rPr lang="en-US" altLang="ko-KR" sz="11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550,000</a:t>
                  </a:r>
                  <a:endParaRPr lang="en-US" altLang="ko-KR" sz="11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endParaRP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sz="986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3 Sessions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1,450,000</a:t>
                  </a:r>
                </a:p>
                <a:p>
                  <a:pPr algn="r">
                    <a:lnSpc>
                      <a:spcPct val="120000"/>
                    </a:lnSpc>
                  </a:pPr>
                  <a:r>
                    <a:rPr lang="en-US" sz="986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5 Sessions</a:t>
                  </a:r>
                  <a:r>
                    <a:rPr lang="en-US" altLang="ko-KR" sz="1400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GC 16 Mono" pitchFamily="34" charset="-120"/>
                    </a:rPr>
                    <a:t> </a:t>
                  </a:r>
                  <a:r>
                    <a:rPr lang="en-US" altLang="ko-KR" sz="14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rPr>
                    <a:t>1,990,000</a:t>
                  </a:r>
                </a:p>
              </p:txBody>
            </p:sp>
          </p:grpSp>
        </p:grpSp>
      </p:grpSp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9177DF37-424F-007E-8E9F-453761EE90B4}"/>
              </a:ext>
            </a:extLst>
          </p:cNvPr>
          <p:cNvGrpSpPr/>
          <p:nvPr/>
        </p:nvGrpSpPr>
        <p:grpSpPr>
          <a:xfrm>
            <a:off x="930580" y="2720019"/>
            <a:ext cx="8316077" cy="728123"/>
            <a:chOff x="930580" y="2720019"/>
            <a:chExt cx="8316077" cy="728123"/>
          </a:xfrm>
        </p:grpSpPr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E7C8D2C6-0700-2046-2599-0D01A6627BBE}"/>
                </a:ext>
              </a:extLst>
            </p:cNvPr>
            <p:cNvSpPr txBox="1"/>
            <p:nvPr/>
          </p:nvSpPr>
          <p:spPr>
            <a:xfrm>
              <a:off x="930580" y="2720019"/>
              <a:ext cx="164148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KS Injection</a:t>
              </a:r>
              <a:endParaRPr lang="en-US" altLang="ko-KR" dirty="0">
                <a:latin typeface="신세계 SemiBold" panose="02000300000000000000" pitchFamily="50" charset="-127"/>
                <a:ea typeface="신세계 SemiBold" panose="02000300000000000000" pitchFamily="50" charset="-127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76CED606-8599-784C-16AB-32E32277C51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0" name="Shape 7">
                <a:extLst>
                  <a:ext uri="{FF2B5EF4-FFF2-40B4-BE49-F238E27FC236}">
                    <a16:creationId xmlns:a16="http://schemas.microsoft.com/office/drawing/2014/main" id="{834D93DF-2749-00B1-BC15-FD59FD0FC50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4" name="Text 11"/>
            <p:cNvSpPr/>
            <p:nvPr/>
          </p:nvSpPr>
          <p:spPr>
            <a:xfrm>
              <a:off x="1044691" y="3057439"/>
              <a:ext cx="5673440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078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KS Injection  </a:t>
              </a:r>
              <a:r>
                <a:rPr lang="en-US" sz="77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Ceramique-recipe booster from autologous cell components — Injucell · Celcore regeneration program</a:t>
              </a:r>
            </a:p>
          </p:txBody>
        </p:sp>
        <p:sp>
          <p:nvSpPr>
            <p:cNvPr id="18" name="Text 15"/>
            <p:cNvSpPr/>
            <p:nvPr/>
          </p:nvSpPr>
          <p:spPr>
            <a:xfrm>
              <a:off x="8183348" y="3137457"/>
              <a:ext cx="11515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6cc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1,410,000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78" name="Text 15">
              <a:extLst>
                <a:ext uri="{FF2B5EF4-FFF2-40B4-BE49-F238E27FC236}">
                  <a16:creationId xmlns:a16="http://schemas.microsoft.com/office/drawing/2014/main" id="{06F4ECB9-76DD-F9D2-1ADD-DB3ED50DF663}"/>
                </a:ext>
              </a:extLst>
            </p:cNvPr>
            <p:cNvSpPr/>
            <p:nvPr/>
          </p:nvSpPr>
          <p:spPr>
            <a:xfrm>
              <a:off x="6847203" y="3137457"/>
              <a:ext cx="944169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790,000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90" name="그룹 389">
            <a:extLst>
              <a:ext uri="{FF2B5EF4-FFF2-40B4-BE49-F238E27FC236}">
                <a16:creationId xmlns:a16="http://schemas.microsoft.com/office/drawing/2014/main" id="{4F93E5D7-F142-9370-DFBB-67BE0A662FB0}"/>
              </a:ext>
            </a:extLst>
          </p:cNvPr>
          <p:cNvGrpSpPr/>
          <p:nvPr/>
        </p:nvGrpSpPr>
        <p:grpSpPr>
          <a:xfrm>
            <a:off x="930580" y="5086977"/>
            <a:ext cx="8316077" cy="728123"/>
            <a:chOff x="930580" y="5086977"/>
            <a:chExt cx="8316077" cy="728123"/>
          </a:xfrm>
        </p:grpSpPr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6DE8B80F-9D4D-D727-CDCE-D1EE70D10415}"/>
                </a:ext>
              </a:extLst>
            </p:cNvPr>
            <p:cNvSpPr txBox="1"/>
            <p:nvPr/>
          </p:nvSpPr>
          <p:spPr>
            <a:xfrm>
              <a:off x="930580" y="5086977"/>
              <a:ext cx="332077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Full-Face Contouring Botox</a:t>
              </a:r>
            </a:p>
          </p:txBody>
        </p:sp>
        <p:sp>
          <p:nvSpPr>
            <p:cNvPr id="310" name="Text 9">
              <a:extLst>
                <a:ext uri="{FF2B5EF4-FFF2-40B4-BE49-F238E27FC236}">
                  <a16:creationId xmlns:a16="http://schemas.microsoft.com/office/drawing/2014/main" id="{BA3A010B-4B3A-6428-1420-25DB3DCEB919}"/>
                </a:ext>
              </a:extLst>
            </p:cNvPr>
            <p:cNvSpPr/>
            <p:nvPr/>
          </p:nvSpPr>
          <p:spPr>
            <a:xfrm>
              <a:off x="6800652" y="5147442"/>
              <a:ext cx="244600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Customized planning before treatment.</a:t>
              </a: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A834CBB1-332A-1DCC-6A77-1A486E22EE77}"/>
                </a:ext>
              </a:extLst>
            </p:cNvPr>
            <p:cNvGrpSpPr/>
            <p:nvPr/>
          </p:nvGrpSpPr>
          <p:grpSpPr>
            <a:xfrm>
              <a:off x="1041515" y="5413732"/>
              <a:ext cx="8205142" cy="401368"/>
              <a:chOff x="1041515" y="3046774"/>
              <a:chExt cx="8205142" cy="401368"/>
            </a:xfrm>
          </p:grpSpPr>
          <p:sp>
            <p:nvSpPr>
              <p:cNvPr id="315" name="Shape 7">
                <a:extLst>
                  <a:ext uri="{FF2B5EF4-FFF2-40B4-BE49-F238E27FC236}">
                    <a16:creationId xmlns:a16="http://schemas.microsoft.com/office/drawing/2014/main" id="{AE1A51A1-F614-5757-1021-2AF7EE561DDF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16" name="Shape 7">
                <a:extLst>
                  <a:ext uri="{FF2B5EF4-FFF2-40B4-BE49-F238E27FC236}">
                    <a16:creationId xmlns:a16="http://schemas.microsoft.com/office/drawing/2014/main" id="{C2B8A3E3-4B5D-13DE-92F8-D6F4D9ECF98E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12" name="Text 11">
              <a:extLst>
                <a:ext uri="{FF2B5EF4-FFF2-40B4-BE49-F238E27FC236}">
                  <a16:creationId xmlns:a16="http://schemas.microsoft.com/office/drawing/2014/main" id="{C4667FA9-B409-B8CE-D64A-8C715E94794D}"/>
                </a:ext>
              </a:extLst>
            </p:cNvPr>
            <p:cNvSpPr/>
            <p:nvPr/>
          </p:nvSpPr>
          <p:spPr>
            <a:xfrm>
              <a:off x="1044691" y="542439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Precisely refines all facial muscles for a defined yet soft impression.</a:t>
              </a:r>
            </a:p>
          </p:txBody>
        </p:sp>
        <p:sp>
          <p:nvSpPr>
            <p:cNvPr id="379" name="Text 15">
              <a:extLst>
                <a:ext uri="{FF2B5EF4-FFF2-40B4-BE49-F238E27FC236}">
                  <a16:creationId xmlns:a16="http://schemas.microsoft.com/office/drawing/2014/main" id="{E129D980-93C4-7F6C-3ECB-C7D81BD59567}"/>
                </a:ext>
              </a:extLst>
            </p:cNvPr>
            <p:cNvSpPr/>
            <p:nvPr/>
          </p:nvSpPr>
          <p:spPr>
            <a:xfrm>
              <a:off x="7798308" y="5504415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Imported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0" name="Text 15">
              <a:extLst>
                <a:ext uri="{FF2B5EF4-FFF2-40B4-BE49-F238E27FC236}">
                  <a16:creationId xmlns:a16="http://schemas.microsoft.com/office/drawing/2014/main" id="{9498DEA0-032E-82D1-2941-75B0A2C9953D}"/>
                </a:ext>
              </a:extLst>
            </p:cNvPr>
            <p:cNvSpPr/>
            <p:nvPr/>
          </p:nvSpPr>
          <p:spPr>
            <a:xfrm>
              <a:off x="5984242" y="5504415"/>
              <a:ext cx="141330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12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Domestic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DC344501-F001-42A6-5B7D-A7FDF0CE6298}"/>
              </a:ext>
            </a:extLst>
          </p:cNvPr>
          <p:cNvGrpSpPr/>
          <p:nvPr/>
        </p:nvGrpSpPr>
        <p:grpSpPr>
          <a:xfrm>
            <a:off x="930580" y="6077034"/>
            <a:ext cx="8316077" cy="728123"/>
            <a:chOff x="930580" y="6077034"/>
            <a:chExt cx="8316077" cy="728123"/>
          </a:xfrm>
        </p:grpSpPr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002F7B79-D4C9-4FF3-E978-75787ED4B896}"/>
                </a:ext>
              </a:extLst>
            </p:cNvPr>
            <p:cNvSpPr txBox="1"/>
            <p:nvPr/>
          </p:nvSpPr>
          <p:spPr>
            <a:xfrm>
              <a:off x="930580" y="6077034"/>
              <a:ext cx="269980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Neck Contouring Botox</a:t>
              </a:r>
            </a:p>
          </p:txBody>
        </p:sp>
        <p:sp>
          <p:nvSpPr>
            <p:cNvPr id="319" name="Text 9">
              <a:extLst>
                <a:ext uri="{FF2B5EF4-FFF2-40B4-BE49-F238E27FC236}">
                  <a16:creationId xmlns:a16="http://schemas.microsoft.com/office/drawing/2014/main" id="{1F40C0A1-6DA5-4123-BEBB-1815115449D9}"/>
                </a:ext>
              </a:extLst>
            </p:cNvPr>
            <p:cNvSpPr/>
            <p:nvPr/>
          </p:nvSpPr>
          <p:spPr>
            <a:xfrm>
              <a:off x="6800652" y="6137499"/>
              <a:ext cx="244600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Customized planning before treatment.</a:t>
              </a:r>
            </a:p>
          </p:txBody>
        </p:sp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6279F03C-8246-B375-663A-451EF1301158}"/>
                </a:ext>
              </a:extLst>
            </p:cNvPr>
            <p:cNvGrpSpPr/>
            <p:nvPr/>
          </p:nvGrpSpPr>
          <p:grpSpPr>
            <a:xfrm>
              <a:off x="1041515" y="6403789"/>
              <a:ext cx="8205142" cy="401368"/>
              <a:chOff x="1041515" y="3046774"/>
              <a:chExt cx="8205142" cy="401368"/>
            </a:xfrm>
          </p:grpSpPr>
          <p:sp>
            <p:nvSpPr>
              <p:cNvPr id="324" name="Shape 7">
                <a:extLst>
                  <a:ext uri="{FF2B5EF4-FFF2-40B4-BE49-F238E27FC236}">
                    <a16:creationId xmlns:a16="http://schemas.microsoft.com/office/drawing/2014/main" id="{5515B9C7-A2BF-2ACA-E7D0-88FCED1F76C6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25" name="Shape 7">
                <a:extLst>
                  <a:ext uri="{FF2B5EF4-FFF2-40B4-BE49-F238E27FC236}">
                    <a16:creationId xmlns:a16="http://schemas.microsoft.com/office/drawing/2014/main" id="{9D77B9F3-D371-A957-29AA-A9E44C0CCE88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21" name="Text 11">
              <a:extLst>
                <a:ext uri="{FF2B5EF4-FFF2-40B4-BE49-F238E27FC236}">
                  <a16:creationId xmlns:a16="http://schemas.microsoft.com/office/drawing/2014/main" id="{4AAB04C1-9B5D-5FF2-F0D7-435AAB62528D}"/>
                </a:ext>
              </a:extLst>
            </p:cNvPr>
            <p:cNvSpPr/>
            <p:nvPr/>
          </p:nvSpPr>
          <p:spPr>
            <a:xfrm>
              <a:off x="1044691" y="641445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Eases turtle neck and slims the jaw, neck and shoulder lines for an elegant look.</a:t>
              </a:r>
            </a:p>
          </p:txBody>
        </p:sp>
        <p:sp>
          <p:nvSpPr>
            <p:cNvPr id="381" name="Text 15">
              <a:extLst>
                <a:ext uri="{FF2B5EF4-FFF2-40B4-BE49-F238E27FC236}">
                  <a16:creationId xmlns:a16="http://schemas.microsoft.com/office/drawing/2014/main" id="{61FEDDC1-0C89-8A9C-B6DB-C7B5BB1CF67B}"/>
                </a:ext>
              </a:extLst>
            </p:cNvPr>
            <p:cNvSpPr/>
            <p:nvPr/>
          </p:nvSpPr>
          <p:spPr>
            <a:xfrm>
              <a:off x="7798308" y="6494472"/>
              <a:ext cx="153656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Imported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2" name="Text 15">
              <a:extLst>
                <a:ext uri="{FF2B5EF4-FFF2-40B4-BE49-F238E27FC236}">
                  <a16:creationId xmlns:a16="http://schemas.microsoft.com/office/drawing/2014/main" id="{55B49249-9791-16A2-14A3-91800FD1301D}"/>
                </a:ext>
              </a:extLst>
            </p:cNvPr>
            <p:cNvSpPr/>
            <p:nvPr/>
          </p:nvSpPr>
          <p:spPr>
            <a:xfrm>
              <a:off x="5997066" y="6494472"/>
              <a:ext cx="141330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12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Domestic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607EC85D-32D6-A980-7439-C64F8B975CC5}"/>
              </a:ext>
            </a:extLst>
          </p:cNvPr>
          <p:cNvGrpSpPr/>
          <p:nvPr/>
        </p:nvGrpSpPr>
        <p:grpSpPr>
          <a:xfrm>
            <a:off x="930580" y="7067091"/>
            <a:ext cx="8316077" cy="728123"/>
            <a:chOff x="930580" y="7067091"/>
            <a:chExt cx="8316077" cy="728123"/>
          </a:xfrm>
        </p:grpSpPr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EB839253-0593-CC86-1137-C386FC28D31A}"/>
                </a:ext>
              </a:extLst>
            </p:cNvPr>
            <p:cNvSpPr txBox="1"/>
            <p:nvPr/>
          </p:nvSpPr>
          <p:spPr>
            <a:xfrm>
              <a:off x="930580" y="7067091"/>
              <a:ext cx="555023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Signature Face and Neck Total Contouring Botox</a:t>
              </a:r>
            </a:p>
          </p:txBody>
        </p:sp>
        <p:sp>
          <p:nvSpPr>
            <p:cNvPr id="329" name="Text 9">
              <a:extLst>
                <a:ext uri="{FF2B5EF4-FFF2-40B4-BE49-F238E27FC236}">
                  <a16:creationId xmlns:a16="http://schemas.microsoft.com/office/drawing/2014/main" id="{B47225FB-3FDC-CB3E-20D9-AE1CBBBA8E57}"/>
                </a:ext>
              </a:extLst>
            </p:cNvPr>
            <p:cNvSpPr/>
            <p:nvPr/>
          </p:nvSpPr>
          <p:spPr>
            <a:xfrm>
              <a:off x="6800652" y="7127556"/>
              <a:ext cx="2446005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Customized planning before treatment.</a:t>
              </a:r>
            </a:p>
          </p:txBody>
        </p: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6132263E-C32F-29D4-5E0E-F89891AB9219}"/>
                </a:ext>
              </a:extLst>
            </p:cNvPr>
            <p:cNvGrpSpPr/>
            <p:nvPr/>
          </p:nvGrpSpPr>
          <p:grpSpPr>
            <a:xfrm>
              <a:off x="1041515" y="7393846"/>
              <a:ext cx="8205142" cy="401368"/>
              <a:chOff x="1041515" y="3046774"/>
              <a:chExt cx="8205142" cy="401368"/>
            </a:xfrm>
          </p:grpSpPr>
          <p:sp>
            <p:nvSpPr>
              <p:cNvPr id="334" name="Shape 7">
                <a:extLst>
                  <a:ext uri="{FF2B5EF4-FFF2-40B4-BE49-F238E27FC236}">
                    <a16:creationId xmlns:a16="http://schemas.microsoft.com/office/drawing/2014/main" id="{532FEE19-C581-16E2-1C9D-228150A268EE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35" name="Shape 7">
                <a:extLst>
                  <a:ext uri="{FF2B5EF4-FFF2-40B4-BE49-F238E27FC236}">
                    <a16:creationId xmlns:a16="http://schemas.microsoft.com/office/drawing/2014/main" id="{85206FB8-F1B7-ECD5-C61D-9DC3BBC949D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31" name="Text 11">
              <a:extLst>
                <a:ext uri="{FF2B5EF4-FFF2-40B4-BE49-F238E27FC236}">
                  <a16:creationId xmlns:a16="http://schemas.microsoft.com/office/drawing/2014/main" id="{66C6740B-0794-AA12-EBAF-8BC9E39369D6}"/>
                </a:ext>
              </a:extLst>
            </p:cNvPr>
            <p:cNvSpPr/>
            <p:nvPr/>
          </p:nvSpPr>
          <p:spPr>
            <a:xfrm>
              <a:off x="1044691" y="7404511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en-US" sz="979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Precisely balanced to refine face shape, neckline, décolletage, and skin texture.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D11A7E93-8DB8-AE30-D74C-F7F2E006FF4A}"/>
                </a:ext>
              </a:extLst>
            </p:cNvPr>
            <p:cNvSpPr/>
            <p:nvPr/>
          </p:nvSpPr>
          <p:spPr>
            <a:xfrm>
              <a:off x="7510956" y="7484529"/>
              <a:ext cx="173570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Imported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3DE2C777-D268-2CBE-8F95-3DC2C0310A66}"/>
                </a:ext>
              </a:extLst>
            </p:cNvPr>
            <p:cNvSpPr/>
            <p:nvPr/>
          </p:nvSpPr>
          <p:spPr>
            <a:xfrm>
              <a:off x="5997066" y="7484529"/>
              <a:ext cx="141330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12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Domestic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  <a:endParaRPr lang="en-US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5231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BOTULINUM TOXIN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5366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Botox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2714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04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Domestic · Domestic Premium, Low-Resistance German · American Original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1" name="Text 96">
            <a:extLst>
              <a:ext uri="{FF2B5EF4-FFF2-40B4-BE49-F238E27FC236}">
                <a16:creationId xmlns:a16="http://schemas.microsoft.com/office/drawing/2014/main" id="{01CCF82E-6E67-D21C-75CC-00CB5D38759E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05AB8590-411C-EE9D-4293-4945E2A98FA0}"/>
              </a:ext>
            </a:extLst>
          </p:cNvPr>
          <p:cNvGrpSpPr/>
          <p:nvPr/>
        </p:nvGrpSpPr>
        <p:grpSpPr>
          <a:xfrm>
            <a:off x="930580" y="2720019"/>
            <a:ext cx="8316077" cy="971178"/>
            <a:chOff x="930580" y="2720019"/>
            <a:chExt cx="8316077" cy="971178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DCF1B7E-5C78-E499-C13D-8FE0A6079BF2}"/>
                </a:ext>
              </a:extLst>
            </p:cNvPr>
            <p:cNvSpPr txBox="1"/>
            <p:nvPr/>
          </p:nvSpPr>
          <p:spPr>
            <a:xfrm>
              <a:off x="930580" y="2720019"/>
              <a:ext cx="172407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Wrinkle Botox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865EBFF4-AD2E-BBD0-524A-36A28B45BFB7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644423"/>
              <a:chOff x="1041515" y="3046774"/>
              <a:chExt cx="8205142" cy="644423"/>
            </a:xfrm>
          </p:grpSpPr>
          <p:sp>
            <p:nvSpPr>
              <p:cNvPr id="224" name="Shape 7">
                <a:extLst>
                  <a:ext uri="{FF2B5EF4-FFF2-40B4-BE49-F238E27FC236}">
                    <a16:creationId xmlns:a16="http://schemas.microsoft.com/office/drawing/2014/main" id="{64C497E4-2086-0ED9-5619-F593C30E32E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5" name="Shape 7">
                <a:extLst>
                  <a:ext uri="{FF2B5EF4-FFF2-40B4-BE49-F238E27FC236}">
                    <a16:creationId xmlns:a16="http://schemas.microsoft.com/office/drawing/2014/main" id="{7D538325-2788-5A2E-7161-56B3B233B3D5}"/>
                  </a:ext>
                </a:extLst>
              </p:cNvPr>
              <p:cNvSpPr/>
              <p:nvPr/>
            </p:nvSpPr>
            <p:spPr>
              <a:xfrm>
                <a:off x="1041515" y="3677590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80F179A6-EA66-9B16-2717-59C71497F91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312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Wrinkle Botox 1 Area  </a:t>
              </a:r>
              <a:r>
                <a:rPr lang="en-US" sz="937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Softens wrinkles to restore a naturally relaxed expression.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en-US" sz="993" dirty="0">
                  <a:solidFill>
                    <a:schemeClr val="bg1">
                      <a:lumMod val="50000"/>
                    </a:schemeClr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Choose 1: forehead / glabella / around the eyes / bridge of the nose / cobblestone chin</a:t>
              </a:r>
            </a:p>
          </p:txBody>
        </p:sp>
        <p:sp>
          <p:nvSpPr>
            <p:cNvPr id="223" name="Text 15">
              <a:extLst>
                <a:ext uri="{FF2B5EF4-FFF2-40B4-BE49-F238E27FC236}">
                  <a16:creationId xmlns:a16="http://schemas.microsoft.com/office/drawing/2014/main" id="{C0164E65-C5D1-28FE-8F33-81311DF0721B}"/>
                </a:ext>
              </a:extLst>
            </p:cNvPr>
            <p:cNvSpPr/>
            <p:nvPr/>
          </p:nvSpPr>
          <p:spPr>
            <a:xfrm>
              <a:off x="7762412" y="3058909"/>
              <a:ext cx="1572460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13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German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13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American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30" name="Text 15">
              <a:extLst>
                <a:ext uri="{FF2B5EF4-FFF2-40B4-BE49-F238E27FC236}">
                  <a16:creationId xmlns:a16="http://schemas.microsoft.com/office/drawing/2014/main" id="{F0404CE3-1938-4BA9-E17A-2A9B1461746F}"/>
                </a:ext>
              </a:extLst>
            </p:cNvPr>
            <p:cNvSpPr/>
            <p:nvPr/>
          </p:nvSpPr>
          <p:spPr>
            <a:xfrm>
              <a:off x="5416060" y="3058909"/>
              <a:ext cx="2265448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977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Domestic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  <a:p>
              <a:pPr algn="r"/>
              <a:r>
                <a:rPr lang="en-US" sz="977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Premium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D15FC85C-675B-40EF-54E7-C4337D0B5F43}"/>
              </a:ext>
            </a:extLst>
          </p:cNvPr>
          <p:cNvGrpSpPr/>
          <p:nvPr/>
        </p:nvGrpSpPr>
        <p:grpSpPr>
          <a:xfrm>
            <a:off x="930580" y="3950486"/>
            <a:ext cx="8316077" cy="999015"/>
            <a:chOff x="930580" y="3950017"/>
            <a:chExt cx="8316077" cy="999015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A64CC32-BF81-F4B1-3DD6-B83C6C9E5E07}"/>
                </a:ext>
              </a:extLst>
            </p:cNvPr>
            <p:cNvSpPr txBox="1"/>
            <p:nvPr/>
          </p:nvSpPr>
          <p:spPr>
            <a:xfrm>
              <a:off x="930580" y="3950017"/>
              <a:ext cx="160869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Muscle Botox</a:t>
              </a:r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31A92C37-89F1-1B91-26CF-5AC51813B5C5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672260"/>
              <a:chOff x="1041515" y="4276772"/>
              <a:chExt cx="8205142" cy="672260"/>
            </a:xfrm>
          </p:grpSpPr>
          <p:grpSp>
            <p:nvGrpSpPr>
              <p:cNvPr id="304" name="그룹 303">
                <a:extLst>
                  <a:ext uri="{FF2B5EF4-FFF2-40B4-BE49-F238E27FC236}">
                    <a16:creationId xmlns:a16="http://schemas.microsoft.com/office/drawing/2014/main" id="{330FCA49-9D29-9D3E-A4AD-8B8AAEF4D5FC}"/>
                  </a:ext>
                </a:extLst>
              </p:cNvPr>
              <p:cNvGrpSpPr/>
              <p:nvPr/>
            </p:nvGrpSpPr>
            <p:grpSpPr>
              <a:xfrm>
                <a:off x="1044691" y="4287436"/>
                <a:ext cx="8201965" cy="620151"/>
                <a:chOff x="1044691" y="4287436"/>
                <a:chExt cx="8201965" cy="620151"/>
              </a:xfrm>
            </p:grpSpPr>
            <p:sp>
              <p:nvSpPr>
                <p:cNvPr id="236" name="Text 11">
                  <a:extLst>
                    <a:ext uri="{FF2B5EF4-FFF2-40B4-BE49-F238E27FC236}">
                      <a16:creationId xmlns:a16="http://schemas.microsoft.com/office/drawing/2014/main" id="{66560D4C-16FF-EB59-EF44-B776FF7871CD}"/>
                    </a:ext>
                  </a:extLst>
                </p:cNvPr>
                <p:cNvSpPr/>
                <p:nvPr/>
              </p:nvSpPr>
              <p:spPr>
                <a:xfrm>
                  <a:off x="1044691" y="4287436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Jaw Botox 50U</a:t>
                  </a:r>
                </a:p>
                <a:p>
                  <a:r>
                    <a:rPr lang="en-US" sz="893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A treatment that eases unconscious tension and softens a squared jawline into a smooth contour.</a:t>
                  </a:r>
                </a:p>
              </p:txBody>
            </p:sp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472B86D5-6213-EC89-4FD5-1C6D05CCC53B}"/>
                    </a:ext>
                  </a:extLst>
                </p:cNvPr>
                <p:cNvGrpSpPr/>
                <p:nvPr/>
              </p:nvGrpSpPr>
              <p:grpSpPr>
                <a:xfrm>
                  <a:off x="5572876" y="4288907"/>
                  <a:ext cx="3673780" cy="617208"/>
                  <a:chOff x="5572876" y="4288907"/>
                  <a:chExt cx="3673780" cy="617208"/>
                </a:xfrm>
              </p:grpSpPr>
              <p:sp>
                <p:nvSpPr>
                  <p:cNvPr id="237" name="Text 15">
                    <a:extLst>
                      <a:ext uri="{FF2B5EF4-FFF2-40B4-BE49-F238E27FC236}">
                        <a16:creationId xmlns:a16="http://schemas.microsoft.com/office/drawing/2014/main" id="{C994914D-E8B0-73A3-7063-FCBD0508BF2C}"/>
                      </a:ext>
                    </a:extLst>
                  </p:cNvPr>
                  <p:cNvSpPr/>
                  <p:nvPr/>
                </p:nvSpPr>
                <p:spPr>
                  <a:xfrm>
                    <a:off x="7762412" y="4288907"/>
                    <a:ext cx="1572460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 xml:space="preserve">German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American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38" name="Text 15">
                    <a:extLst>
                      <a:ext uri="{FF2B5EF4-FFF2-40B4-BE49-F238E27FC236}">
                        <a16:creationId xmlns:a16="http://schemas.microsoft.com/office/drawing/2014/main" id="{10E55E66-E56D-2CB2-2D0C-4F4844907ABA}"/>
                      </a:ext>
                    </a:extLst>
                  </p:cNvPr>
                  <p:cNvSpPr/>
                  <p:nvPr/>
                </p:nvSpPr>
                <p:spPr>
                  <a:xfrm>
                    <a:off x="5416060" y="4288907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Domestic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</a:p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Premium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2C74DD2E-7439-186F-57E4-9D83750B8DA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672260"/>
                <a:chOff x="1041515" y="4276772"/>
                <a:chExt cx="8205142" cy="672260"/>
              </a:xfrm>
            </p:grpSpPr>
            <p:sp>
              <p:nvSpPr>
                <p:cNvPr id="239" name="Shape 7">
                  <a:extLst>
                    <a:ext uri="{FF2B5EF4-FFF2-40B4-BE49-F238E27FC236}">
                      <a16:creationId xmlns:a16="http://schemas.microsoft.com/office/drawing/2014/main" id="{D79A5FC2-758E-11B7-5790-F4F3305C3A2E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47" name="Shape 7">
                  <a:extLst>
                    <a:ext uri="{FF2B5EF4-FFF2-40B4-BE49-F238E27FC236}">
                      <a16:creationId xmlns:a16="http://schemas.microsoft.com/office/drawing/2014/main" id="{796CAAFC-167D-39FE-146B-4B8B94795CC6}"/>
                    </a:ext>
                  </a:extLst>
                </p:cNvPr>
                <p:cNvSpPr/>
                <p:nvPr/>
              </p:nvSpPr>
              <p:spPr>
                <a:xfrm>
                  <a:off x="1041515" y="4935425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1EDF4DA5-83CC-6E14-F87F-740EB70C64CC}"/>
              </a:ext>
            </a:extLst>
          </p:cNvPr>
          <p:cNvGrpSpPr/>
          <p:nvPr/>
        </p:nvGrpSpPr>
        <p:grpSpPr>
          <a:xfrm>
            <a:off x="930580" y="7162351"/>
            <a:ext cx="8316077" cy="1600861"/>
            <a:chOff x="930580" y="6441861"/>
            <a:chExt cx="8316077" cy="1600861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000AAE9-A7FF-D955-C56F-30E6B6346E64}"/>
                </a:ext>
              </a:extLst>
            </p:cNvPr>
            <p:cNvSpPr txBox="1"/>
            <p:nvPr/>
          </p:nvSpPr>
          <p:spPr>
            <a:xfrm>
              <a:off x="930580" y="6441861"/>
              <a:ext cx="140134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Skin Botox</a:t>
              </a:r>
            </a:p>
          </p:txBody>
        </p: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404A5803-B361-DFEF-B47E-6C0D1922DE86}"/>
                </a:ext>
              </a:extLst>
            </p:cNvPr>
            <p:cNvGrpSpPr/>
            <p:nvPr/>
          </p:nvGrpSpPr>
          <p:grpSpPr>
            <a:xfrm>
              <a:off x="1041515" y="6768616"/>
              <a:ext cx="8205142" cy="1274106"/>
              <a:chOff x="1041515" y="6768616"/>
              <a:chExt cx="8205142" cy="1274106"/>
            </a:xfrm>
          </p:grpSpPr>
          <p:grpSp>
            <p:nvGrpSpPr>
              <p:cNvPr id="314" name="그룹 313">
                <a:extLst>
                  <a:ext uri="{FF2B5EF4-FFF2-40B4-BE49-F238E27FC236}">
                    <a16:creationId xmlns:a16="http://schemas.microsoft.com/office/drawing/2014/main" id="{F6DAC86D-47AF-5847-C18C-4353F27AF1AC}"/>
                  </a:ext>
                </a:extLst>
              </p:cNvPr>
              <p:cNvGrpSpPr/>
              <p:nvPr/>
            </p:nvGrpSpPr>
            <p:grpSpPr>
              <a:xfrm>
                <a:off x="1044691" y="6779280"/>
                <a:ext cx="8201965" cy="620151"/>
                <a:chOff x="1044691" y="6779280"/>
                <a:chExt cx="8201965" cy="620151"/>
              </a:xfrm>
            </p:grpSpPr>
            <p:sp>
              <p:nvSpPr>
                <p:cNvPr id="279" name="Text 11">
                  <a:extLst>
                    <a:ext uri="{FF2B5EF4-FFF2-40B4-BE49-F238E27FC236}">
                      <a16:creationId xmlns:a16="http://schemas.microsoft.com/office/drawing/2014/main" id="{D1DFA31A-CB5E-A489-3FEC-38F02A9FDD1F}"/>
                    </a:ext>
                  </a:extLst>
                </p:cNvPr>
                <p:cNvSpPr/>
                <p:nvPr/>
              </p:nvSpPr>
              <p:spPr>
                <a:xfrm>
                  <a:off x="1044691" y="6779280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Full-Face Skin Botox 3cc</a:t>
                  </a:r>
                </a:p>
                <a:p>
                  <a:r>
                    <a:rPr lang="en-US" sz="806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Focuses on forehead and cheek texture — tiny, dense doses injected into the dermal · sub-epidermal layer.</a:t>
                  </a:r>
                </a:p>
              </p:txBody>
            </p:sp>
            <p:grpSp>
              <p:nvGrpSpPr>
                <p:cNvPr id="313" name="그룹 312">
                  <a:extLst>
                    <a:ext uri="{FF2B5EF4-FFF2-40B4-BE49-F238E27FC236}">
                      <a16:creationId xmlns:a16="http://schemas.microsoft.com/office/drawing/2014/main" id="{3CE8293B-836F-6E41-AF58-78BC8D16FB7D}"/>
                    </a:ext>
                  </a:extLst>
                </p:cNvPr>
                <p:cNvGrpSpPr/>
                <p:nvPr/>
              </p:nvGrpSpPr>
              <p:grpSpPr>
                <a:xfrm>
                  <a:off x="5572876" y="6780751"/>
                  <a:ext cx="3673780" cy="617208"/>
                  <a:chOff x="5572876" y="6780751"/>
                  <a:chExt cx="3673780" cy="617208"/>
                </a:xfrm>
              </p:grpSpPr>
              <p:sp>
                <p:nvSpPr>
                  <p:cNvPr id="280" name="Text 15">
                    <a:extLst>
                      <a:ext uri="{FF2B5EF4-FFF2-40B4-BE49-F238E27FC236}">
                        <a16:creationId xmlns:a16="http://schemas.microsoft.com/office/drawing/2014/main" id="{1979D21F-DCED-EC8D-93BB-C7ADE617BFE7}"/>
                      </a:ext>
                    </a:extLst>
                  </p:cNvPr>
                  <p:cNvSpPr/>
                  <p:nvPr/>
                </p:nvSpPr>
                <p:spPr>
                  <a:xfrm>
                    <a:off x="7762412" y="6780751"/>
                    <a:ext cx="1572460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 xml:space="preserve">German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American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81" name="Text 15">
                    <a:extLst>
                      <a:ext uri="{FF2B5EF4-FFF2-40B4-BE49-F238E27FC236}">
                        <a16:creationId xmlns:a16="http://schemas.microsoft.com/office/drawing/2014/main" id="{D330CAB0-478D-C068-8033-00397CCE869E}"/>
                      </a:ext>
                    </a:extLst>
                  </p:cNvPr>
                  <p:cNvSpPr/>
                  <p:nvPr/>
                </p:nvSpPr>
                <p:spPr>
                  <a:xfrm>
                    <a:off x="5416060" y="6780751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Domestic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Premium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16" name="그룹 315">
                <a:extLst>
                  <a:ext uri="{FF2B5EF4-FFF2-40B4-BE49-F238E27FC236}">
                    <a16:creationId xmlns:a16="http://schemas.microsoft.com/office/drawing/2014/main" id="{1F03FF98-340C-A374-065E-BD307200B4FB}"/>
                  </a:ext>
                </a:extLst>
              </p:cNvPr>
              <p:cNvGrpSpPr/>
              <p:nvPr/>
            </p:nvGrpSpPr>
            <p:grpSpPr>
              <a:xfrm>
                <a:off x="1044691" y="7408963"/>
                <a:ext cx="8201965" cy="620151"/>
                <a:chOff x="1044691" y="7408963"/>
                <a:chExt cx="8201965" cy="620151"/>
              </a:xfrm>
            </p:grpSpPr>
            <p:sp>
              <p:nvSpPr>
                <p:cNvPr id="276" name="Text 11">
                  <a:extLst>
                    <a:ext uri="{FF2B5EF4-FFF2-40B4-BE49-F238E27FC236}">
                      <a16:creationId xmlns:a16="http://schemas.microsoft.com/office/drawing/2014/main" id="{2D4A4A95-8D06-9EEF-05AF-1C9577CD84D5}"/>
                    </a:ext>
                  </a:extLst>
                </p:cNvPr>
                <p:cNvSpPr/>
                <p:nvPr/>
              </p:nvSpPr>
              <p:spPr>
                <a:xfrm>
                  <a:off x="1044691" y="7408963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Jawline Skin Botox 2cc</a:t>
                  </a:r>
                </a:p>
                <a:p>
                  <a:r>
                    <a:rPr 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Improves jawline and under-jaw skin elasticity, refining the jaw contour.</a:t>
                  </a:r>
                </a:p>
              </p:txBody>
            </p:sp>
            <p:grpSp>
              <p:nvGrpSpPr>
                <p:cNvPr id="315" name="그룹 314">
                  <a:extLst>
                    <a:ext uri="{FF2B5EF4-FFF2-40B4-BE49-F238E27FC236}">
                      <a16:creationId xmlns:a16="http://schemas.microsoft.com/office/drawing/2014/main" id="{67D0D7C4-04B6-84A2-00DC-5EACC417CEED}"/>
                    </a:ext>
                  </a:extLst>
                </p:cNvPr>
                <p:cNvGrpSpPr/>
                <p:nvPr/>
              </p:nvGrpSpPr>
              <p:grpSpPr>
                <a:xfrm>
                  <a:off x="5572876" y="7410434"/>
                  <a:ext cx="3673780" cy="617208"/>
                  <a:chOff x="5572876" y="7410434"/>
                  <a:chExt cx="3673780" cy="617208"/>
                </a:xfrm>
              </p:grpSpPr>
              <p:sp>
                <p:nvSpPr>
                  <p:cNvPr id="277" name="Text 15">
                    <a:extLst>
                      <a:ext uri="{FF2B5EF4-FFF2-40B4-BE49-F238E27FC236}">
                        <a16:creationId xmlns:a16="http://schemas.microsoft.com/office/drawing/2014/main" id="{3F5D0AF5-7D4B-874C-102B-24FBFC45FF24}"/>
                      </a:ext>
                    </a:extLst>
                  </p:cNvPr>
                  <p:cNvSpPr/>
                  <p:nvPr/>
                </p:nvSpPr>
                <p:spPr>
                  <a:xfrm>
                    <a:off x="7762412" y="7410434"/>
                    <a:ext cx="1572460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 xml:space="preserve">German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American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78" name="Text 15">
                    <a:extLst>
                      <a:ext uri="{FF2B5EF4-FFF2-40B4-BE49-F238E27FC236}">
                        <a16:creationId xmlns:a16="http://schemas.microsoft.com/office/drawing/2014/main" id="{3C3F511D-9DB6-6EC9-3DCF-876EA807BFD5}"/>
                      </a:ext>
                    </a:extLst>
                  </p:cNvPr>
                  <p:cNvSpPr/>
                  <p:nvPr/>
                </p:nvSpPr>
                <p:spPr>
                  <a:xfrm>
                    <a:off x="5416060" y="7410434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Domestic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50,000</a:t>
                    </a:r>
                  </a:p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Premium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70,000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AD221EEB-515D-0710-B22A-94B9FA86AC6E}"/>
                  </a:ext>
                </a:extLst>
              </p:cNvPr>
              <p:cNvGrpSpPr/>
              <p:nvPr/>
            </p:nvGrpSpPr>
            <p:grpSpPr>
              <a:xfrm>
                <a:off x="1041515" y="6768616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72" name="Shape 7">
                  <a:extLst>
                    <a:ext uri="{FF2B5EF4-FFF2-40B4-BE49-F238E27FC236}">
                      <a16:creationId xmlns:a16="http://schemas.microsoft.com/office/drawing/2014/main" id="{0525A485-B817-347C-3DCB-54128A58629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73" name="Shape 7">
                  <a:extLst>
                    <a:ext uri="{FF2B5EF4-FFF2-40B4-BE49-F238E27FC236}">
                      <a16:creationId xmlns:a16="http://schemas.microsoft.com/office/drawing/2014/main" id="{85AE7972-A152-B8AF-43B7-DC0392B6B2F0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74" name="Shape 7">
                  <a:extLst>
                    <a:ext uri="{FF2B5EF4-FFF2-40B4-BE49-F238E27FC236}">
                      <a16:creationId xmlns:a16="http://schemas.microsoft.com/office/drawing/2014/main" id="{A2B5AEF7-014E-18D9-2AB7-F187E0C80A76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327" name="그룹 326">
            <a:extLst>
              <a:ext uri="{FF2B5EF4-FFF2-40B4-BE49-F238E27FC236}">
                <a16:creationId xmlns:a16="http://schemas.microsoft.com/office/drawing/2014/main" id="{B039B8DD-91A2-CAAB-0AB2-D17320111790}"/>
              </a:ext>
            </a:extLst>
          </p:cNvPr>
          <p:cNvGrpSpPr/>
          <p:nvPr/>
        </p:nvGrpSpPr>
        <p:grpSpPr>
          <a:xfrm>
            <a:off x="930580" y="9022501"/>
            <a:ext cx="8316077" cy="1600861"/>
            <a:chOff x="930580" y="8302009"/>
            <a:chExt cx="8316077" cy="1600861"/>
          </a:xfrm>
        </p:grpSpPr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FF61860-7275-79B9-DBB1-00DC061F7EEF}"/>
                </a:ext>
              </a:extLst>
            </p:cNvPr>
            <p:cNvSpPr txBox="1"/>
            <p:nvPr/>
          </p:nvSpPr>
          <p:spPr>
            <a:xfrm>
              <a:off x="930580" y="8302009"/>
              <a:ext cx="310491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Hyperhidrosis · Body Botox</a:t>
              </a:r>
            </a:p>
          </p:txBody>
        </p: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E21CA896-0B6B-D40A-6C52-936189436D7E}"/>
                </a:ext>
              </a:extLst>
            </p:cNvPr>
            <p:cNvGrpSpPr/>
            <p:nvPr/>
          </p:nvGrpSpPr>
          <p:grpSpPr>
            <a:xfrm>
              <a:off x="1041515" y="8628764"/>
              <a:ext cx="8205142" cy="1274106"/>
              <a:chOff x="1041515" y="8628764"/>
              <a:chExt cx="8205142" cy="1274106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25351B94-FF58-2BF0-1AA4-D34289BEBAC8}"/>
                  </a:ext>
                </a:extLst>
              </p:cNvPr>
              <p:cNvGrpSpPr/>
              <p:nvPr/>
            </p:nvGrpSpPr>
            <p:grpSpPr>
              <a:xfrm>
                <a:off x="1044691" y="8639428"/>
                <a:ext cx="8201965" cy="620151"/>
                <a:chOff x="1044691" y="8639428"/>
                <a:chExt cx="8201965" cy="620151"/>
              </a:xfrm>
            </p:grpSpPr>
            <p:sp>
              <p:nvSpPr>
                <p:cNvPr id="296" name="Text 11">
                  <a:extLst>
                    <a:ext uri="{FF2B5EF4-FFF2-40B4-BE49-F238E27FC236}">
                      <a16:creationId xmlns:a16="http://schemas.microsoft.com/office/drawing/2014/main" id="{A6BF49D4-244E-134F-A3CD-59E562290087}"/>
                    </a:ext>
                  </a:extLst>
                </p:cNvPr>
                <p:cNvSpPr/>
                <p:nvPr/>
              </p:nvSpPr>
              <p:spPr>
                <a:xfrm>
                  <a:off x="1044691" y="8639428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Hyperhidrosis Botox 100U</a:t>
                  </a:r>
                </a:p>
                <a:p>
                  <a:r>
                    <a:rPr 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Choose 1: Hands / Feet / Underarms</a:t>
                  </a:r>
                </a:p>
              </p:txBody>
            </p:sp>
            <p:grpSp>
              <p:nvGrpSpPr>
                <p:cNvPr id="319" name="그룹 318">
                  <a:extLst>
                    <a:ext uri="{FF2B5EF4-FFF2-40B4-BE49-F238E27FC236}">
                      <a16:creationId xmlns:a16="http://schemas.microsoft.com/office/drawing/2014/main" id="{107D53F5-F119-A814-B98D-C1E44420C2FC}"/>
                    </a:ext>
                  </a:extLst>
                </p:cNvPr>
                <p:cNvGrpSpPr/>
                <p:nvPr/>
              </p:nvGrpSpPr>
              <p:grpSpPr>
                <a:xfrm>
                  <a:off x="5572876" y="8640899"/>
                  <a:ext cx="3673780" cy="617208"/>
                  <a:chOff x="5572876" y="8640899"/>
                  <a:chExt cx="3673780" cy="617208"/>
                </a:xfrm>
              </p:grpSpPr>
              <p:sp>
                <p:nvSpPr>
                  <p:cNvPr id="297" name="Text 15">
                    <a:extLst>
                      <a:ext uri="{FF2B5EF4-FFF2-40B4-BE49-F238E27FC236}">
                        <a16:creationId xmlns:a16="http://schemas.microsoft.com/office/drawing/2014/main" id="{7A52F2EE-CCED-D233-8EB5-CB2905617567}"/>
                      </a:ext>
                    </a:extLst>
                  </p:cNvPr>
                  <p:cNvSpPr/>
                  <p:nvPr/>
                </p:nvSpPr>
                <p:spPr>
                  <a:xfrm>
                    <a:off x="7762412" y="8640899"/>
                    <a:ext cx="1572460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 xml:space="preserve">German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American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8" name="Text 15">
                    <a:extLst>
                      <a:ext uri="{FF2B5EF4-FFF2-40B4-BE49-F238E27FC236}">
                        <a16:creationId xmlns:a16="http://schemas.microsoft.com/office/drawing/2014/main" id="{72C57547-4880-BC9A-8E38-0E1565712E95}"/>
                      </a:ext>
                    </a:extLst>
                  </p:cNvPr>
                  <p:cNvSpPr/>
                  <p:nvPr/>
                </p:nvSpPr>
                <p:spPr>
                  <a:xfrm>
                    <a:off x="5416060" y="8640899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Domestic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</a:p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Premium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300,000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2C5BACB5-5722-8DCB-C7F0-F73C96DA6903}"/>
                  </a:ext>
                </a:extLst>
              </p:cNvPr>
              <p:cNvGrpSpPr/>
              <p:nvPr/>
            </p:nvGrpSpPr>
            <p:grpSpPr>
              <a:xfrm>
                <a:off x="1044691" y="9269111"/>
                <a:ext cx="8201965" cy="620151"/>
                <a:chOff x="1044691" y="9269111"/>
                <a:chExt cx="8201965" cy="620151"/>
              </a:xfrm>
            </p:grpSpPr>
            <p:sp>
              <p:nvSpPr>
                <p:cNvPr id="293" name="Text 11">
                  <a:extLst>
                    <a:ext uri="{FF2B5EF4-FFF2-40B4-BE49-F238E27FC236}">
                      <a16:creationId xmlns:a16="http://schemas.microsoft.com/office/drawing/2014/main" id="{85E79812-FBE1-4EAA-EC73-2E6B89A6BF2B}"/>
                    </a:ext>
                  </a:extLst>
                </p:cNvPr>
                <p:cNvSpPr/>
                <p:nvPr/>
              </p:nvSpPr>
              <p:spPr>
                <a:xfrm>
                  <a:off x="1044691" y="9269111"/>
                  <a:ext cx="5660909" cy="62015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Body Botox 100U</a:t>
                  </a:r>
                </a:p>
                <a:p>
                  <a:r>
                    <a:rPr lang="en-US" sz="984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 xml:space="preserve">Choose 1: Calves / Front Thighs / Trapezius · </a:t>
                  </a:r>
                  <a:r>
                    <a:rPr lang="en-US" sz="984" dirty="0">
                      <a:solidFill>
                        <a:srgbClr val="2498BD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Customized planning before treatment.</a:t>
                  </a:r>
                </a:p>
              </p:txBody>
            </p:sp>
            <p:grpSp>
              <p:nvGrpSpPr>
                <p:cNvPr id="324" name="그룹 323">
                  <a:extLst>
                    <a:ext uri="{FF2B5EF4-FFF2-40B4-BE49-F238E27FC236}">
                      <a16:creationId xmlns:a16="http://schemas.microsoft.com/office/drawing/2014/main" id="{B0F2FC6C-CD40-F7B2-504C-84A7A67944DC}"/>
                    </a:ext>
                  </a:extLst>
                </p:cNvPr>
                <p:cNvGrpSpPr/>
                <p:nvPr/>
              </p:nvGrpSpPr>
              <p:grpSpPr>
                <a:xfrm>
                  <a:off x="5572876" y="9270582"/>
                  <a:ext cx="3673780" cy="617208"/>
                  <a:chOff x="5572876" y="9270582"/>
                  <a:chExt cx="3673780" cy="617208"/>
                </a:xfrm>
              </p:grpSpPr>
              <p:sp>
                <p:nvSpPr>
                  <p:cNvPr id="294" name="Text 15">
                    <a:extLst>
                      <a:ext uri="{FF2B5EF4-FFF2-40B4-BE49-F238E27FC236}">
                        <a16:creationId xmlns:a16="http://schemas.microsoft.com/office/drawing/2014/main" id="{EFDA83B5-B078-158E-97E7-0631E6E4D65D}"/>
                      </a:ext>
                    </a:extLst>
                  </p:cNvPr>
                  <p:cNvSpPr/>
                  <p:nvPr/>
                </p:nvSpPr>
                <p:spPr>
                  <a:xfrm>
                    <a:off x="7762412" y="9270582"/>
                    <a:ext cx="1572460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 xml:space="preserve">German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450,000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American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550,000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295" name="Text 15">
                    <a:extLst>
                      <a:ext uri="{FF2B5EF4-FFF2-40B4-BE49-F238E27FC236}">
                        <a16:creationId xmlns:a16="http://schemas.microsoft.com/office/drawing/2014/main" id="{DA43CE62-7852-9549-1D19-A0DEAC9C7BFF}"/>
                      </a:ext>
                    </a:extLst>
                  </p:cNvPr>
                  <p:cNvSpPr/>
                  <p:nvPr/>
                </p:nvSpPr>
                <p:spPr>
                  <a:xfrm>
                    <a:off x="5416060" y="9270582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Domestic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250,000</a:t>
                    </a:r>
                  </a:p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Premium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289" name="그룹 288">
                <a:extLst>
                  <a:ext uri="{FF2B5EF4-FFF2-40B4-BE49-F238E27FC236}">
                    <a16:creationId xmlns:a16="http://schemas.microsoft.com/office/drawing/2014/main" id="{168061F8-0422-B0E1-49D2-49C43FB5A90D}"/>
                  </a:ext>
                </a:extLst>
              </p:cNvPr>
              <p:cNvGrpSpPr/>
              <p:nvPr/>
            </p:nvGrpSpPr>
            <p:grpSpPr>
              <a:xfrm>
                <a:off x="1041515" y="8628764"/>
                <a:ext cx="8205142" cy="1274106"/>
                <a:chOff x="1041515" y="4276772"/>
                <a:chExt cx="8205142" cy="1274106"/>
              </a:xfrm>
            </p:grpSpPr>
            <p:sp>
              <p:nvSpPr>
                <p:cNvPr id="290" name="Shape 7">
                  <a:extLst>
                    <a:ext uri="{FF2B5EF4-FFF2-40B4-BE49-F238E27FC236}">
                      <a16:creationId xmlns:a16="http://schemas.microsoft.com/office/drawing/2014/main" id="{F88CD917-BFF7-82CA-D0F9-5999B4883829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291" name="Shape 7">
                  <a:extLst>
                    <a:ext uri="{FF2B5EF4-FFF2-40B4-BE49-F238E27FC236}">
                      <a16:creationId xmlns:a16="http://schemas.microsoft.com/office/drawing/2014/main" id="{4314EC96-4333-D86F-0765-50FD5598F8E3}"/>
                    </a:ext>
                  </a:extLst>
                </p:cNvPr>
                <p:cNvSpPr/>
                <p:nvPr/>
              </p:nvSpPr>
              <p:spPr>
                <a:xfrm>
                  <a:off x="1041515" y="4907588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  <p:sp>
              <p:nvSpPr>
                <p:cNvPr id="292" name="Shape 7">
                  <a:extLst>
                    <a:ext uri="{FF2B5EF4-FFF2-40B4-BE49-F238E27FC236}">
                      <a16:creationId xmlns:a16="http://schemas.microsoft.com/office/drawing/2014/main" id="{61858C5A-3A23-C15B-C3CA-AD30496D1BF1}"/>
                    </a:ext>
                  </a:extLst>
                </p:cNvPr>
                <p:cNvSpPr/>
                <p:nvPr/>
              </p:nvSpPr>
              <p:spPr>
                <a:xfrm>
                  <a:off x="1041515" y="5537271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49B8FD-A2D7-DB24-A85F-6A11B8F402C1}"/>
              </a:ext>
            </a:extLst>
          </p:cNvPr>
          <p:cNvGrpSpPr/>
          <p:nvPr/>
        </p:nvGrpSpPr>
        <p:grpSpPr>
          <a:xfrm>
            <a:off x="930579" y="5239971"/>
            <a:ext cx="8316077" cy="1631916"/>
            <a:chOff x="930580" y="3950017"/>
            <a:chExt cx="8316077" cy="163191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E1B9771-5EA0-E51F-F8CE-0415AD1350CF}"/>
                </a:ext>
              </a:extLst>
            </p:cNvPr>
            <p:cNvSpPr txBox="1"/>
            <p:nvPr/>
          </p:nvSpPr>
          <p:spPr>
            <a:xfrm>
              <a:off x="930580" y="3950017"/>
              <a:ext cx="227807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Special Area Botox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6155CBC1-8E00-9B8B-04AA-6D075C44235A}"/>
                </a:ext>
              </a:extLst>
            </p:cNvPr>
            <p:cNvGrpSpPr/>
            <p:nvPr/>
          </p:nvGrpSpPr>
          <p:grpSpPr>
            <a:xfrm>
              <a:off x="1041515" y="4276772"/>
              <a:ext cx="8205142" cy="1305161"/>
              <a:chOff x="1041515" y="4276772"/>
              <a:chExt cx="8205142" cy="1305161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5E4A8884-A865-5EE3-4638-76C44B3D5430}"/>
                  </a:ext>
                </a:extLst>
              </p:cNvPr>
              <p:cNvGrpSpPr/>
              <p:nvPr/>
            </p:nvGrpSpPr>
            <p:grpSpPr>
              <a:xfrm>
                <a:off x="1044691" y="4446320"/>
                <a:ext cx="8201965" cy="948561"/>
                <a:chOff x="1044691" y="4446320"/>
                <a:chExt cx="8201965" cy="948561"/>
              </a:xfrm>
            </p:grpSpPr>
            <p:sp>
              <p:nvSpPr>
                <p:cNvPr id="12" name="Text 11">
                  <a:extLst>
                    <a:ext uri="{FF2B5EF4-FFF2-40B4-BE49-F238E27FC236}">
                      <a16:creationId xmlns:a16="http://schemas.microsoft.com/office/drawing/2014/main" id="{B61DCD30-47F7-54DA-A1E2-AB2AF82D33FC}"/>
                    </a:ext>
                  </a:extLst>
                </p:cNvPr>
                <p:cNvSpPr/>
                <p:nvPr/>
              </p:nvSpPr>
              <p:spPr>
                <a:xfrm>
                  <a:off x="1044691" y="4446320"/>
                  <a:ext cx="5660909" cy="948561"/>
                </a:xfrm>
                <a:prstGeom prst="rect">
                  <a:avLst/>
                </a:prstGeom>
                <a:noFill/>
                <a:ln/>
              </p:spPr>
              <p:txBody>
                <a:bodyPr wrap="none" lIns="72000" tIns="0" rIns="72000" bIns="0" rtlCol="0" anchor="ctr" anchorCtr="0">
                  <a:normAutofit lnSpcReduction="10000"/>
                </a:bodyPr>
                <a:lstStyle/>
                <a:p>
                  <a:r>
                    <a:rPr lang="en-US" sz="1400" dirty="0">
                      <a:solidFill>
                        <a:srgbClr val="555555"/>
                      </a:solidFill>
                      <a:latin typeface="신세계 Medium" panose="02000300000000000000" pitchFamily="50" charset="-127"/>
                      <a:ea typeface="신세계 Medium" panose="02000300000000000000" pitchFamily="50" charset="-127"/>
                      <a:cs typeface="Arial" pitchFamily="34" charset="-120"/>
                    </a:rPr>
                    <a:t>Special Area Botox 50U</a:t>
                  </a:r>
                </a:p>
                <a:p>
                  <a:pPr>
                    <a:lnSpc>
                      <a:spcPct val="110000"/>
                    </a:lnSpc>
                  </a:pPr>
                  <a:r>
                    <a:rPr 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 xml:space="preserve">Controls excessive muscle movement in each area to ease facial asymmetry </a:t>
                  </a:r>
                  <a:endPara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pPr>
                    <a:lnSpc>
                      <a:spcPct val="110000"/>
                    </a:lnSpc>
                  </a:pPr>
                  <a:r>
                    <a:rPr 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 xml:space="preserve">and imbalances caused by expression habits, </a:t>
                  </a:r>
                </a:p>
                <a:p>
                  <a:pPr>
                    <a:lnSpc>
                      <a:spcPct val="110000"/>
                    </a:lnSpc>
                  </a:pPr>
                  <a:r>
                    <a:rPr lang="en-US" sz="1000" dirty="0">
                      <a:solidFill>
                        <a:srgbClr val="555555"/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creating an overall refined facial contour.</a:t>
                  </a:r>
                  <a:endParaRPr lang="en-US" altLang="ko-KR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endPara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  <a:p>
                  <a:r>
                    <a:rPr lang="en-US" sz="690" dirty="0">
                      <a:solidFill>
                        <a:schemeClr val="bg1">
                          <a:lumMod val="50000"/>
                        </a:schemeClr>
                      </a:solidFill>
                      <a:latin typeface="신세계 Regular" panose="02000300000000000000" pitchFamily="50" charset="-127"/>
                      <a:ea typeface="신세계 Regular" panose="02000300000000000000" pitchFamily="50" charset="-127"/>
                      <a:cs typeface="Arial" pitchFamily="34" charset="-120"/>
                    </a:rPr>
                    <a:t>Choose 1: Nostrils / Mouth Corners / Upper-Lip Wrinkles / Gummy Smile / Temporalis / Submandibular Gland / Parotid Gland</a:t>
                  </a:r>
                  <a:endParaRPr lang="ko-KR" alt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endParaRPr>
                </a:p>
              </p:txBody>
            </p:sp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D4304D79-9F06-4551-36EC-2A132BE9D396}"/>
                    </a:ext>
                  </a:extLst>
                </p:cNvPr>
                <p:cNvGrpSpPr/>
                <p:nvPr/>
              </p:nvGrpSpPr>
              <p:grpSpPr>
                <a:xfrm>
                  <a:off x="5572876" y="4615560"/>
                  <a:ext cx="3673780" cy="617208"/>
                  <a:chOff x="5572876" y="4615560"/>
                  <a:chExt cx="3673780" cy="617208"/>
                </a:xfrm>
              </p:grpSpPr>
              <p:sp>
                <p:nvSpPr>
                  <p:cNvPr id="14" name="Text 15">
                    <a:extLst>
                      <a:ext uri="{FF2B5EF4-FFF2-40B4-BE49-F238E27FC236}">
                        <a16:creationId xmlns:a16="http://schemas.microsoft.com/office/drawing/2014/main" id="{75FA4010-F522-2DB5-E5D8-BAC0F18BF63D}"/>
                      </a:ext>
                    </a:extLst>
                  </p:cNvPr>
                  <p:cNvSpPr/>
                  <p:nvPr/>
                </p:nvSpPr>
                <p:spPr>
                  <a:xfrm>
                    <a:off x="7762412" y="4615560"/>
                    <a:ext cx="1572460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 xml:space="preserve">German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200,000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  <a:p>
                    <a:pPr algn="r"/>
                    <a:r>
                      <a:rPr lang="en-US" sz="1131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American</a:t>
                    </a:r>
                    <a:r>
                      <a:rPr lang="en-US" altLang="ko-KR" sz="14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350,000</a:t>
                    </a:r>
                    <a:endParaRPr lang="en-US" altLang="ko-KR" sz="1400" dirty="0">
                      <a:latin typeface="신세계 Bold" panose="02000300000000000000" pitchFamily="50" charset="-127"/>
                      <a:ea typeface="신세계 Bold" panose="02000300000000000000" pitchFamily="50" charset="-127"/>
                    </a:endParaRPr>
                  </a:p>
                </p:txBody>
              </p:sp>
              <p:sp>
                <p:nvSpPr>
                  <p:cNvPr id="15" name="Text 15">
                    <a:extLst>
                      <a:ext uri="{FF2B5EF4-FFF2-40B4-BE49-F238E27FC236}">
                        <a16:creationId xmlns:a16="http://schemas.microsoft.com/office/drawing/2014/main" id="{1A6B5D2C-9692-E8DD-E2D7-D7339B9DB2F9}"/>
                      </a:ext>
                    </a:extLst>
                  </p:cNvPr>
                  <p:cNvSpPr/>
                  <p:nvPr/>
                </p:nvSpPr>
                <p:spPr>
                  <a:xfrm>
                    <a:off x="5416060" y="4615560"/>
                    <a:ext cx="2265448" cy="61720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none" lIns="72000" tIns="0" rIns="72000" bIns="0" rtlCol="0" anchor="ctr" anchorCtr="0">
                    <a:noAutofit/>
                  </a:bodyPr>
                  <a:lstStyle/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Domestic</a:t>
                    </a:r>
                    <a:r>
                      <a:rPr lang="en-US" altLang="ko-KR" sz="110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100,000</a:t>
                    </a:r>
                  </a:p>
                  <a:p>
                    <a:pPr algn="r"/>
                    <a:r>
                      <a:rPr lang="en-US" sz="977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Premium</a:t>
                    </a:r>
                    <a:r>
                      <a:rPr lang="en-US" altLang="ko-KR" sz="1050" dirty="0">
                        <a:solidFill>
                          <a:srgbClr val="2498BD"/>
                        </a:solidFill>
                        <a:latin typeface="신세계 Regular" panose="02000300000000000000" pitchFamily="50" charset="-127"/>
                        <a:ea typeface="신세계 Regular" panose="02000300000000000000" pitchFamily="50" charset="-127"/>
                        <a:cs typeface="GC 16 Mono" pitchFamily="34" charset="-120"/>
                      </a:rPr>
                      <a:t> </a:t>
                    </a:r>
                    <a:r>
                      <a:rPr lang="en-US" altLang="ko-KR" sz="1400" dirty="0">
                        <a:solidFill>
                          <a:srgbClr val="1A1A1A"/>
                        </a:solidFill>
                        <a:latin typeface="신세계 Bold" panose="02000300000000000000" pitchFamily="50" charset="-127"/>
                        <a:ea typeface="신세계 Bold" panose="02000300000000000000" pitchFamily="50" charset="-127"/>
                        <a:cs typeface="Arial" pitchFamily="34" charset="-120"/>
                      </a:rPr>
                      <a:t>150,000</a:t>
                    </a:r>
                    <a:endParaRPr lang="en-US" altLang="ko-KR" sz="1200" dirty="0">
                      <a:solidFill>
                        <a:srgbClr val="1A1A1A"/>
                      </a:solidFill>
                      <a:latin typeface="신세계 Bold" panose="02000300000000000000" pitchFamily="50" charset="-127"/>
                      <a:ea typeface="신세계 Bold" panose="02000300000000000000" pitchFamily="50" charset="-127"/>
                      <a:cs typeface="Arial" pitchFamily="34" charset="-120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7F41EE2-1A65-4EC5-2E54-493C9ACA816D}"/>
                  </a:ext>
                </a:extLst>
              </p:cNvPr>
              <p:cNvGrpSpPr/>
              <p:nvPr/>
            </p:nvGrpSpPr>
            <p:grpSpPr>
              <a:xfrm>
                <a:off x="1041515" y="4276772"/>
                <a:ext cx="8205142" cy="1305161"/>
                <a:chOff x="1041515" y="4276772"/>
                <a:chExt cx="8205142" cy="1305161"/>
              </a:xfrm>
            </p:grpSpPr>
            <p:sp>
              <p:nvSpPr>
                <p:cNvPr id="10" name="Shape 7">
                  <a:extLst>
                    <a:ext uri="{FF2B5EF4-FFF2-40B4-BE49-F238E27FC236}">
                      <a16:creationId xmlns:a16="http://schemas.microsoft.com/office/drawing/2014/main" id="{9807D895-9DAD-BEB9-EACE-AA5C32E247B0}"/>
                    </a:ext>
                  </a:extLst>
                </p:cNvPr>
                <p:cNvSpPr/>
                <p:nvPr/>
              </p:nvSpPr>
              <p:spPr>
                <a:xfrm>
                  <a:off x="1041515" y="4276772"/>
                  <a:ext cx="8205142" cy="13607"/>
                </a:xfrm>
                <a:prstGeom prst="rect">
                  <a:avLst/>
                </a:prstGeom>
                <a:solidFill>
                  <a:srgbClr val="2498BD"/>
                </a:solidFill>
                <a:ln/>
              </p:spPr>
            </p:sp>
            <p:sp>
              <p:nvSpPr>
                <p:cNvPr id="11" name="Shape 7">
                  <a:extLst>
                    <a:ext uri="{FF2B5EF4-FFF2-40B4-BE49-F238E27FC236}">
                      <a16:creationId xmlns:a16="http://schemas.microsoft.com/office/drawing/2014/main" id="{B6672116-9E78-928F-FDC5-1C115CD6F727}"/>
                    </a:ext>
                  </a:extLst>
                </p:cNvPr>
                <p:cNvSpPr/>
                <p:nvPr/>
              </p:nvSpPr>
              <p:spPr>
                <a:xfrm>
                  <a:off x="1041515" y="5568326"/>
                  <a:ext cx="8205142" cy="13607"/>
                </a:xfrm>
                <a:prstGeom prst="rect">
                  <a:avLst/>
                </a:prstGeom>
                <a:solidFill>
                  <a:srgbClr val="CCCCCC"/>
                </a:solidFill>
                <a:ln/>
              </p:spPr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9777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FILLER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120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88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Fillers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4606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Volume Restoration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3" name="Text 96">
            <a:extLst>
              <a:ext uri="{FF2B5EF4-FFF2-40B4-BE49-F238E27FC236}">
                <a16:creationId xmlns:a16="http://schemas.microsoft.com/office/drawing/2014/main" id="{D5264B2C-F74E-4906-646B-334A930B67C5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41964D08-743C-BD07-BDBA-D2BF47465CFE}"/>
              </a:ext>
            </a:extLst>
          </p:cNvPr>
          <p:cNvGrpSpPr/>
          <p:nvPr/>
        </p:nvGrpSpPr>
        <p:grpSpPr>
          <a:xfrm>
            <a:off x="930580" y="2720019"/>
            <a:ext cx="8316077" cy="2131206"/>
            <a:chOff x="930580" y="2720019"/>
            <a:chExt cx="8316077" cy="2131206"/>
          </a:xfrm>
        </p:grpSpPr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4DF25302-C46E-E95E-5C11-F89F82025C73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1804451"/>
              <a:chOff x="1041515" y="3046774"/>
              <a:chExt cx="8205142" cy="1804451"/>
            </a:xfrm>
          </p:grpSpPr>
          <p:sp>
            <p:nvSpPr>
              <p:cNvPr id="198" name="Shape 7">
                <a:extLst>
                  <a:ext uri="{FF2B5EF4-FFF2-40B4-BE49-F238E27FC236}">
                    <a16:creationId xmlns:a16="http://schemas.microsoft.com/office/drawing/2014/main" id="{9EBF731F-EF48-1237-9080-A254479644E3}"/>
                  </a:ext>
                </a:extLst>
              </p:cNvPr>
              <p:cNvSpPr/>
              <p:nvPr/>
            </p:nvSpPr>
            <p:spPr>
              <a:xfrm>
                <a:off x="1041515" y="406652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54" name="Shape 7">
                <a:extLst>
                  <a:ext uri="{FF2B5EF4-FFF2-40B4-BE49-F238E27FC236}">
                    <a16:creationId xmlns:a16="http://schemas.microsoft.com/office/drawing/2014/main" id="{3DBD9DE7-69F8-0411-E992-249E9A106987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55" name="Shape 7">
                <a:extLst>
                  <a:ext uri="{FF2B5EF4-FFF2-40B4-BE49-F238E27FC236}">
                    <a16:creationId xmlns:a16="http://schemas.microsoft.com/office/drawing/2014/main" id="{29A1914E-207F-F0F0-DECB-BE481023B04A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78" name="Shape 7">
                <a:extLst>
                  <a:ext uri="{FF2B5EF4-FFF2-40B4-BE49-F238E27FC236}">
                    <a16:creationId xmlns:a16="http://schemas.microsoft.com/office/drawing/2014/main" id="{5EE53BE9-CD95-852C-B132-4BF5D67192E1}"/>
                  </a:ext>
                </a:extLst>
              </p:cNvPr>
              <p:cNvSpPr/>
              <p:nvPr/>
            </p:nvSpPr>
            <p:spPr>
              <a:xfrm>
                <a:off x="1041515" y="445221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84" name="Shape 7">
                <a:extLst>
                  <a:ext uri="{FF2B5EF4-FFF2-40B4-BE49-F238E27FC236}">
                    <a16:creationId xmlns:a16="http://schemas.microsoft.com/office/drawing/2014/main" id="{C38301E5-C881-2C16-3E1D-5B2EC1A19635}"/>
                  </a:ext>
                </a:extLst>
              </p:cNvPr>
              <p:cNvSpPr/>
              <p:nvPr/>
            </p:nvSpPr>
            <p:spPr>
              <a:xfrm>
                <a:off x="1041515" y="483761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D2A525AC-7220-4717-B071-BBBD64225C34}"/>
                </a:ext>
              </a:extLst>
            </p:cNvPr>
            <p:cNvGrpSpPr/>
            <p:nvPr/>
          </p:nvGrpSpPr>
          <p:grpSpPr>
            <a:xfrm>
              <a:off x="1044691" y="3446369"/>
              <a:ext cx="8201965" cy="620151"/>
              <a:chOff x="1044691" y="3446369"/>
              <a:chExt cx="8201965" cy="620151"/>
            </a:xfrm>
          </p:grpSpPr>
          <p:sp>
            <p:nvSpPr>
              <p:cNvPr id="193" name="Text 11">
                <a:extLst>
                  <a:ext uri="{FF2B5EF4-FFF2-40B4-BE49-F238E27FC236}">
                    <a16:creationId xmlns:a16="http://schemas.microsoft.com/office/drawing/2014/main" id="{E33B0C1A-D9EB-9959-73C1-B7259EF8AE30}"/>
                  </a:ext>
                </a:extLst>
              </p:cNvPr>
              <p:cNvSpPr/>
              <p:nvPr/>
            </p:nvSpPr>
            <p:spPr>
              <a:xfrm>
                <a:off x="1044691" y="3446369"/>
                <a:ext cx="5660909" cy="62015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>JUVÉDERM / BELOTERO</a:t>
                </a:r>
                <a:endParaRPr lang="en-US" altLang="ko-KR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endParaRPr>
              </a:p>
              <a:p>
                <a:r>
                  <a:rPr lang="en-US" sz="92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Premium HA filler from global pharma companies</a:t>
                </a:r>
              </a:p>
            </p:txBody>
          </p:sp>
          <p:sp>
            <p:nvSpPr>
              <p:cNvPr id="195" name="Text 15">
                <a:extLst>
                  <a:ext uri="{FF2B5EF4-FFF2-40B4-BE49-F238E27FC236}">
                    <a16:creationId xmlns:a16="http://schemas.microsoft.com/office/drawing/2014/main" id="{A6BA7195-8D5B-2C0B-1AE8-2923DA791415}"/>
                  </a:ext>
                </a:extLst>
              </p:cNvPr>
              <p:cNvSpPr/>
              <p:nvPr/>
            </p:nvSpPr>
            <p:spPr>
              <a:xfrm>
                <a:off x="3723952" y="3447840"/>
                <a:ext cx="5522704" cy="617208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 xml:space="preserve">Face 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400,000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  <a:p>
                <a:pPr algn="r"/>
                <a:r>
                  <a:rPr lang="en-US" sz="1104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 xml:space="preserve">Aegyo · Under-eye · Special Areas · Glabella · Eyelids · Brow Bone 1cc </a:t>
                </a:r>
                <a:r>
                  <a:rPr lang="en-US" altLang="ko-KR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550,000</a:t>
                </a:r>
                <a:endParaRPr lang="en-US" altLang="ko-KR" sz="1400" dirty="0">
                  <a:latin typeface="신세계 Bold" panose="02000300000000000000" pitchFamily="50" charset="-127"/>
                  <a:ea typeface="신세계 Bold" panose="02000300000000000000" pitchFamily="50" charset="-127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0A5E9A65-2D3C-0D8F-358A-721B3D595AD5}"/>
                </a:ext>
              </a:extLst>
            </p:cNvPr>
            <p:cNvGrpSpPr/>
            <p:nvPr/>
          </p:nvGrpSpPr>
          <p:grpSpPr>
            <a:xfrm>
              <a:off x="1044691" y="3057439"/>
              <a:ext cx="8201966" cy="375481"/>
              <a:chOff x="1044691" y="3057439"/>
              <a:chExt cx="8201966" cy="375481"/>
            </a:xfrm>
          </p:grpSpPr>
          <p:sp>
            <p:nvSpPr>
              <p:cNvPr id="163" name="Text 11">
                <a:extLst>
                  <a:ext uri="{FF2B5EF4-FFF2-40B4-BE49-F238E27FC236}">
                    <a16:creationId xmlns:a16="http://schemas.microsoft.com/office/drawing/2014/main" id="{87EAF4CA-42A5-1C5F-3389-0A0FC6660FA2}"/>
                  </a:ext>
                </a:extLst>
              </p:cNvPr>
              <p:cNvSpPr/>
              <p:nvPr/>
            </p:nvSpPr>
            <p:spPr>
              <a:xfrm>
                <a:off x="1044691" y="3057439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 xml:space="preserve">Celestella  </a:t>
                </a:r>
                <a:r>
                  <a:rPr 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Hyaluronic Acid (HA) based filler.</a:t>
                </a:r>
              </a:p>
            </p:txBody>
          </p:sp>
          <p:sp>
            <p:nvSpPr>
              <p:cNvPr id="164" name="Text 15">
                <a:extLst>
                  <a:ext uri="{FF2B5EF4-FFF2-40B4-BE49-F238E27FC236}">
                    <a16:creationId xmlns:a16="http://schemas.microsoft.com/office/drawing/2014/main" id="{F8FBEDF1-4FCD-03C5-CA11-21476938FCDB}"/>
                  </a:ext>
                </a:extLst>
              </p:cNvPr>
              <p:cNvSpPr/>
              <p:nvPr/>
            </p:nvSpPr>
            <p:spPr>
              <a:xfrm>
                <a:off x="6981209" y="3058910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Face 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150,000</a:t>
                </a:r>
              </a:p>
            </p:txBody>
          </p:sp>
        </p:grp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B656D27A-7F4A-C39E-9D57-9AA8172A1612}"/>
                </a:ext>
              </a:extLst>
            </p:cNvPr>
            <p:cNvGrpSpPr/>
            <p:nvPr/>
          </p:nvGrpSpPr>
          <p:grpSpPr>
            <a:xfrm>
              <a:off x="1044691" y="4081063"/>
              <a:ext cx="8201966" cy="375481"/>
              <a:chOff x="1044691" y="4081063"/>
              <a:chExt cx="8201966" cy="375481"/>
            </a:xfrm>
          </p:grpSpPr>
          <p:sp>
            <p:nvSpPr>
              <p:cNvPr id="181" name="Text 11">
                <a:extLst>
                  <a:ext uri="{FF2B5EF4-FFF2-40B4-BE49-F238E27FC236}">
                    <a16:creationId xmlns:a16="http://schemas.microsoft.com/office/drawing/2014/main" id="{5DDEC076-EA72-5CE5-B7E5-368645567F99}"/>
                  </a:ext>
                </a:extLst>
              </p:cNvPr>
              <p:cNvSpPr/>
              <p:nvPr/>
            </p:nvSpPr>
            <p:spPr>
              <a:xfrm>
                <a:off x="1044691" y="4081063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 xml:space="preserve">Restylane </a:t>
                </a:r>
                <a:r>
                  <a:rPr 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Swedish Galderma premium Hyaluronic Acid (HA) filler.</a:t>
                </a:r>
              </a:p>
            </p:txBody>
          </p:sp>
          <p:sp>
            <p:nvSpPr>
              <p:cNvPr id="182" name="Text 15">
                <a:extLst>
                  <a:ext uri="{FF2B5EF4-FFF2-40B4-BE49-F238E27FC236}">
                    <a16:creationId xmlns:a16="http://schemas.microsoft.com/office/drawing/2014/main" id="{596C1295-C235-E9E6-43AF-3088E22C78A8}"/>
                  </a:ext>
                </a:extLst>
              </p:cNvPr>
              <p:cNvSpPr/>
              <p:nvPr/>
            </p:nvSpPr>
            <p:spPr>
              <a:xfrm>
                <a:off x="6981209" y="4082534"/>
                <a:ext cx="2265448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200" dirty="0">
                    <a:solidFill>
                      <a:srgbClr val="2498BD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GC 16 Mono" pitchFamily="34" charset="-120"/>
                  </a:rPr>
                  <a:t>Face 1cc</a:t>
                </a:r>
                <a:r>
                  <a:rPr lang="en-US" sz="1400" dirty="0">
                    <a:solidFill>
                      <a:srgbClr val="1A1A1A"/>
                    </a:solidFill>
                    <a:latin typeface="신세계 Bold" panose="02000300000000000000" pitchFamily="50" charset="-127"/>
                    <a:ea typeface="신세계 Bold" panose="02000300000000000000" pitchFamily="50" charset="-127"/>
                    <a:cs typeface="Arial" pitchFamily="34" charset="-120"/>
                  </a:rPr>
                  <a:t> 450,000</a:t>
                </a:r>
              </a:p>
            </p:txBody>
          </p:sp>
        </p:grp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FAD48DA6-9AE7-E46A-949A-669960D71A8B}"/>
                </a:ext>
              </a:extLst>
            </p:cNvPr>
            <p:cNvGrpSpPr/>
            <p:nvPr/>
          </p:nvGrpSpPr>
          <p:grpSpPr>
            <a:xfrm>
              <a:off x="1044691" y="4460522"/>
              <a:ext cx="8201966" cy="375481"/>
              <a:chOff x="1044691" y="4460522"/>
              <a:chExt cx="8201966" cy="375481"/>
            </a:xfrm>
          </p:grpSpPr>
          <p:sp>
            <p:nvSpPr>
              <p:cNvPr id="186" name="Text 11">
                <a:extLst>
                  <a:ext uri="{FF2B5EF4-FFF2-40B4-BE49-F238E27FC236}">
                    <a16:creationId xmlns:a16="http://schemas.microsoft.com/office/drawing/2014/main" id="{816E0619-1566-D457-E04B-797E733CAF27}"/>
                  </a:ext>
                </a:extLst>
              </p:cNvPr>
              <p:cNvSpPr/>
              <p:nvPr/>
            </p:nvSpPr>
            <p:spPr>
              <a:xfrm>
                <a:off x="1044691" y="4460522"/>
                <a:ext cx="5660909" cy="375481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rmAutofit/>
              </a:bodyPr>
              <a:lstStyle/>
              <a:p>
                <a:r>
                  <a:rPr lang="en-US" sz="1400" dirty="0">
                    <a:solidFill>
                      <a:srgbClr val="555555"/>
                    </a:solidFill>
                    <a:latin typeface="신세계 Medium" panose="02000300000000000000" pitchFamily="50" charset="-127"/>
                    <a:ea typeface="신세계 Medium" panose="02000300000000000000" pitchFamily="50" charset="-127"/>
                    <a:cs typeface="Arial" pitchFamily="34" charset="-120"/>
                  </a:rPr>
                  <a:t xml:space="preserve">Filler Package  </a:t>
                </a:r>
                <a:r>
                  <a:rPr lang="en-US" sz="1000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Arial" pitchFamily="34" charset="-120"/>
                  </a:rPr>
                  <a:t>Available for 3cc or more.</a:t>
                </a:r>
              </a:p>
            </p:txBody>
          </p:sp>
          <p:sp>
            <p:nvSpPr>
              <p:cNvPr id="187" name="Text 15">
                <a:extLst>
                  <a:ext uri="{FF2B5EF4-FFF2-40B4-BE49-F238E27FC236}">
                    <a16:creationId xmlns:a16="http://schemas.microsoft.com/office/drawing/2014/main" id="{07206E08-754E-0E95-F4F3-42526515707B}"/>
                  </a:ext>
                </a:extLst>
              </p:cNvPr>
              <p:cNvSpPr/>
              <p:nvPr/>
            </p:nvSpPr>
            <p:spPr>
              <a:xfrm>
                <a:off x="6455977" y="4461993"/>
                <a:ext cx="2790680" cy="372539"/>
              </a:xfrm>
              <a:prstGeom prst="rect">
                <a:avLst/>
              </a:prstGeom>
              <a:noFill/>
              <a:ln/>
            </p:spPr>
            <p:txBody>
              <a:bodyPr wrap="none" lIns="72000" tIns="0" rIns="72000" bIns="0" rtlCol="0" anchor="ctr" anchorCtr="0">
                <a:noAutofit/>
              </a:bodyPr>
              <a:lstStyle/>
              <a:p>
                <a:pPr algn="r"/>
                <a:r>
                  <a:rPr lang="en-US" sz="1400" dirty="0">
                    <a:solidFill>
                      <a:srgbClr val="1A1A1A"/>
                    </a:solidFill>
                    <a:latin typeface="신세계 SemiBold" panose="02000300000000000000" pitchFamily="50" charset="-127"/>
                    <a:ea typeface="신세계 SemiBold" panose="02000300000000000000" pitchFamily="50" charset="-127"/>
                    <a:cs typeface="Arial" pitchFamily="34" charset="-120"/>
                  </a:rPr>
                  <a:t>Determined after consultation.</a:t>
                </a:r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D344E0D-6C42-26B8-5AFA-9C072F36D0E6}"/>
                </a:ext>
              </a:extLst>
            </p:cNvPr>
            <p:cNvSpPr txBox="1"/>
            <p:nvPr/>
          </p:nvSpPr>
          <p:spPr>
            <a:xfrm>
              <a:off x="930580" y="2720019"/>
              <a:ext cx="149330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Face Filler</a:t>
              </a:r>
            </a:p>
          </p:txBody>
        </p:sp>
        <p:sp>
          <p:nvSpPr>
            <p:cNvPr id="166" name="Text 9">
              <a:extLst>
                <a:ext uri="{FF2B5EF4-FFF2-40B4-BE49-F238E27FC236}">
                  <a16:creationId xmlns:a16="http://schemas.microsoft.com/office/drawing/2014/main" id="{0B3FE6CB-582E-126C-4813-E9A8D4527D20}"/>
                </a:ext>
              </a:extLst>
            </p:cNvPr>
            <p:cNvSpPr/>
            <p:nvPr/>
          </p:nvSpPr>
          <p:spPr>
            <a:xfrm>
              <a:off x="7151361" y="2780484"/>
              <a:ext cx="2095296" cy="248402"/>
            </a:xfrm>
            <a:prstGeom prst="rect">
              <a:avLst/>
            </a:prstGeom>
            <a:noFill/>
            <a:ln/>
          </p:spPr>
          <p:txBody>
            <a:bodyPr wrap="none" lIns="108000" tIns="46800" rIns="0" bIns="46800" rtlCol="0" anchor="ctr" anchorCtr="0">
              <a:spAutoFit/>
            </a:bodyPr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*Face 1cc excludes special areas</a:t>
              </a: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6A9CF325-89D3-1A7D-170A-0B45651F8401}"/>
              </a:ext>
            </a:extLst>
          </p:cNvPr>
          <p:cNvGrpSpPr/>
          <p:nvPr/>
        </p:nvGrpSpPr>
        <p:grpSpPr>
          <a:xfrm>
            <a:off x="930580" y="5114999"/>
            <a:ext cx="8316077" cy="728123"/>
            <a:chOff x="930580" y="8035012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C90EEEB7-B2C3-8A01-2671-B931C2F61503}"/>
                </a:ext>
              </a:extLst>
            </p:cNvPr>
            <p:cNvSpPr txBox="1"/>
            <p:nvPr/>
          </p:nvSpPr>
          <p:spPr>
            <a:xfrm>
              <a:off x="930580" y="8035012"/>
              <a:ext cx="331652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Filler Dissolving Injection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32FBB249-61C0-758C-1826-8766179BED27}"/>
                </a:ext>
              </a:extLst>
            </p:cNvPr>
            <p:cNvGrpSpPr/>
            <p:nvPr/>
          </p:nvGrpSpPr>
          <p:grpSpPr>
            <a:xfrm>
              <a:off x="1041515" y="8361767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A4BA8F8E-0843-F8EE-5851-DC57B93C835B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ACC72E94-1FE5-93EA-C176-CE01CDF48120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D58A4AD5-9A94-E4A6-25C3-159696C91A3E}"/>
                </a:ext>
              </a:extLst>
            </p:cNvPr>
            <p:cNvSpPr/>
            <p:nvPr/>
          </p:nvSpPr>
          <p:spPr>
            <a:xfrm>
              <a:off x="1044691" y="837243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Hyalase 1 Syringe</a:t>
              </a:r>
            </a:p>
          </p:txBody>
        </p:sp>
        <p:sp>
          <p:nvSpPr>
            <p:cNvPr id="249" name="Text 15">
              <a:extLst>
                <a:ext uri="{FF2B5EF4-FFF2-40B4-BE49-F238E27FC236}">
                  <a16:creationId xmlns:a16="http://schemas.microsoft.com/office/drawing/2014/main" id="{C1F49C4C-2E86-6F70-8D01-1F7ACF019237}"/>
                </a:ext>
              </a:extLst>
            </p:cNvPr>
            <p:cNvSpPr/>
            <p:nvPr/>
          </p:nvSpPr>
          <p:spPr>
            <a:xfrm>
              <a:off x="6981209" y="837390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0535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FAT DISSOLVING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1878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8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Fat Dissolving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5364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Face and Body Shape Refinement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" name="Text 96">
            <a:extLst>
              <a:ext uri="{FF2B5EF4-FFF2-40B4-BE49-F238E27FC236}">
                <a16:creationId xmlns:a16="http://schemas.microsoft.com/office/drawing/2014/main" id="{29654C6C-705B-5CDA-879B-3140AB96EC02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A757011C-CE84-E099-8AED-D24479CB3E40}"/>
              </a:ext>
            </a:extLst>
          </p:cNvPr>
          <p:cNvGrpSpPr/>
          <p:nvPr/>
        </p:nvGrpSpPr>
        <p:grpSpPr>
          <a:xfrm>
            <a:off x="930580" y="2720019"/>
            <a:ext cx="8316077" cy="1114967"/>
            <a:chOff x="930580" y="2720019"/>
            <a:chExt cx="8316077" cy="11149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904B3917-C656-1E90-55B5-CC5B7E77BA86}"/>
                </a:ext>
              </a:extLst>
            </p:cNvPr>
            <p:cNvSpPr txBox="1"/>
            <p:nvPr/>
          </p:nvSpPr>
          <p:spPr>
            <a:xfrm>
              <a:off x="930580" y="2720019"/>
              <a:ext cx="108499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CeraFit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BEABCBB4-D6D6-5746-B58D-300DCE768A81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788212"/>
              <a:chOff x="1041515" y="4036831"/>
              <a:chExt cx="8205142" cy="788212"/>
            </a:xfrm>
          </p:grpSpPr>
          <p:sp>
            <p:nvSpPr>
              <p:cNvPr id="194" name="Shape 7">
                <a:extLst>
                  <a:ext uri="{FF2B5EF4-FFF2-40B4-BE49-F238E27FC236}">
                    <a16:creationId xmlns:a16="http://schemas.microsoft.com/office/drawing/2014/main" id="{72227479-87E2-B05C-89AF-81F73A362EE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195" name="Shape 7">
                <a:extLst>
                  <a:ext uri="{FF2B5EF4-FFF2-40B4-BE49-F238E27FC236}">
                    <a16:creationId xmlns:a16="http://schemas.microsoft.com/office/drawing/2014/main" id="{A8EEB8A2-5F82-C9EC-3B50-74CE403C09C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196" name="Shape 7">
                <a:extLst>
                  <a:ext uri="{FF2B5EF4-FFF2-40B4-BE49-F238E27FC236}">
                    <a16:creationId xmlns:a16="http://schemas.microsoft.com/office/drawing/2014/main" id="{9B05AD55-A6B4-62D2-1A79-46D8346C9EEC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192" name="Text 11">
              <a:extLst>
                <a:ext uri="{FF2B5EF4-FFF2-40B4-BE49-F238E27FC236}">
                  <a16:creationId xmlns:a16="http://schemas.microsoft.com/office/drawing/2014/main" id="{D8BD542A-09BD-C101-D8C1-CFC9C7BAF781}"/>
                </a:ext>
              </a:extLst>
            </p:cNvPr>
            <p:cNvSpPr/>
            <p:nvPr/>
          </p:nvSpPr>
          <p:spPr>
            <a:xfrm>
              <a:off x="1044691" y="305743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CeraFit FACE (1cc)</a:t>
              </a:r>
            </a:p>
          </p:txBody>
        </p:sp>
        <p:sp>
          <p:nvSpPr>
            <p:cNvPr id="193" name="Text 15">
              <a:extLst>
                <a:ext uri="{FF2B5EF4-FFF2-40B4-BE49-F238E27FC236}">
                  <a16:creationId xmlns:a16="http://schemas.microsoft.com/office/drawing/2014/main" id="{D09934F4-0AE0-1B52-F88E-2D84FB1E8BD3}"/>
                </a:ext>
              </a:extLst>
            </p:cNvPr>
            <p:cNvSpPr/>
            <p:nvPr/>
          </p:nvSpPr>
          <p:spPr>
            <a:xfrm>
              <a:off x="7583600" y="3137457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13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197" name="Text 15">
              <a:extLst>
                <a:ext uri="{FF2B5EF4-FFF2-40B4-BE49-F238E27FC236}">
                  <a16:creationId xmlns:a16="http://schemas.microsoft.com/office/drawing/2014/main" id="{A8EB6C8B-4ABC-E9B1-3295-2689BBBD1D3A}"/>
                </a:ext>
              </a:extLst>
            </p:cNvPr>
            <p:cNvSpPr/>
            <p:nvPr/>
          </p:nvSpPr>
          <p:spPr>
            <a:xfrm>
              <a:off x="5975023" y="3137457"/>
              <a:ext cx="148082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198" name="Text 15">
              <a:extLst>
                <a:ext uri="{FF2B5EF4-FFF2-40B4-BE49-F238E27FC236}">
                  <a16:creationId xmlns:a16="http://schemas.microsoft.com/office/drawing/2014/main" id="{83D649F9-F6D1-D3FF-3A4D-663F68E08028}"/>
                </a:ext>
              </a:extLst>
            </p:cNvPr>
            <p:cNvSpPr/>
            <p:nvPr/>
          </p:nvSpPr>
          <p:spPr>
            <a:xfrm>
              <a:off x="3914824" y="3137457"/>
              <a:ext cx="126168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87C450E7-C4DA-D0FE-AA70-CFEF6591663D}"/>
                </a:ext>
              </a:extLst>
            </p:cNvPr>
            <p:cNvSpPr/>
            <p:nvPr/>
          </p:nvSpPr>
          <p:spPr>
            <a:xfrm>
              <a:off x="1044691" y="344509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CeraFit BODY (10cc)</a:t>
              </a:r>
            </a:p>
          </p:txBody>
        </p:sp>
        <p:sp>
          <p:nvSpPr>
            <p:cNvPr id="199" name="Text 15">
              <a:extLst>
                <a:ext uri="{FF2B5EF4-FFF2-40B4-BE49-F238E27FC236}">
                  <a16:creationId xmlns:a16="http://schemas.microsoft.com/office/drawing/2014/main" id="{CF458971-8C6D-1D70-A6AB-2C81508634E2}"/>
                </a:ext>
              </a:extLst>
            </p:cNvPr>
            <p:cNvSpPr/>
            <p:nvPr/>
          </p:nvSpPr>
          <p:spPr>
            <a:xfrm>
              <a:off x="7583600" y="3525109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0" name="Text 15">
              <a:extLst>
                <a:ext uri="{FF2B5EF4-FFF2-40B4-BE49-F238E27FC236}">
                  <a16:creationId xmlns:a16="http://schemas.microsoft.com/office/drawing/2014/main" id="{817FFDC0-1E3E-7751-1D17-8D0D4647B2D3}"/>
                </a:ext>
              </a:extLst>
            </p:cNvPr>
            <p:cNvSpPr/>
            <p:nvPr/>
          </p:nvSpPr>
          <p:spPr>
            <a:xfrm>
              <a:off x="5928536" y="3525109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BE5B4C27-B94E-E1B1-B07D-22E67DB9198D}"/>
                </a:ext>
              </a:extLst>
            </p:cNvPr>
            <p:cNvSpPr/>
            <p:nvPr/>
          </p:nvSpPr>
          <p:spPr>
            <a:xfrm>
              <a:off x="3914824" y="3525109"/>
              <a:ext cx="126168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</a:p>
          </p:txBody>
        </p: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5CCC9AFE-DD03-1C6D-53B3-4A5D48A37A61}"/>
              </a:ext>
            </a:extLst>
          </p:cNvPr>
          <p:cNvGrpSpPr/>
          <p:nvPr/>
        </p:nvGrpSpPr>
        <p:grpSpPr>
          <a:xfrm>
            <a:off x="930580" y="4106416"/>
            <a:ext cx="8316077" cy="1496252"/>
            <a:chOff x="930580" y="4104754"/>
            <a:chExt cx="8316077" cy="1496252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17E640E-73F4-6114-E2CD-FE5443193008}"/>
                </a:ext>
              </a:extLst>
            </p:cNvPr>
            <p:cNvSpPr txBox="1"/>
            <p:nvPr/>
          </p:nvSpPr>
          <p:spPr>
            <a:xfrm>
              <a:off x="930580" y="4104754"/>
              <a:ext cx="286433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CeraFit Package (FACE)</a:t>
              </a: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03978FAB-A023-8F06-148A-908B57FAE3AF}"/>
                </a:ext>
              </a:extLst>
            </p:cNvPr>
            <p:cNvGrpSpPr/>
            <p:nvPr/>
          </p:nvGrpSpPr>
          <p:grpSpPr>
            <a:xfrm>
              <a:off x="1041515" y="4431509"/>
              <a:ext cx="8205142" cy="1169497"/>
              <a:chOff x="1041515" y="5446644"/>
              <a:chExt cx="8205142" cy="1169497"/>
            </a:xfrm>
          </p:grpSpPr>
          <p:sp>
            <p:nvSpPr>
              <p:cNvPr id="227" name="Shape 7">
                <a:extLst>
                  <a:ext uri="{FF2B5EF4-FFF2-40B4-BE49-F238E27FC236}">
                    <a16:creationId xmlns:a16="http://schemas.microsoft.com/office/drawing/2014/main" id="{792ECD2E-0CF4-41C0-2F90-931EAD36341E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28" name="Shape 7">
                <a:extLst>
                  <a:ext uri="{FF2B5EF4-FFF2-40B4-BE49-F238E27FC236}">
                    <a16:creationId xmlns:a16="http://schemas.microsoft.com/office/drawing/2014/main" id="{BEA9CB6E-0CC8-160C-B59E-4C22E2A28F00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29" name="Shape 7">
                <a:extLst>
                  <a:ext uri="{FF2B5EF4-FFF2-40B4-BE49-F238E27FC236}">
                    <a16:creationId xmlns:a16="http://schemas.microsoft.com/office/drawing/2014/main" id="{2978404F-A8B3-3D79-A312-0312DCFA139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30" name="Shape 7">
                <a:extLst>
                  <a:ext uri="{FF2B5EF4-FFF2-40B4-BE49-F238E27FC236}">
                    <a16:creationId xmlns:a16="http://schemas.microsoft.com/office/drawing/2014/main" id="{E32BBC2F-7A53-5DF2-CE24-43E2E64CBFD0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D91945FE-E360-12E2-88BD-B7CF8CC8A459}"/>
                </a:ext>
              </a:extLst>
            </p:cNvPr>
            <p:cNvSpPr/>
            <p:nvPr/>
          </p:nvSpPr>
          <p:spPr>
            <a:xfrm>
              <a:off x="1044691" y="443338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Double Chin (3cc)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CD08FF4E-D414-C0FE-10C0-35B20D9CF602}"/>
                </a:ext>
              </a:extLst>
            </p:cNvPr>
            <p:cNvSpPr/>
            <p:nvPr/>
          </p:nvSpPr>
          <p:spPr>
            <a:xfrm>
              <a:off x="1044691" y="4826748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Buccal Fat (3cc)</a:t>
              </a:r>
            </a:p>
          </p:txBody>
        </p:sp>
        <p:sp>
          <p:nvSpPr>
            <p:cNvPr id="221" name="Text 11">
              <a:extLst>
                <a:ext uri="{FF2B5EF4-FFF2-40B4-BE49-F238E27FC236}">
                  <a16:creationId xmlns:a16="http://schemas.microsoft.com/office/drawing/2014/main" id="{B2FA6B45-1173-C7EF-5D29-ED62E127E781}"/>
                </a:ext>
              </a:extLst>
            </p:cNvPr>
            <p:cNvSpPr/>
            <p:nvPr/>
          </p:nvSpPr>
          <p:spPr>
            <a:xfrm>
              <a:off x="1044691" y="5208824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Both Cheeks (6cc)</a:t>
              </a:r>
            </a:p>
          </p:txBody>
        </p:sp>
        <p:sp>
          <p:nvSpPr>
            <p:cNvPr id="234" name="Text 15">
              <a:extLst>
                <a:ext uri="{FF2B5EF4-FFF2-40B4-BE49-F238E27FC236}">
                  <a16:creationId xmlns:a16="http://schemas.microsoft.com/office/drawing/2014/main" id="{954922C1-293E-2E99-00D2-8D556832007B}"/>
                </a:ext>
              </a:extLst>
            </p:cNvPr>
            <p:cNvSpPr/>
            <p:nvPr/>
          </p:nvSpPr>
          <p:spPr>
            <a:xfrm>
              <a:off x="7583600" y="4513401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5" name="Text 15">
              <a:extLst>
                <a:ext uri="{FF2B5EF4-FFF2-40B4-BE49-F238E27FC236}">
                  <a16:creationId xmlns:a16="http://schemas.microsoft.com/office/drawing/2014/main" id="{6F3DF52D-7025-718F-D0EC-B3D87865C1E1}"/>
                </a:ext>
              </a:extLst>
            </p:cNvPr>
            <p:cNvSpPr/>
            <p:nvPr/>
          </p:nvSpPr>
          <p:spPr>
            <a:xfrm>
              <a:off x="5921322" y="4513401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6" name="Text 15">
              <a:extLst>
                <a:ext uri="{FF2B5EF4-FFF2-40B4-BE49-F238E27FC236}">
                  <a16:creationId xmlns:a16="http://schemas.microsoft.com/office/drawing/2014/main" id="{6F53F855-0429-E1B2-3601-21D4A2DAA6E3}"/>
                </a:ext>
              </a:extLst>
            </p:cNvPr>
            <p:cNvSpPr/>
            <p:nvPr/>
          </p:nvSpPr>
          <p:spPr>
            <a:xfrm>
              <a:off x="3914824" y="4513401"/>
              <a:ext cx="126168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37" name="Text 15">
              <a:extLst>
                <a:ext uri="{FF2B5EF4-FFF2-40B4-BE49-F238E27FC236}">
                  <a16:creationId xmlns:a16="http://schemas.microsoft.com/office/drawing/2014/main" id="{5CF1E4A4-2995-2ACA-1A1C-7F2D38BB5B27}"/>
                </a:ext>
              </a:extLst>
            </p:cNvPr>
            <p:cNvSpPr/>
            <p:nvPr/>
          </p:nvSpPr>
          <p:spPr>
            <a:xfrm>
              <a:off x="7583600" y="4906766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8" name="Text 15">
              <a:extLst>
                <a:ext uri="{FF2B5EF4-FFF2-40B4-BE49-F238E27FC236}">
                  <a16:creationId xmlns:a16="http://schemas.microsoft.com/office/drawing/2014/main" id="{C7883A66-AB9C-2220-7248-3AFD64534B39}"/>
                </a:ext>
              </a:extLst>
            </p:cNvPr>
            <p:cNvSpPr/>
            <p:nvPr/>
          </p:nvSpPr>
          <p:spPr>
            <a:xfrm>
              <a:off x="5921322" y="4906766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6EF0E4DA-2B5C-2EB1-26AB-1990BA9C730E}"/>
                </a:ext>
              </a:extLst>
            </p:cNvPr>
            <p:cNvSpPr/>
            <p:nvPr/>
          </p:nvSpPr>
          <p:spPr>
            <a:xfrm>
              <a:off x="3914824" y="4906766"/>
              <a:ext cx="126168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40" name="Text 15">
              <a:extLst>
                <a:ext uri="{FF2B5EF4-FFF2-40B4-BE49-F238E27FC236}">
                  <a16:creationId xmlns:a16="http://schemas.microsoft.com/office/drawing/2014/main" id="{23C19C63-C78F-390F-7431-4220DB0B880B}"/>
                </a:ext>
              </a:extLst>
            </p:cNvPr>
            <p:cNvSpPr/>
            <p:nvPr/>
          </p:nvSpPr>
          <p:spPr>
            <a:xfrm>
              <a:off x="7583600" y="5288842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1" name="Text 15">
              <a:extLst>
                <a:ext uri="{FF2B5EF4-FFF2-40B4-BE49-F238E27FC236}">
                  <a16:creationId xmlns:a16="http://schemas.microsoft.com/office/drawing/2014/main" id="{AE829B99-00D0-3559-E425-B518D4CD4130}"/>
                </a:ext>
              </a:extLst>
            </p:cNvPr>
            <p:cNvSpPr/>
            <p:nvPr/>
          </p:nvSpPr>
          <p:spPr>
            <a:xfrm>
              <a:off x="5776338" y="5288842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E06E2027-D303-27F5-0348-FA91A9634496}"/>
                </a:ext>
              </a:extLst>
            </p:cNvPr>
            <p:cNvSpPr/>
            <p:nvPr/>
          </p:nvSpPr>
          <p:spPr>
            <a:xfrm>
              <a:off x="3914824" y="5288842"/>
              <a:ext cx="137192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12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46C5A50-5458-ECDF-E191-E0FF5682E23D}"/>
              </a:ext>
            </a:extLst>
          </p:cNvPr>
          <p:cNvGrpSpPr/>
          <p:nvPr/>
        </p:nvGrpSpPr>
        <p:grpSpPr>
          <a:xfrm>
            <a:off x="930580" y="5874098"/>
            <a:ext cx="8316077" cy="728123"/>
            <a:chOff x="930580" y="5872776"/>
            <a:chExt cx="8316077" cy="728123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8EBB94D-41C9-D23E-33B8-341D10D934AD}"/>
                </a:ext>
              </a:extLst>
            </p:cNvPr>
            <p:cNvSpPr txBox="1"/>
            <p:nvPr/>
          </p:nvSpPr>
          <p:spPr>
            <a:xfrm>
              <a:off x="930580" y="5872776"/>
              <a:ext cx="163488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Bellacholine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AD688E30-F6BB-60A3-0619-8F3C5F3E2F76}"/>
                </a:ext>
              </a:extLst>
            </p:cNvPr>
            <p:cNvGrpSpPr/>
            <p:nvPr/>
          </p:nvGrpSpPr>
          <p:grpSpPr>
            <a:xfrm>
              <a:off x="1041515" y="6199531"/>
              <a:ext cx="8205142" cy="401368"/>
              <a:chOff x="1041515" y="3046774"/>
              <a:chExt cx="8205142" cy="401368"/>
            </a:xfrm>
          </p:grpSpPr>
          <p:sp>
            <p:nvSpPr>
              <p:cNvPr id="250" name="Shape 7">
                <a:extLst>
                  <a:ext uri="{FF2B5EF4-FFF2-40B4-BE49-F238E27FC236}">
                    <a16:creationId xmlns:a16="http://schemas.microsoft.com/office/drawing/2014/main" id="{C0513C5F-F57D-F86E-695A-A09569B0AE2C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1" name="Shape 7">
                <a:extLst>
                  <a:ext uri="{FF2B5EF4-FFF2-40B4-BE49-F238E27FC236}">
                    <a16:creationId xmlns:a16="http://schemas.microsoft.com/office/drawing/2014/main" id="{39E022C7-44A1-CBFE-87EF-B245305EBC79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48" name="Text 11">
              <a:extLst>
                <a:ext uri="{FF2B5EF4-FFF2-40B4-BE49-F238E27FC236}">
                  <a16:creationId xmlns:a16="http://schemas.microsoft.com/office/drawing/2014/main" id="{20C68E6C-49CA-5AFA-0F26-E4BA22B47D47}"/>
                </a:ext>
              </a:extLst>
            </p:cNvPr>
            <p:cNvSpPr/>
            <p:nvPr/>
          </p:nvSpPr>
          <p:spPr>
            <a:xfrm>
              <a:off x="1044691" y="6210196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Bellacholine Double Chin (2cc)</a:t>
              </a:r>
            </a:p>
          </p:txBody>
        </p:sp>
        <p:sp>
          <p:nvSpPr>
            <p:cNvPr id="253" name="Text 15">
              <a:extLst>
                <a:ext uri="{FF2B5EF4-FFF2-40B4-BE49-F238E27FC236}">
                  <a16:creationId xmlns:a16="http://schemas.microsoft.com/office/drawing/2014/main" id="{90F411CF-F62C-3F27-09A2-0E78BB8BA15E}"/>
                </a:ext>
              </a:extLst>
            </p:cNvPr>
            <p:cNvSpPr/>
            <p:nvPr/>
          </p:nvSpPr>
          <p:spPr>
            <a:xfrm>
              <a:off x="7380908" y="6290214"/>
              <a:ext cx="186574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5 Sessions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4" name="Text 15">
              <a:extLst>
                <a:ext uri="{FF2B5EF4-FFF2-40B4-BE49-F238E27FC236}">
                  <a16:creationId xmlns:a16="http://schemas.microsoft.com/office/drawing/2014/main" id="{67D25469-2262-D93F-8A7C-E4668BEDEB4D}"/>
                </a:ext>
              </a:extLst>
            </p:cNvPr>
            <p:cNvSpPr/>
            <p:nvPr/>
          </p:nvSpPr>
          <p:spPr>
            <a:xfrm>
              <a:off x="5725844" y="6290214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5" name="Text 15">
              <a:extLst>
                <a:ext uri="{FF2B5EF4-FFF2-40B4-BE49-F238E27FC236}">
                  <a16:creationId xmlns:a16="http://schemas.microsoft.com/office/drawing/2014/main" id="{C5D5EE9C-C2E7-8A02-05E9-7C8F95C1100F}"/>
                </a:ext>
              </a:extLst>
            </p:cNvPr>
            <p:cNvSpPr/>
            <p:nvPr/>
          </p:nvSpPr>
          <p:spPr>
            <a:xfrm>
              <a:off x="4110404" y="6290214"/>
              <a:ext cx="137192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0485FD40-8B73-9A19-B894-3C6F7FE1B3B5}"/>
              </a:ext>
            </a:extLst>
          </p:cNvPr>
          <p:cNvGrpSpPr/>
          <p:nvPr/>
        </p:nvGrpSpPr>
        <p:grpSpPr>
          <a:xfrm>
            <a:off x="930580" y="6873651"/>
            <a:ext cx="8316077" cy="1496252"/>
            <a:chOff x="930580" y="6873651"/>
            <a:chExt cx="8316077" cy="1496252"/>
          </a:xfrm>
        </p:grpSpPr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ABA4F15E-29F8-C1D7-82E2-5C8F8CBDBA23}"/>
                </a:ext>
              </a:extLst>
            </p:cNvPr>
            <p:cNvSpPr txBox="1"/>
            <p:nvPr/>
          </p:nvSpPr>
          <p:spPr>
            <a:xfrm>
              <a:off x="930580" y="6873651"/>
              <a:ext cx="291165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CeraFit Package (BODY)</a:t>
              </a: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AF37A422-80C0-C2B7-9197-33C7CC121836}"/>
                </a:ext>
              </a:extLst>
            </p:cNvPr>
            <p:cNvGrpSpPr/>
            <p:nvPr/>
          </p:nvGrpSpPr>
          <p:grpSpPr>
            <a:xfrm>
              <a:off x="1041515" y="7200406"/>
              <a:ext cx="8205142" cy="1169497"/>
              <a:chOff x="1041515" y="5446644"/>
              <a:chExt cx="8205142" cy="1169497"/>
            </a:xfrm>
          </p:grpSpPr>
          <p:sp>
            <p:nvSpPr>
              <p:cNvPr id="259" name="Shape 7">
                <a:extLst>
                  <a:ext uri="{FF2B5EF4-FFF2-40B4-BE49-F238E27FC236}">
                    <a16:creationId xmlns:a16="http://schemas.microsoft.com/office/drawing/2014/main" id="{44313223-094C-F197-ED89-D11707B06B50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0" name="Shape 7">
                <a:extLst>
                  <a:ext uri="{FF2B5EF4-FFF2-40B4-BE49-F238E27FC236}">
                    <a16:creationId xmlns:a16="http://schemas.microsoft.com/office/drawing/2014/main" id="{381105ED-36F8-6003-D309-9DA3629FFC54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1" name="Shape 7">
                <a:extLst>
                  <a:ext uri="{FF2B5EF4-FFF2-40B4-BE49-F238E27FC236}">
                    <a16:creationId xmlns:a16="http://schemas.microsoft.com/office/drawing/2014/main" id="{8102E38C-BF5E-9669-34E7-293DC3FA0B2A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2" name="Shape 7">
                <a:extLst>
                  <a:ext uri="{FF2B5EF4-FFF2-40B4-BE49-F238E27FC236}">
                    <a16:creationId xmlns:a16="http://schemas.microsoft.com/office/drawing/2014/main" id="{415A2327-3DCA-507B-728A-C77A7B908BB8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3" name="Text 11">
              <a:extLst>
                <a:ext uri="{FF2B5EF4-FFF2-40B4-BE49-F238E27FC236}">
                  <a16:creationId xmlns:a16="http://schemas.microsoft.com/office/drawing/2014/main" id="{E9CEB9D5-9228-6BDA-69EE-983E14910842}"/>
                </a:ext>
              </a:extLst>
            </p:cNvPr>
            <p:cNvSpPr/>
            <p:nvPr/>
          </p:nvSpPr>
          <p:spPr>
            <a:xfrm>
              <a:off x="1044691" y="720228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046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Upper / Lower Abdomen / Love Handles (30cc)</a:t>
              </a:r>
            </a:p>
          </p:txBody>
        </p:sp>
        <p:sp>
          <p:nvSpPr>
            <p:cNvPr id="264" name="Text 11">
              <a:extLst>
                <a:ext uri="{FF2B5EF4-FFF2-40B4-BE49-F238E27FC236}">
                  <a16:creationId xmlns:a16="http://schemas.microsoft.com/office/drawing/2014/main" id="{3B587DA3-27DF-3B58-7F2F-DC3403E60E9C}"/>
                </a:ext>
              </a:extLst>
            </p:cNvPr>
            <p:cNvSpPr/>
            <p:nvPr/>
          </p:nvSpPr>
          <p:spPr>
            <a:xfrm>
              <a:off x="1044691" y="759564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04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Upper Arm / Accessory Breast / Bra-Line (60cc)</a:t>
              </a:r>
            </a:p>
          </p:txBody>
        </p:sp>
        <p:sp>
          <p:nvSpPr>
            <p:cNvPr id="265" name="Text 11">
              <a:extLst>
                <a:ext uri="{FF2B5EF4-FFF2-40B4-BE49-F238E27FC236}">
                  <a16:creationId xmlns:a16="http://schemas.microsoft.com/office/drawing/2014/main" id="{65DBA793-7B1C-7466-D50F-864A17C0FD6C}"/>
                </a:ext>
              </a:extLst>
            </p:cNvPr>
            <p:cNvSpPr/>
            <p:nvPr/>
          </p:nvSpPr>
          <p:spPr>
            <a:xfrm>
              <a:off x="1044691" y="797772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916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Choose 1: Inner Thighs / Outer Thighs / Saddlebags</a:t>
              </a:r>
            </a:p>
          </p:txBody>
        </p:sp>
        <p:sp>
          <p:nvSpPr>
            <p:cNvPr id="266" name="Text 15">
              <a:extLst>
                <a:ext uri="{FF2B5EF4-FFF2-40B4-BE49-F238E27FC236}">
                  <a16:creationId xmlns:a16="http://schemas.microsoft.com/office/drawing/2014/main" id="{1206ED3E-8341-DB24-D209-45E127527177}"/>
                </a:ext>
              </a:extLst>
            </p:cNvPr>
            <p:cNvSpPr/>
            <p:nvPr/>
          </p:nvSpPr>
          <p:spPr>
            <a:xfrm>
              <a:off x="7583600" y="7282298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7" name="Text 15">
              <a:extLst>
                <a:ext uri="{FF2B5EF4-FFF2-40B4-BE49-F238E27FC236}">
                  <a16:creationId xmlns:a16="http://schemas.microsoft.com/office/drawing/2014/main" id="{1AFF095B-53F7-5C8F-35AB-887878B5B6F5}"/>
                </a:ext>
              </a:extLst>
            </p:cNvPr>
            <p:cNvSpPr/>
            <p:nvPr/>
          </p:nvSpPr>
          <p:spPr>
            <a:xfrm>
              <a:off x="5783552" y="7282298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68" name="Text 15">
              <a:extLst>
                <a:ext uri="{FF2B5EF4-FFF2-40B4-BE49-F238E27FC236}">
                  <a16:creationId xmlns:a16="http://schemas.microsoft.com/office/drawing/2014/main" id="{8A7BC97A-2D30-923C-2F5E-CF4ED76DB515}"/>
                </a:ext>
              </a:extLst>
            </p:cNvPr>
            <p:cNvSpPr/>
            <p:nvPr/>
          </p:nvSpPr>
          <p:spPr>
            <a:xfrm>
              <a:off x="3914824" y="7282298"/>
              <a:ext cx="137192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C82F86C7-AD79-238C-8DDC-9BB161CBABFE}"/>
                </a:ext>
              </a:extLst>
            </p:cNvPr>
            <p:cNvSpPr/>
            <p:nvPr/>
          </p:nvSpPr>
          <p:spPr>
            <a:xfrm>
              <a:off x="7384464" y="7675663"/>
              <a:ext cx="186219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A353C804-53CA-153D-EE34-460641F3C0B2}"/>
                </a:ext>
              </a:extLst>
            </p:cNvPr>
            <p:cNvSpPr/>
            <p:nvPr/>
          </p:nvSpPr>
          <p:spPr>
            <a:xfrm>
              <a:off x="5727447" y="7675663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DA98017-74B1-1A5F-E320-ED13AE307710}"/>
                </a:ext>
              </a:extLst>
            </p:cNvPr>
            <p:cNvSpPr/>
            <p:nvPr/>
          </p:nvSpPr>
          <p:spPr>
            <a:xfrm>
              <a:off x="4110404" y="7675663"/>
              <a:ext cx="137192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72" name="Text 15">
              <a:extLst>
                <a:ext uri="{FF2B5EF4-FFF2-40B4-BE49-F238E27FC236}">
                  <a16:creationId xmlns:a16="http://schemas.microsoft.com/office/drawing/2014/main" id="{92195AD0-ACDB-29CB-20A2-F29D96E2DBC0}"/>
                </a:ext>
              </a:extLst>
            </p:cNvPr>
            <p:cNvSpPr/>
            <p:nvPr/>
          </p:nvSpPr>
          <p:spPr>
            <a:xfrm>
              <a:off x="7384464" y="8057739"/>
              <a:ext cx="186219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66AB41B7-B4FC-A3F0-5F5F-A32B5F7A4CDB}"/>
                </a:ext>
              </a:extLst>
            </p:cNvPr>
            <p:cNvSpPr/>
            <p:nvPr/>
          </p:nvSpPr>
          <p:spPr>
            <a:xfrm>
              <a:off x="5530264" y="8057739"/>
              <a:ext cx="179019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4" name="Text 15">
              <a:extLst>
                <a:ext uri="{FF2B5EF4-FFF2-40B4-BE49-F238E27FC236}">
                  <a16:creationId xmlns:a16="http://schemas.microsoft.com/office/drawing/2014/main" id="{DA9D5690-190D-BD43-CE13-B72BABDCD554}"/>
                </a:ext>
              </a:extLst>
            </p:cNvPr>
            <p:cNvSpPr/>
            <p:nvPr/>
          </p:nvSpPr>
          <p:spPr>
            <a:xfrm>
              <a:off x="3914824" y="8057739"/>
              <a:ext cx="137192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951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945043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74291" y="3161562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SOFWAVE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874291" y="336588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Sofwave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4291" y="3660546"/>
            <a:ext cx="2388035" cy="133259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044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Ultrasound lifting that targets the </a:t>
            </a:r>
          </a:p>
          <a:p>
            <a:pPr>
              <a:lnSpc>
                <a:spcPct val="143375"/>
              </a:lnSpc>
            </a:pPr>
            <a:r>
              <a:rPr lang="en-US" sz="1044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mid-to-lower dermis at 1.5mm. </a:t>
            </a:r>
          </a:p>
          <a:p>
            <a:pPr>
              <a:lnSpc>
                <a:spcPct val="143375"/>
              </a:lnSpc>
            </a:pPr>
            <a:r>
              <a:rPr lang="en-US" sz="1044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Firms thin, sagging skin </a:t>
            </a:r>
          </a:p>
          <a:p>
            <a:pPr>
              <a:lnSpc>
                <a:spcPct val="143375"/>
              </a:lnSpc>
            </a:pPr>
            <a:r>
              <a:rPr lang="en-US" sz="1044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without the risk of </a:t>
            </a:r>
          </a:p>
          <a:p>
            <a:pPr>
              <a:lnSpc>
                <a:spcPct val="143375"/>
              </a:lnSpc>
            </a:pPr>
            <a:r>
              <a:rPr lang="en-US" sz="1044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cheek hollowing.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317386" y="516604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24645" y="3368167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ULTHERAPY PRIME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24645" y="3572489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Ultherapy PRIME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24646" y="3867152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06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Focused ultrasound reaching the </a:t>
            </a:r>
          </a:p>
          <a:p>
            <a:pPr>
              <a:lnSpc>
                <a:spcPct val="143375"/>
              </a:lnSpc>
            </a:pPr>
            <a:r>
              <a:rPr lang="en-US" sz="106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sagging facial SMAS layer. </a:t>
            </a:r>
          </a:p>
          <a:p>
            <a:pPr>
              <a:lnSpc>
                <a:spcPct val="143375"/>
              </a:lnSpc>
            </a:pPr>
            <a:r>
              <a:rPr lang="en-US" sz="106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Powerful contouring and lifting </a:t>
            </a:r>
          </a:p>
          <a:p>
            <a:pPr>
              <a:lnSpc>
                <a:spcPct val="143375"/>
              </a:lnSpc>
            </a:pPr>
            <a:r>
              <a:rPr lang="en-US" sz="106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that lasts over a year.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45043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874291" y="6299734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THERMAGE FLX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874291" y="6504057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553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Thermage FLX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4291" y="6798718"/>
            <a:ext cx="2388035" cy="143694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0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Monopolar radiofrequency </a:t>
            </a:r>
          </a:p>
          <a:p>
            <a:pPr>
              <a:lnSpc>
                <a:spcPct val="143375"/>
              </a:lnSpc>
            </a:pPr>
            <a:r>
              <a:rPr lang="en-US" sz="10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tightens the entire dermis, </a:t>
            </a:r>
          </a:p>
          <a:p>
            <a:pPr>
              <a:lnSpc>
                <a:spcPct val="143375"/>
              </a:lnSpc>
            </a:pPr>
            <a:r>
              <a:rPr lang="en-US" sz="10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effective for firmness and </a:t>
            </a:r>
          </a:p>
          <a:p>
            <a:pPr>
              <a:lnSpc>
                <a:spcPct val="143375"/>
              </a:lnSpc>
            </a:pPr>
            <a:r>
              <a:rPr lang="en-US" sz="10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fine-line improvement.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17386" y="8110020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353868" y="6319138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TITANIUM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53868" y="6523461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463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Titanium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53869" y="6818122"/>
            <a:ext cx="2388035" cy="1260349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0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Precise energy delivery</a:t>
            </a:r>
          </a:p>
          <a:p>
            <a:pPr>
              <a:lnSpc>
                <a:spcPct val="143375"/>
              </a:lnSpc>
            </a:pPr>
            <a:r>
              <a:rPr lang="en-US" sz="110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activates collagen for firmness</a:t>
            </a:r>
          </a:p>
          <a:p>
            <a:pPr>
              <a:lnSpc>
                <a:spcPct val="143375"/>
              </a:lnSpc>
            </a:pPr>
            <a:r>
              <a:rPr lang="en-US" sz="110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that builds deep from within</a:t>
            </a:r>
          </a:p>
          <a:p>
            <a:pPr>
              <a:lnSpc>
                <a:spcPct val="143375"/>
              </a:lnSpc>
            </a:pPr>
            <a:r>
              <a:rPr lang="en-US" sz="110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and long-lasting lifting.</a:t>
            </a:r>
          </a:p>
        </p:txBody>
      </p:sp>
      <p:sp>
        <p:nvSpPr>
          <p:cNvPr id="26" name="Shape 23"/>
          <p:cNvSpPr/>
          <p:nvPr/>
        </p:nvSpPr>
        <p:spPr>
          <a:xfrm>
            <a:off x="945043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874291" y="9198453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ONDA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874291" y="9402776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539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ONDA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4291" y="9697438"/>
            <a:ext cx="2388035" cy="1245211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Microwave energy for</a:t>
            </a:r>
            <a:endParaRPr lang="en-US" sz="1152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fat &amp; cellulite reduction. </a:t>
            </a:r>
          </a:p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Low discomfort, for both </a:t>
            </a:r>
          </a:p>
          <a:p>
            <a:pPr>
              <a:lnSpc>
                <a:spcPct val="143375"/>
              </a:lnSpc>
            </a:pPr>
            <a:r>
              <a:rPr lang="en-US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FACE · BODY care.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317386" y="11030028"/>
            <a:ext cx="4010055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353869" y="918611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SHURINK UNIVERSE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353869" y="9390434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Shurink Universe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353870" y="9685097"/>
            <a:ext cx="2388035" cy="112033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089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2nd-gen HIFU delivered from the </a:t>
            </a:r>
          </a:p>
          <a:p>
            <a:pPr>
              <a:lnSpc>
                <a:spcPct val="143375"/>
              </a:lnSpc>
            </a:pPr>
            <a:r>
              <a:rPr lang="en-US" sz="1089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SMAS layer to the dermis. </a:t>
            </a:r>
          </a:p>
          <a:p>
            <a:pPr>
              <a:lnSpc>
                <a:spcPct val="143375"/>
              </a:lnSpc>
            </a:pPr>
            <a:r>
              <a:rPr lang="en-US" sz="1089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2.5x faster speed and </a:t>
            </a:r>
          </a:p>
          <a:p>
            <a:pPr>
              <a:lnSpc>
                <a:spcPct val="143375"/>
              </a:lnSpc>
            </a:pPr>
            <a:r>
              <a:rPr lang="en-US" sz="1089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7 customizable cartridges.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874291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VOLNEWMER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874291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3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Volnewmer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874291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43375"/>
              </a:lnSpc>
            </a:pPr>
            <a:r>
              <a:rPr lang="en-US" sz="10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Delivers 6.78MHz monopolar RF </a:t>
            </a:r>
          </a:p>
          <a:p>
            <a:pPr>
              <a:lnSpc>
                <a:spcPct val="143375"/>
              </a:lnSpc>
            </a:pPr>
            <a:r>
              <a:rPr lang="en-US" sz="10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deep into the skin. </a:t>
            </a:r>
          </a:p>
          <a:p>
            <a:pPr>
              <a:lnSpc>
                <a:spcPct val="143375"/>
              </a:lnSpc>
            </a:pPr>
            <a:r>
              <a:rPr lang="en-US" sz="10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Dermal collagen regeneration </a:t>
            </a:r>
          </a:p>
          <a:p>
            <a:pPr>
              <a:lnSpc>
                <a:spcPct val="143375"/>
              </a:lnSpc>
            </a:pPr>
            <a:r>
              <a:rPr lang="en-US" sz="10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for lifting and firmness.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9553D465-CCF8-67E0-F52C-C8D62FF14AF9}"/>
              </a:ext>
            </a:extLst>
          </p:cNvPr>
          <p:cNvSpPr/>
          <p:nvPr/>
        </p:nvSpPr>
        <p:spPr>
          <a:xfrm>
            <a:off x="-514350" y="86936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6BC3CC80-5B62-9639-6525-E44B770D98C1}"/>
              </a:ext>
            </a:extLst>
          </p:cNvPr>
          <p:cNvSpPr/>
          <p:nvPr/>
        </p:nvSpPr>
        <p:spPr>
          <a:xfrm>
            <a:off x="-514350" y="107070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92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Lifting Devices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29656B43-A3F5-08E5-103C-EEE3EA00A63D}"/>
              </a:ext>
            </a:extLst>
          </p:cNvPr>
          <p:cNvSpPr/>
          <p:nvPr/>
        </p:nvSpPr>
        <p:spPr>
          <a:xfrm>
            <a:off x="-514350" y="154419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A Personalized Anti-Aging Plan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689248E-18A4-6F5F-F7D1-246897A93B12}"/>
              </a:ext>
            </a:extLst>
          </p:cNvPr>
          <p:cNvSpPr/>
          <p:nvPr/>
        </p:nvSpPr>
        <p:spPr>
          <a:xfrm>
            <a:off x="945043" y="2570497"/>
            <a:ext cx="1663708" cy="232919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C50483F-B92B-ACB1-9245-0CF3DF91166C}"/>
              </a:ext>
            </a:extLst>
          </p:cNvPr>
          <p:cNvSpPr/>
          <p:nvPr/>
        </p:nvSpPr>
        <p:spPr>
          <a:xfrm>
            <a:off x="5424620" y="2570497"/>
            <a:ext cx="1663708" cy="232919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8E1DBC2-78FE-CD30-8809-C006D468FA41}"/>
              </a:ext>
            </a:extLst>
          </p:cNvPr>
          <p:cNvSpPr/>
          <p:nvPr/>
        </p:nvSpPr>
        <p:spPr>
          <a:xfrm>
            <a:off x="945043" y="5466323"/>
            <a:ext cx="1663708" cy="232919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9E5842A-5291-E9BC-F5A2-4C6859AA2642}"/>
              </a:ext>
            </a:extLst>
          </p:cNvPr>
          <p:cNvSpPr/>
          <p:nvPr/>
        </p:nvSpPr>
        <p:spPr>
          <a:xfrm>
            <a:off x="5424620" y="5466323"/>
            <a:ext cx="1663708" cy="2329192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00192A-C033-2EB7-2847-83D391428870}"/>
              </a:ext>
            </a:extLst>
          </p:cNvPr>
          <p:cNvSpPr/>
          <p:nvPr/>
        </p:nvSpPr>
        <p:spPr>
          <a:xfrm>
            <a:off x="945043" y="8390316"/>
            <a:ext cx="1663708" cy="2329192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8828A9-9349-87F6-92A6-9FAB811571EC}"/>
              </a:ext>
            </a:extLst>
          </p:cNvPr>
          <p:cNvSpPr/>
          <p:nvPr/>
        </p:nvSpPr>
        <p:spPr>
          <a:xfrm>
            <a:off x="5424620" y="8390316"/>
            <a:ext cx="1663708" cy="2329192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7E0C15-636A-BD01-5701-FD05C14C22FC}"/>
              </a:ext>
            </a:extLst>
          </p:cNvPr>
          <p:cNvSpPr/>
          <p:nvPr/>
        </p:nvSpPr>
        <p:spPr>
          <a:xfrm>
            <a:off x="945043" y="11346120"/>
            <a:ext cx="1663708" cy="2329192"/>
          </a:xfrm>
          <a:prstGeom prst="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31">
            <a:extLst>
              <a:ext uri="{FF2B5EF4-FFF2-40B4-BE49-F238E27FC236}">
                <a16:creationId xmlns:a16="http://schemas.microsoft.com/office/drawing/2014/main" id="{71C97DCB-3442-B99A-112C-A084B336D2D1}"/>
              </a:ext>
            </a:extLst>
          </p:cNvPr>
          <p:cNvSpPr/>
          <p:nvPr/>
        </p:nvSpPr>
        <p:spPr>
          <a:xfrm>
            <a:off x="7353869" y="12168901"/>
            <a:ext cx="2550329" cy="17277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934" kern="0" spc="187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FORTRA</a:t>
            </a:r>
            <a:endParaRPr lang="en-US" sz="934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D5401861-B558-7F53-42EC-63D82092DD91}"/>
              </a:ext>
            </a:extLst>
          </p:cNvPr>
          <p:cNvSpPr/>
          <p:nvPr/>
        </p:nvSpPr>
        <p:spPr>
          <a:xfrm>
            <a:off x="7353869" y="12373223"/>
            <a:ext cx="2550329" cy="26311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681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Fortra</a:t>
            </a:r>
            <a:endParaRPr lang="en-US" sz="1681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33">
            <a:extLst>
              <a:ext uri="{FF2B5EF4-FFF2-40B4-BE49-F238E27FC236}">
                <a16:creationId xmlns:a16="http://schemas.microsoft.com/office/drawing/2014/main" id="{1F2CA6EE-881B-7489-045B-DC259213A2AE}"/>
              </a:ext>
            </a:extLst>
          </p:cNvPr>
          <p:cNvSpPr/>
          <p:nvPr/>
        </p:nvSpPr>
        <p:spPr>
          <a:xfrm>
            <a:off x="7353869" y="12667886"/>
            <a:ext cx="2388035" cy="13239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1152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755·808·940·1064nm</a:t>
            </a:r>
          </a:p>
          <a:p>
            <a:pPr>
              <a:lnSpc>
                <a:spcPct val="143375"/>
              </a:lnSpc>
            </a:pPr>
            <a:r>
              <a:rPr lang="en-US" sz="991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4 wavelengths and powerful cooling reduce pain while promoting fat reduction · retaining-ligament strengthening · collagen remodeling.</a:t>
            </a:r>
            <a:endParaRPr lang="en-US" sz="1152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ACABAC7-5937-B4B4-1562-0C18CCD74C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4621" y="11357325"/>
            <a:ext cx="1663707" cy="232919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1399-DF42-6566-3D95-FB0DD587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LIFTING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924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Lifting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A Personalized Anti-Aging Plan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7F30518A-240A-4E4B-F33A-69A24FA2055F}"/>
              </a:ext>
            </a:extLst>
          </p:cNvPr>
          <p:cNvGrpSpPr/>
          <p:nvPr/>
        </p:nvGrpSpPr>
        <p:grpSpPr>
          <a:xfrm>
            <a:off x="930580" y="2501630"/>
            <a:ext cx="8316077" cy="728123"/>
            <a:chOff x="930580" y="2720019"/>
            <a:chExt cx="8316077" cy="728123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8DA01E9F-A1B4-868E-FBDF-592F835229C2}"/>
                </a:ext>
              </a:extLst>
            </p:cNvPr>
            <p:cNvSpPr txBox="1"/>
            <p:nvPr/>
          </p:nvSpPr>
          <p:spPr>
            <a:xfrm>
              <a:off x="930580" y="2720019"/>
              <a:ext cx="1338828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Sofwave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4FFEE9A2-8173-98CE-F30F-0890B8A22E08}"/>
                </a:ext>
              </a:extLst>
            </p:cNvPr>
            <p:cNvGrpSpPr/>
            <p:nvPr/>
          </p:nvGrpSpPr>
          <p:grpSpPr>
            <a:xfrm>
              <a:off x="1041515" y="3046774"/>
              <a:ext cx="8205142" cy="401368"/>
              <a:chOff x="1041515" y="3046774"/>
              <a:chExt cx="8205142" cy="401368"/>
            </a:xfrm>
          </p:grpSpPr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EDF12578-D341-D8EB-43DD-F6BCDBA41D68}"/>
                  </a:ext>
                </a:extLst>
              </p:cNvPr>
              <p:cNvSpPr/>
              <p:nvPr/>
            </p:nvSpPr>
            <p:spPr>
              <a:xfrm>
                <a:off x="1041515" y="304677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55" name="Shape 7">
                <a:extLst>
                  <a:ext uri="{FF2B5EF4-FFF2-40B4-BE49-F238E27FC236}">
                    <a16:creationId xmlns:a16="http://schemas.microsoft.com/office/drawing/2014/main" id="{64127FB2-31D8-1A56-FE3F-A142E6D63B7F}"/>
                  </a:ext>
                </a:extLst>
              </p:cNvPr>
              <p:cNvSpPr/>
              <p:nvPr/>
            </p:nvSpPr>
            <p:spPr>
              <a:xfrm>
                <a:off x="1041515" y="3434535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A3E3B819-E0D2-5245-F783-B7C3665FF436}"/>
                </a:ext>
              </a:extLst>
            </p:cNvPr>
            <p:cNvSpPr/>
            <p:nvPr/>
          </p:nvSpPr>
          <p:spPr>
            <a:xfrm>
              <a:off x="1044691" y="3057439"/>
              <a:ext cx="453314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Sofwave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BE58BB34-C113-C828-EA10-A41183697BC1}"/>
                </a:ext>
              </a:extLst>
            </p:cNvPr>
            <p:cNvSpPr/>
            <p:nvPr/>
          </p:nvSpPr>
          <p:spPr>
            <a:xfrm>
              <a:off x="7344332" y="3137457"/>
              <a:ext cx="19023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300 Pulses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2,700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58" name="Text 15">
              <a:extLst>
                <a:ext uri="{FF2B5EF4-FFF2-40B4-BE49-F238E27FC236}">
                  <a16:creationId xmlns:a16="http://schemas.microsoft.com/office/drawing/2014/main" id="{73630F27-E2BD-8DFD-C0C9-ACE453AB800B}"/>
                </a:ext>
              </a:extLst>
            </p:cNvPr>
            <p:cNvSpPr/>
            <p:nvPr/>
          </p:nvSpPr>
          <p:spPr>
            <a:xfrm>
              <a:off x="5416980" y="3137457"/>
              <a:ext cx="182676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200 Pulses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1,90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59" name="Text 15">
              <a:extLst>
                <a:ext uri="{FF2B5EF4-FFF2-40B4-BE49-F238E27FC236}">
                  <a16:creationId xmlns:a16="http://schemas.microsoft.com/office/drawing/2014/main" id="{3D61D61B-03BF-968A-C93D-FA9DA0B54934}"/>
                </a:ext>
              </a:extLst>
            </p:cNvPr>
            <p:cNvSpPr/>
            <p:nvPr/>
          </p:nvSpPr>
          <p:spPr>
            <a:xfrm>
              <a:off x="3526204" y="3137457"/>
              <a:ext cx="182676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 Pulses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1,10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08" name="그룹 407">
            <a:extLst>
              <a:ext uri="{FF2B5EF4-FFF2-40B4-BE49-F238E27FC236}">
                <a16:creationId xmlns:a16="http://schemas.microsoft.com/office/drawing/2014/main" id="{A467D01C-825D-BAD5-AFAB-97DB09A3968C}"/>
              </a:ext>
            </a:extLst>
          </p:cNvPr>
          <p:cNvGrpSpPr/>
          <p:nvPr/>
        </p:nvGrpSpPr>
        <p:grpSpPr>
          <a:xfrm>
            <a:off x="930580" y="3413169"/>
            <a:ext cx="8316077" cy="1119552"/>
            <a:chOff x="930580" y="3713153"/>
            <a:chExt cx="8316077" cy="1119552"/>
          </a:xfrm>
        </p:grpSpPr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24350834-563E-C035-AAEF-20E033954618}"/>
                </a:ext>
              </a:extLst>
            </p:cNvPr>
            <p:cNvSpPr txBox="1"/>
            <p:nvPr/>
          </p:nvSpPr>
          <p:spPr>
            <a:xfrm>
              <a:off x="930580" y="3713153"/>
              <a:ext cx="206575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Ultherapy PRIME</a:t>
              </a:r>
            </a:p>
          </p:txBody>
        </p: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6AE10D28-24E2-FDB8-3D7A-4114A8F0213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5" name="Shape 7">
                <a:extLst>
                  <a:ext uri="{FF2B5EF4-FFF2-40B4-BE49-F238E27FC236}">
                    <a16:creationId xmlns:a16="http://schemas.microsoft.com/office/drawing/2014/main" id="{8199D808-51C2-4368-42F9-92B59CAE7C74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66" name="Shape 7">
                <a:extLst>
                  <a:ext uri="{FF2B5EF4-FFF2-40B4-BE49-F238E27FC236}">
                    <a16:creationId xmlns:a16="http://schemas.microsoft.com/office/drawing/2014/main" id="{636D7534-B71B-67F9-0C02-FDE67BD40551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67" name="Shape 7">
                <a:extLst>
                  <a:ext uri="{FF2B5EF4-FFF2-40B4-BE49-F238E27FC236}">
                    <a16:creationId xmlns:a16="http://schemas.microsoft.com/office/drawing/2014/main" id="{93F11E70-9E67-DBDF-871B-31CAE9B6B618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68" name="Text 11">
              <a:extLst>
                <a:ext uri="{FF2B5EF4-FFF2-40B4-BE49-F238E27FC236}">
                  <a16:creationId xmlns:a16="http://schemas.microsoft.com/office/drawing/2014/main" id="{22F0A32A-8D4B-AEEB-E454-591DA5121A05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Ultherapy PRIME</a:t>
              </a:r>
            </a:p>
          </p:txBody>
        </p:sp>
        <p:sp>
          <p:nvSpPr>
            <p:cNvPr id="269" name="Text 15">
              <a:extLst>
                <a:ext uri="{FF2B5EF4-FFF2-40B4-BE49-F238E27FC236}">
                  <a16:creationId xmlns:a16="http://schemas.microsoft.com/office/drawing/2014/main" id="{E1F9666A-A929-08C7-CB00-B24D0A54DD74}"/>
                </a:ext>
              </a:extLst>
            </p:cNvPr>
            <p:cNvSpPr/>
            <p:nvPr/>
          </p:nvSpPr>
          <p:spPr>
            <a:xfrm>
              <a:off x="7420532" y="4135176"/>
              <a:ext cx="18261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900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3,40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0" name="Text 15">
              <a:extLst>
                <a:ext uri="{FF2B5EF4-FFF2-40B4-BE49-F238E27FC236}">
                  <a16:creationId xmlns:a16="http://schemas.microsoft.com/office/drawing/2014/main" id="{EAE95153-2FB6-F2B4-1E9B-FD67914E0434}"/>
                </a:ext>
              </a:extLst>
            </p:cNvPr>
            <p:cNvSpPr/>
            <p:nvPr/>
          </p:nvSpPr>
          <p:spPr>
            <a:xfrm>
              <a:off x="5565824" y="4135176"/>
              <a:ext cx="175412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600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1" name="Text 15">
              <a:extLst>
                <a:ext uri="{FF2B5EF4-FFF2-40B4-BE49-F238E27FC236}">
                  <a16:creationId xmlns:a16="http://schemas.microsoft.com/office/drawing/2014/main" id="{60B13E2C-F7E4-1F5E-ABEA-CA09A6826889}"/>
                </a:ext>
              </a:extLst>
            </p:cNvPr>
            <p:cNvSpPr/>
            <p:nvPr/>
          </p:nvSpPr>
          <p:spPr>
            <a:xfrm>
              <a:off x="3526204" y="4135176"/>
              <a:ext cx="175412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300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72" name="Text 11">
              <a:extLst>
                <a:ext uri="{FF2B5EF4-FFF2-40B4-BE49-F238E27FC236}">
                  <a16:creationId xmlns:a16="http://schemas.microsoft.com/office/drawing/2014/main" id="{987F0E45-8658-49AA-7DB5-FA67CE0B83E6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100 Shots Extra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Standalone Not Available</a:t>
              </a:r>
            </a:p>
          </p:txBody>
        </p:sp>
        <p:sp>
          <p:nvSpPr>
            <p:cNvPr id="273" name="Text 15">
              <a:extLst>
                <a:ext uri="{FF2B5EF4-FFF2-40B4-BE49-F238E27FC236}">
                  <a16:creationId xmlns:a16="http://schemas.microsoft.com/office/drawing/2014/main" id="{AD2FD1F0-FC71-2D70-5066-54102EF9BCAD}"/>
                </a:ext>
              </a:extLst>
            </p:cNvPr>
            <p:cNvSpPr/>
            <p:nvPr/>
          </p:nvSpPr>
          <p:spPr>
            <a:xfrm>
              <a:off x="8468632" y="4522828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8E9A3294-6ADC-57A2-27C4-E7E8914AE877}"/>
              </a:ext>
            </a:extLst>
          </p:cNvPr>
          <p:cNvGrpSpPr/>
          <p:nvPr/>
        </p:nvGrpSpPr>
        <p:grpSpPr>
          <a:xfrm>
            <a:off x="930580" y="4639850"/>
            <a:ext cx="8316077" cy="1119552"/>
            <a:chOff x="930580" y="5104573"/>
            <a:chExt cx="8316077" cy="1119552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B0FA39E2-A5D7-7FA7-A224-5F19B50018C4}"/>
                </a:ext>
              </a:extLst>
            </p:cNvPr>
            <p:cNvSpPr txBox="1"/>
            <p:nvPr/>
          </p:nvSpPr>
          <p:spPr>
            <a:xfrm>
              <a:off x="930580" y="5104573"/>
              <a:ext cx="168975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Thermage FLX</a:t>
              </a:r>
            </a:p>
          </p:txBody>
        </p:sp>
        <p:grpSp>
          <p:nvGrpSpPr>
            <p:cNvPr id="280" name="그룹 279">
              <a:extLst>
                <a:ext uri="{FF2B5EF4-FFF2-40B4-BE49-F238E27FC236}">
                  <a16:creationId xmlns:a16="http://schemas.microsoft.com/office/drawing/2014/main" id="{15FB02C6-4F0E-580E-B3AE-D8BBF2590143}"/>
                </a:ext>
              </a:extLst>
            </p:cNvPr>
            <p:cNvGrpSpPr/>
            <p:nvPr/>
          </p:nvGrpSpPr>
          <p:grpSpPr>
            <a:xfrm>
              <a:off x="1041515" y="5435913"/>
              <a:ext cx="8205142" cy="788212"/>
              <a:chOff x="1041515" y="4036831"/>
              <a:chExt cx="8205142" cy="788212"/>
            </a:xfrm>
          </p:grpSpPr>
          <p:sp>
            <p:nvSpPr>
              <p:cNvPr id="281" name="Shape 7">
                <a:extLst>
                  <a:ext uri="{FF2B5EF4-FFF2-40B4-BE49-F238E27FC236}">
                    <a16:creationId xmlns:a16="http://schemas.microsoft.com/office/drawing/2014/main" id="{A538C9DC-57F0-E5CA-6B74-C78D8EEDBFE7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82" name="Shape 7">
                <a:extLst>
                  <a:ext uri="{FF2B5EF4-FFF2-40B4-BE49-F238E27FC236}">
                    <a16:creationId xmlns:a16="http://schemas.microsoft.com/office/drawing/2014/main" id="{E3F6206E-C4B4-433B-8D68-4E1AABEE25A2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3" name="Shape 7">
                <a:extLst>
                  <a:ext uri="{FF2B5EF4-FFF2-40B4-BE49-F238E27FC236}">
                    <a16:creationId xmlns:a16="http://schemas.microsoft.com/office/drawing/2014/main" id="{13CF50CC-2B89-A6F9-9A74-9CD0319881A5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84" name="Text 11">
              <a:extLst>
                <a:ext uri="{FF2B5EF4-FFF2-40B4-BE49-F238E27FC236}">
                  <a16:creationId xmlns:a16="http://schemas.microsoft.com/office/drawing/2014/main" id="{506F17A7-39A0-EC47-8D6E-E6D1B54C6CFD}"/>
                </a:ext>
              </a:extLst>
            </p:cNvPr>
            <p:cNvSpPr/>
            <p:nvPr/>
          </p:nvSpPr>
          <p:spPr>
            <a:xfrm>
              <a:off x="1044691" y="544657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Eye Thermage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85" name="Text 15">
              <a:extLst>
                <a:ext uri="{FF2B5EF4-FFF2-40B4-BE49-F238E27FC236}">
                  <a16:creationId xmlns:a16="http://schemas.microsoft.com/office/drawing/2014/main" id="{6102AD7D-B35E-776B-09C5-9EA150FAEA46}"/>
                </a:ext>
              </a:extLst>
            </p:cNvPr>
            <p:cNvSpPr/>
            <p:nvPr/>
          </p:nvSpPr>
          <p:spPr>
            <a:xfrm>
              <a:off x="7420532" y="5526596"/>
              <a:ext cx="18261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450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2,00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6" name="Text 15">
              <a:extLst>
                <a:ext uri="{FF2B5EF4-FFF2-40B4-BE49-F238E27FC236}">
                  <a16:creationId xmlns:a16="http://schemas.microsoft.com/office/drawing/2014/main" id="{1549756E-3097-9816-12C2-EFBC3B1F9ECE}"/>
                </a:ext>
              </a:extLst>
            </p:cNvPr>
            <p:cNvSpPr/>
            <p:nvPr/>
          </p:nvSpPr>
          <p:spPr>
            <a:xfrm>
              <a:off x="5532963" y="5526596"/>
              <a:ext cx="175412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225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88" name="Text 11">
              <a:extLst>
                <a:ext uri="{FF2B5EF4-FFF2-40B4-BE49-F238E27FC236}">
                  <a16:creationId xmlns:a16="http://schemas.microsoft.com/office/drawing/2014/main" id="{B3FD0BF4-E160-2BB4-6843-A04EF4B04B59}"/>
                </a:ext>
              </a:extLst>
            </p:cNvPr>
            <p:cNvSpPr/>
            <p:nvPr/>
          </p:nvSpPr>
          <p:spPr>
            <a:xfrm>
              <a:off x="1044691" y="583423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Thermage FLX</a:t>
              </a:r>
            </a:p>
          </p:txBody>
        </p:sp>
        <p:sp>
          <p:nvSpPr>
            <p:cNvPr id="289" name="Text 15">
              <a:extLst>
                <a:ext uri="{FF2B5EF4-FFF2-40B4-BE49-F238E27FC236}">
                  <a16:creationId xmlns:a16="http://schemas.microsoft.com/office/drawing/2014/main" id="{A0374023-2519-70DE-75BC-CAE3DD21D0F5}"/>
                </a:ext>
              </a:extLst>
            </p:cNvPr>
            <p:cNvSpPr/>
            <p:nvPr/>
          </p:nvSpPr>
          <p:spPr>
            <a:xfrm>
              <a:off x="7420532" y="5914248"/>
              <a:ext cx="18261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900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</a:p>
          </p:txBody>
        </p:sp>
        <p:sp>
          <p:nvSpPr>
            <p:cNvPr id="291" name="Text 15">
              <a:extLst>
                <a:ext uri="{FF2B5EF4-FFF2-40B4-BE49-F238E27FC236}">
                  <a16:creationId xmlns:a16="http://schemas.microsoft.com/office/drawing/2014/main" id="{6428E6C1-54BC-80DF-C60E-110526729531}"/>
                </a:ext>
              </a:extLst>
            </p:cNvPr>
            <p:cNvSpPr/>
            <p:nvPr/>
          </p:nvSpPr>
          <p:spPr>
            <a:xfrm>
              <a:off x="5564221" y="5914248"/>
              <a:ext cx="175412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600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92" name="Text 15">
              <a:extLst>
                <a:ext uri="{FF2B5EF4-FFF2-40B4-BE49-F238E27FC236}">
                  <a16:creationId xmlns:a16="http://schemas.microsoft.com/office/drawing/2014/main" id="{728EA739-4971-C4B7-3EB6-E61ED4A18C18}"/>
                </a:ext>
              </a:extLst>
            </p:cNvPr>
            <p:cNvSpPr/>
            <p:nvPr/>
          </p:nvSpPr>
          <p:spPr>
            <a:xfrm>
              <a:off x="3526204" y="5914248"/>
              <a:ext cx="1754124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300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0" name="그룹 409">
            <a:extLst>
              <a:ext uri="{FF2B5EF4-FFF2-40B4-BE49-F238E27FC236}">
                <a16:creationId xmlns:a16="http://schemas.microsoft.com/office/drawing/2014/main" id="{E2294037-9E72-9212-D5F6-E3371305EA36}"/>
              </a:ext>
            </a:extLst>
          </p:cNvPr>
          <p:cNvGrpSpPr/>
          <p:nvPr/>
        </p:nvGrpSpPr>
        <p:grpSpPr>
          <a:xfrm>
            <a:off x="930580" y="7228976"/>
            <a:ext cx="8316077" cy="1119552"/>
            <a:chOff x="930580" y="6495674"/>
            <a:chExt cx="8316077" cy="1119552"/>
          </a:xfrm>
        </p:grpSpPr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1AA99A9-A620-BB28-8A2B-A4F03F4FECFE}"/>
                </a:ext>
              </a:extLst>
            </p:cNvPr>
            <p:cNvSpPr txBox="1"/>
            <p:nvPr/>
          </p:nvSpPr>
          <p:spPr>
            <a:xfrm>
              <a:off x="930580" y="6495674"/>
              <a:ext cx="117293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Titanium</a:t>
              </a:r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99042B02-6DA4-17EC-E699-10F7C3B46936}"/>
                </a:ext>
              </a:extLst>
            </p:cNvPr>
            <p:cNvGrpSpPr/>
            <p:nvPr/>
          </p:nvGrpSpPr>
          <p:grpSpPr>
            <a:xfrm>
              <a:off x="1041515" y="6827014"/>
              <a:ext cx="8205142" cy="788212"/>
              <a:chOff x="1041515" y="4036831"/>
              <a:chExt cx="8205142" cy="788212"/>
            </a:xfrm>
          </p:grpSpPr>
          <p:sp>
            <p:nvSpPr>
              <p:cNvPr id="296" name="Shape 7">
                <a:extLst>
                  <a:ext uri="{FF2B5EF4-FFF2-40B4-BE49-F238E27FC236}">
                    <a16:creationId xmlns:a16="http://schemas.microsoft.com/office/drawing/2014/main" id="{2758B90A-45AB-6EF8-1F59-F1AA7B28656F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97" name="Shape 7">
                <a:extLst>
                  <a:ext uri="{FF2B5EF4-FFF2-40B4-BE49-F238E27FC236}">
                    <a16:creationId xmlns:a16="http://schemas.microsoft.com/office/drawing/2014/main" id="{A1750EB6-A679-8FB3-9059-8CEEDBE8F48C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98" name="Shape 7">
                <a:extLst>
                  <a:ext uri="{FF2B5EF4-FFF2-40B4-BE49-F238E27FC236}">
                    <a16:creationId xmlns:a16="http://schemas.microsoft.com/office/drawing/2014/main" id="{1F992ED4-B7E3-50F8-3731-EBBD9AD57FC3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99" name="Text 11">
              <a:extLst>
                <a:ext uri="{FF2B5EF4-FFF2-40B4-BE49-F238E27FC236}">
                  <a16:creationId xmlns:a16="http://schemas.microsoft.com/office/drawing/2014/main" id="{945F4294-0BA8-67E1-763E-D2DC57DA56F1}"/>
                </a:ext>
              </a:extLst>
            </p:cNvPr>
            <p:cNvSpPr/>
            <p:nvPr/>
          </p:nvSpPr>
          <p:spPr>
            <a:xfrm>
              <a:off x="1044691" y="6837679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Titanium</a:t>
              </a:r>
            </a:p>
          </p:txBody>
        </p:sp>
        <p:sp>
          <p:nvSpPr>
            <p:cNvPr id="300" name="Text 15">
              <a:extLst>
                <a:ext uri="{FF2B5EF4-FFF2-40B4-BE49-F238E27FC236}">
                  <a16:creationId xmlns:a16="http://schemas.microsoft.com/office/drawing/2014/main" id="{43C46973-9356-626A-924C-1AEF8EBE5042}"/>
                </a:ext>
              </a:extLst>
            </p:cNvPr>
            <p:cNvSpPr/>
            <p:nvPr/>
          </p:nvSpPr>
          <p:spPr>
            <a:xfrm>
              <a:off x="7902771" y="6917697"/>
              <a:ext cx="134388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1,30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1" name="Text 15">
              <a:extLst>
                <a:ext uri="{FF2B5EF4-FFF2-40B4-BE49-F238E27FC236}">
                  <a16:creationId xmlns:a16="http://schemas.microsoft.com/office/drawing/2014/main" id="{C7DF73BB-CB5B-3FFA-D037-8F53271A5460}"/>
                </a:ext>
              </a:extLst>
            </p:cNvPr>
            <p:cNvSpPr/>
            <p:nvPr/>
          </p:nvSpPr>
          <p:spPr>
            <a:xfrm>
              <a:off x="6223704" y="6917697"/>
              <a:ext cx="1067600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02" name="Text 11">
              <a:extLst>
                <a:ext uri="{FF2B5EF4-FFF2-40B4-BE49-F238E27FC236}">
                  <a16:creationId xmlns:a16="http://schemas.microsoft.com/office/drawing/2014/main" id="{27CDD484-7781-65BB-B590-E42DE45205D4}"/>
                </a:ext>
              </a:extLst>
            </p:cNvPr>
            <p:cNvSpPr/>
            <p:nvPr/>
          </p:nvSpPr>
          <p:spPr>
            <a:xfrm>
              <a:off x="1044691" y="7225331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10KJ Extra  </a:t>
              </a:r>
              <a:r>
                <a:rPr 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Standalone Not Available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03" name="Text 15">
              <a:extLst>
                <a:ext uri="{FF2B5EF4-FFF2-40B4-BE49-F238E27FC236}">
                  <a16:creationId xmlns:a16="http://schemas.microsoft.com/office/drawing/2014/main" id="{A4A29E3D-7E1F-50D5-E6D1-53107D2108CC}"/>
                </a:ext>
              </a:extLst>
            </p:cNvPr>
            <p:cNvSpPr/>
            <p:nvPr/>
          </p:nvSpPr>
          <p:spPr>
            <a:xfrm>
              <a:off x="8468632" y="7305349"/>
              <a:ext cx="778024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307" name="Text 15">
              <a:extLst>
                <a:ext uri="{FF2B5EF4-FFF2-40B4-BE49-F238E27FC236}">
                  <a16:creationId xmlns:a16="http://schemas.microsoft.com/office/drawing/2014/main" id="{055F6127-C3CC-645E-CB66-6C0D66E25FD6}"/>
                </a:ext>
              </a:extLst>
            </p:cNvPr>
            <p:cNvSpPr/>
            <p:nvPr/>
          </p:nvSpPr>
          <p:spPr>
            <a:xfrm>
              <a:off x="4174412" y="6917697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1" name="그룹 410">
            <a:extLst>
              <a:ext uri="{FF2B5EF4-FFF2-40B4-BE49-F238E27FC236}">
                <a16:creationId xmlns:a16="http://schemas.microsoft.com/office/drawing/2014/main" id="{DA8911E5-5552-5EA1-92A6-3E367443352A}"/>
              </a:ext>
            </a:extLst>
          </p:cNvPr>
          <p:cNvGrpSpPr/>
          <p:nvPr/>
        </p:nvGrpSpPr>
        <p:grpSpPr>
          <a:xfrm>
            <a:off x="930580" y="8530968"/>
            <a:ext cx="8316077" cy="1988959"/>
            <a:chOff x="930580" y="7888167"/>
            <a:chExt cx="8316077" cy="1988959"/>
          </a:xfrm>
        </p:grpSpPr>
        <p:sp>
          <p:nvSpPr>
            <p:cNvPr id="357" name="Shape 7">
              <a:extLst>
                <a:ext uri="{FF2B5EF4-FFF2-40B4-BE49-F238E27FC236}">
                  <a16:creationId xmlns:a16="http://schemas.microsoft.com/office/drawing/2014/main" id="{E607798E-B0E9-8267-6480-2620851711F5}"/>
                </a:ext>
              </a:extLst>
            </p:cNvPr>
            <p:cNvSpPr/>
            <p:nvPr/>
          </p:nvSpPr>
          <p:spPr>
            <a:xfrm>
              <a:off x="1041515" y="821574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8" name="Shape 7">
              <a:extLst>
                <a:ext uri="{FF2B5EF4-FFF2-40B4-BE49-F238E27FC236}">
                  <a16:creationId xmlns:a16="http://schemas.microsoft.com/office/drawing/2014/main" id="{8E939770-BA6D-024F-CE6A-038DDD4D8C10}"/>
                </a:ext>
              </a:extLst>
            </p:cNvPr>
            <p:cNvSpPr/>
            <p:nvPr/>
          </p:nvSpPr>
          <p:spPr>
            <a:xfrm>
              <a:off x="1041515" y="884618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9" name="Text 11">
              <a:extLst>
                <a:ext uri="{FF2B5EF4-FFF2-40B4-BE49-F238E27FC236}">
                  <a16:creationId xmlns:a16="http://schemas.microsoft.com/office/drawing/2014/main" id="{09F0A2BC-67C2-41E8-F3B1-5C29C2C1C454}"/>
                </a:ext>
              </a:extLst>
            </p:cNvPr>
            <p:cNvSpPr/>
            <p:nvPr/>
          </p:nvSpPr>
          <p:spPr>
            <a:xfrm>
              <a:off x="1044692" y="8226034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ONDA FACE</a:t>
              </a:r>
            </a:p>
          </p:txBody>
        </p:sp>
        <p:sp>
          <p:nvSpPr>
            <p:cNvPr id="361" name="Text 15">
              <a:extLst>
                <a:ext uri="{FF2B5EF4-FFF2-40B4-BE49-F238E27FC236}">
                  <a16:creationId xmlns:a16="http://schemas.microsoft.com/office/drawing/2014/main" id="{16297137-69C1-8D96-3646-A624F5B89804}"/>
                </a:ext>
              </a:extLst>
            </p:cNvPr>
            <p:cNvSpPr/>
            <p:nvPr/>
          </p:nvSpPr>
          <p:spPr>
            <a:xfrm>
              <a:off x="6156629" y="8320666"/>
              <a:ext cx="3090027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80KJ Double Chin + Lower Face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100KJ Full-Face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62" name="Text 15">
              <a:extLst>
                <a:ext uri="{FF2B5EF4-FFF2-40B4-BE49-F238E27FC236}">
                  <a16:creationId xmlns:a16="http://schemas.microsoft.com/office/drawing/2014/main" id="{67D9AF22-C1BD-A055-F45B-2E79AB7CEBB4}"/>
                </a:ext>
              </a:extLst>
            </p:cNvPr>
            <p:cNvSpPr/>
            <p:nvPr/>
          </p:nvSpPr>
          <p:spPr>
            <a:xfrm>
              <a:off x="4006518" y="8428387"/>
              <a:ext cx="2086102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Double Chin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CC1D7ABF-4E5F-FDAA-4C9D-6E39E29DE00F}"/>
                </a:ext>
              </a:extLst>
            </p:cNvPr>
            <p:cNvSpPr txBox="1"/>
            <p:nvPr/>
          </p:nvSpPr>
          <p:spPr>
            <a:xfrm>
              <a:off x="930580" y="7888167"/>
              <a:ext cx="79413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ONDA</a:t>
              </a:r>
            </a:p>
          </p:txBody>
        </p:sp>
        <p:sp>
          <p:nvSpPr>
            <p:cNvPr id="313" name="Shape 7">
              <a:extLst>
                <a:ext uri="{FF2B5EF4-FFF2-40B4-BE49-F238E27FC236}">
                  <a16:creationId xmlns:a16="http://schemas.microsoft.com/office/drawing/2014/main" id="{BA4C4492-A536-70F5-CA03-C0EDBCDDBE45}"/>
                </a:ext>
              </a:extLst>
            </p:cNvPr>
            <p:cNvSpPr/>
            <p:nvPr/>
          </p:nvSpPr>
          <p:spPr>
            <a:xfrm>
              <a:off x="1041515" y="8214922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317" name="Text 11">
              <a:extLst>
                <a:ext uri="{FF2B5EF4-FFF2-40B4-BE49-F238E27FC236}">
                  <a16:creationId xmlns:a16="http://schemas.microsoft.com/office/drawing/2014/main" id="{ED501A07-CBFF-3612-559B-BB987ADFEA7D}"/>
                </a:ext>
              </a:extLst>
            </p:cNvPr>
            <p:cNvSpPr/>
            <p:nvPr/>
          </p:nvSpPr>
          <p:spPr>
            <a:xfrm>
              <a:off x="1044691" y="8854658"/>
              <a:ext cx="3732003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ONDA FACE 10KJ Extra  </a:t>
              </a:r>
              <a:r>
                <a:rPr 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Standalone Not Available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1" name="Text 15">
              <a:extLst>
                <a:ext uri="{FF2B5EF4-FFF2-40B4-BE49-F238E27FC236}">
                  <a16:creationId xmlns:a16="http://schemas.microsoft.com/office/drawing/2014/main" id="{64F32DE2-E293-5533-860B-832219910D95}"/>
                </a:ext>
              </a:extLst>
            </p:cNvPr>
            <p:cNvSpPr/>
            <p:nvPr/>
          </p:nvSpPr>
          <p:spPr>
            <a:xfrm>
              <a:off x="8304506" y="8934676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314" name="Shape 7">
              <a:extLst>
                <a:ext uri="{FF2B5EF4-FFF2-40B4-BE49-F238E27FC236}">
                  <a16:creationId xmlns:a16="http://schemas.microsoft.com/office/drawing/2014/main" id="{28E8B48E-0F4C-E20A-7E9A-1145292DC5E0}"/>
                </a:ext>
              </a:extLst>
            </p:cNvPr>
            <p:cNvSpPr/>
            <p:nvPr/>
          </p:nvSpPr>
          <p:spPr>
            <a:xfrm>
              <a:off x="1041515" y="923308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53" name="Shape 7">
              <a:extLst>
                <a:ext uri="{FF2B5EF4-FFF2-40B4-BE49-F238E27FC236}">
                  <a16:creationId xmlns:a16="http://schemas.microsoft.com/office/drawing/2014/main" id="{6B3829C8-8FF7-CD37-96C8-2A7650762AAC}"/>
                </a:ext>
              </a:extLst>
            </p:cNvPr>
            <p:cNvSpPr/>
            <p:nvPr/>
          </p:nvSpPr>
          <p:spPr>
            <a:xfrm>
              <a:off x="1041515" y="986351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48" name="Text 11">
              <a:extLst>
                <a:ext uri="{FF2B5EF4-FFF2-40B4-BE49-F238E27FC236}">
                  <a16:creationId xmlns:a16="http://schemas.microsoft.com/office/drawing/2014/main" id="{5345A837-E11D-B09C-06EC-DA62CF556951}"/>
                </a:ext>
              </a:extLst>
            </p:cNvPr>
            <p:cNvSpPr/>
            <p:nvPr/>
          </p:nvSpPr>
          <p:spPr>
            <a:xfrm>
              <a:off x="1044692" y="9243367"/>
              <a:ext cx="3413008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ONDA BODY</a:t>
              </a:r>
            </a:p>
          </p:txBody>
        </p:sp>
        <p:sp>
          <p:nvSpPr>
            <p:cNvPr id="350" name="Text 15">
              <a:extLst>
                <a:ext uri="{FF2B5EF4-FFF2-40B4-BE49-F238E27FC236}">
                  <a16:creationId xmlns:a16="http://schemas.microsoft.com/office/drawing/2014/main" id="{42EAB791-C49E-183A-5997-17FD7FF60BCC}"/>
                </a:ext>
              </a:extLst>
            </p:cNvPr>
            <p:cNvSpPr/>
            <p:nvPr/>
          </p:nvSpPr>
          <p:spPr>
            <a:xfrm>
              <a:off x="7666404" y="9337999"/>
              <a:ext cx="1580252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300KJ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2,200,000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500KJ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3,000,000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51" name="Text 15">
              <a:extLst>
                <a:ext uri="{FF2B5EF4-FFF2-40B4-BE49-F238E27FC236}">
                  <a16:creationId xmlns:a16="http://schemas.microsoft.com/office/drawing/2014/main" id="{5835B752-ED29-607C-A954-0339FF3E3952}"/>
                </a:ext>
              </a:extLst>
            </p:cNvPr>
            <p:cNvSpPr/>
            <p:nvPr/>
          </p:nvSpPr>
          <p:spPr>
            <a:xfrm>
              <a:off x="3526204" y="9337999"/>
              <a:ext cx="1495806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100KJ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900,000</a:t>
              </a:r>
            </a:p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200KJ</a:t>
              </a:r>
              <a:r>
                <a:rPr lang="en-US" altLang="ko-KR" sz="105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1,500,000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8348CF45-8DEC-984C-8DF9-ACCAB7A2BBFA}"/>
              </a:ext>
            </a:extLst>
          </p:cNvPr>
          <p:cNvGrpSpPr/>
          <p:nvPr/>
        </p:nvGrpSpPr>
        <p:grpSpPr>
          <a:xfrm>
            <a:off x="930580" y="10658636"/>
            <a:ext cx="8316077" cy="1496252"/>
            <a:chOff x="930580" y="10148941"/>
            <a:chExt cx="8316077" cy="1496252"/>
          </a:xfrm>
        </p:grpSpPr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1043C129-D908-BF2D-37A2-A9E958BB3D0B}"/>
                </a:ext>
              </a:extLst>
            </p:cNvPr>
            <p:cNvSpPr txBox="1"/>
            <p:nvPr/>
          </p:nvSpPr>
          <p:spPr>
            <a:xfrm>
              <a:off x="930580" y="10148941"/>
              <a:ext cx="2070369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Shurink Universe</a:t>
              </a:r>
            </a:p>
          </p:txBody>
        </p: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E893E0F1-61F4-0556-7EBD-D9CA138B3F2F}"/>
                </a:ext>
              </a:extLst>
            </p:cNvPr>
            <p:cNvGrpSpPr/>
            <p:nvPr/>
          </p:nvGrpSpPr>
          <p:grpSpPr>
            <a:xfrm>
              <a:off x="1041515" y="10475696"/>
              <a:ext cx="8205142" cy="1169497"/>
              <a:chOff x="1041515" y="5446644"/>
              <a:chExt cx="8205142" cy="1169497"/>
            </a:xfrm>
          </p:grpSpPr>
          <p:sp>
            <p:nvSpPr>
              <p:cNvPr id="365" name="Shape 7">
                <a:extLst>
                  <a:ext uri="{FF2B5EF4-FFF2-40B4-BE49-F238E27FC236}">
                    <a16:creationId xmlns:a16="http://schemas.microsoft.com/office/drawing/2014/main" id="{C60E4055-7ABC-D722-6498-F2E0CE4E7FD3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6" name="Shape 7">
                <a:extLst>
                  <a:ext uri="{FF2B5EF4-FFF2-40B4-BE49-F238E27FC236}">
                    <a16:creationId xmlns:a16="http://schemas.microsoft.com/office/drawing/2014/main" id="{3E795A9A-0C98-7946-B6FC-BD0FAEA59873}"/>
                  </a:ext>
                </a:extLst>
              </p:cNvPr>
              <p:cNvSpPr/>
              <p:nvPr/>
            </p:nvSpPr>
            <p:spPr>
              <a:xfrm>
                <a:off x="1041515" y="5446644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367" name="Shape 7">
                <a:extLst>
                  <a:ext uri="{FF2B5EF4-FFF2-40B4-BE49-F238E27FC236}">
                    <a16:creationId xmlns:a16="http://schemas.microsoft.com/office/drawing/2014/main" id="{B7BBBD70-C804-EF43-CB75-A1353799D8E7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368" name="Shape 7">
                <a:extLst>
                  <a:ext uri="{FF2B5EF4-FFF2-40B4-BE49-F238E27FC236}">
                    <a16:creationId xmlns:a16="http://schemas.microsoft.com/office/drawing/2014/main" id="{9C63C51D-7F39-17B3-E8EC-277D0151B0AA}"/>
                  </a:ext>
                </a:extLst>
              </p:cNvPr>
              <p:cNvSpPr/>
              <p:nvPr/>
            </p:nvSpPr>
            <p:spPr>
              <a:xfrm>
                <a:off x="1041515" y="6602534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369" name="Text 11">
              <a:extLst>
                <a:ext uri="{FF2B5EF4-FFF2-40B4-BE49-F238E27FC236}">
                  <a16:creationId xmlns:a16="http://schemas.microsoft.com/office/drawing/2014/main" id="{79CA8AE1-D78E-D17F-2DC5-3B58D1715766}"/>
                </a:ext>
              </a:extLst>
            </p:cNvPr>
            <p:cNvSpPr/>
            <p:nvPr/>
          </p:nvSpPr>
          <p:spPr>
            <a:xfrm>
              <a:off x="1044691" y="10477570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Eye Shurink Universe</a:t>
              </a:r>
            </a:p>
          </p:txBody>
        </p:sp>
        <p:sp>
          <p:nvSpPr>
            <p:cNvPr id="370" name="Text 11">
              <a:extLst>
                <a:ext uri="{FF2B5EF4-FFF2-40B4-BE49-F238E27FC236}">
                  <a16:creationId xmlns:a16="http://schemas.microsoft.com/office/drawing/2014/main" id="{71F1F69F-8715-6099-7443-ECEE5AFD17BF}"/>
                </a:ext>
              </a:extLst>
            </p:cNvPr>
            <p:cNvSpPr/>
            <p:nvPr/>
          </p:nvSpPr>
          <p:spPr>
            <a:xfrm>
              <a:off x="1044691" y="10870935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Derma Shurink Universe</a:t>
              </a:r>
            </a:p>
          </p:txBody>
        </p:sp>
        <p:sp>
          <p:nvSpPr>
            <p:cNvPr id="371" name="Text 11">
              <a:extLst>
                <a:ext uri="{FF2B5EF4-FFF2-40B4-BE49-F238E27FC236}">
                  <a16:creationId xmlns:a16="http://schemas.microsoft.com/office/drawing/2014/main" id="{ED4DC2E3-9198-8441-3BAF-E0EF9C1595C0}"/>
                </a:ext>
              </a:extLst>
            </p:cNvPr>
            <p:cNvSpPr/>
            <p:nvPr/>
          </p:nvSpPr>
          <p:spPr>
            <a:xfrm>
              <a:off x="1044691" y="11253011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Shurink Universe</a:t>
              </a:r>
            </a:p>
          </p:txBody>
        </p:sp>
        <p:sp>
          <p:nvSpPr>
            <p:cNvPr id="372" name="Text 15">
              <a:extLst>
                <a:ext uri="{FF2B5EF4-FFF2-40B4-BE49-F238E27FC236}">
                  <a16:creationId xmlns:a16="http://schemas.microsoft.com/office/drawing/2014/main" id="{A67BE19D-D2C0-AF86-ABC6-26549C89A644}"/>
                </a:ext>
              </a:extLst>
            </p:cNvPr>
            <p:cNvSpPr/>
            <p:nvPr/>
          </p:nvSpPr>
          <p:spPr>
            <a:xfrm>
              <a:off x="7619668" y="10557588"/>
              <a:ext cx="162698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200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75" name="Text 15">
              <a:extLst>
                <a:ext uri="{FF2B5EF4-FFF2-40B4-BE49-F238E27FC236}">
                  <a16:creationId xmlns:a16="http://schemas.microsoft.com/office/drawing/2014/main" id="{A60DEC72-B2A1-483C-5312-67C7015EA40D}"/>
                </a:ext>
              </a:extLst>
            </p:cNvPr>
            <p:cNvSpPr/>
            <p:nvPr/>
          </p:nvSpPr>
          <p:spPr>
            <a:xfrm>
              <a:off x="7619668" y="10950953"/>
              <a:ext cx="1626988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300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3" name="Text 15">
              <a:extLst>
                <a:ext uri="{FF2B5EF4-FFF2-40B4-BE49-F238E27FC236}">
                  <a16:creationId xmlns:a16="http://schemas.microsoft.com/office/drawing/2014/main" id="{F39FB48C-783C-CA52-6269-8AB45AEBA4D5}"/>
                </a:ext>
              </a:extLst>
            </p:cNvPr>
            <p:cNvSpPr/>
            <p:nvPr/>
          </p:nvSpPr>
          <p:spPr>
            <a:xfrm>
              <a:off x="7448980" y="11333029"/>
              <a:ext cx="179767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1,000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4" name="Text 15">
              <a:extLst>
                <a:ext uri="{FF2B5EF4-FFF2-40B4-BE49-F238E27FC236}">
                  <a16:creationId xmlns:a16="http://schemas.microsoft.com/office/drawing/2014/main" id="{E36E31C5-D939-2FAE-3D44-5093E930C586}"/>
                </a:ext>
              </a:extLst>
            </p:cNvPr>
            <p:cNvSpPr/>
            <p:nvPr/>
          </p:nvSpPr>
          <p:spPr>
            <a:xfrm>
              <a:off x="5793408" y="11333029"/>
              <a:ext cx="155498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600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385" name="Text 15">
              <a:extLst>
                <a:ext uri="{FF2B5EF4-FFF2-40B4-BE49-F238E27FC236}">
                  <a16:creationId xmlns:a16="http://schemas.microsoft.com/office/drawing/2014/main" id="{DDD4180B-7B18-16C1-BF83-4E7D3EDEF6BB}"/>
                </a:ext>
              </a:extLst>
            </p:cNvPr>
            <p:cNvSpPr/>
            <p:nvPr/>
          </p:nvSpPr>
          <p:spPr>
            <a:xfrm>
              <a:off x="4174412" y="11333029"/>
              <a:ext cx="155498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300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grpSp>
        <p:nvGrpSpPr>
          <p:cNvPr id="413" name="그룹 412">
            <a:extLst>
              <a:ext uri="{FF2B5EF4-FFF2-40B4-BE49-F238E27FC236}">
                <a16:creationId xmlns:a16="http://schemas.microsoft.com/office/drawing/2014/main" id="{C78D49EA-9A80-6727-AE1B-F8D0D3A23047}"/>
              </a:ext>
            </a:extLst>
          </p:cNvPr>
          <p:cNvGrpSpPr/>
          <p:nvPr/>
        </p:nvGrpSpPr>
        <p:grpSpPr>
          <a:xfrm>
            <a:off x="930580" y="12305972"/>
            <a:ext cx="8316077" cy="972827"/>
            <a:chOff x="930580" y="11913715"/>
            <a:chExt cx="8316077" cy="972827"/>
          </a:xfrm>
        </p:grpSpPr>
        <p:sp>
          <p:nvSpPr>
            <p:cNvPr id="395" name="Shape 7">
              <a:extLst>
                <a:ext uri="{FF2B5EF4-FFF2-40B4-BE49-F238E27FC236}">
                  <a16:creationId xmlns:a16="http://schemas.microsoft.com/office/drawing/2014/main" id="{D19738FC-4470-3197-B634-5342ED715F6F}"/>
                </a:ext>
              </a:extLst>
            </p:cNvPr>
            <p:cNvSpPr/>
            <p:nvPr/>
          </p:nvSpPr>
          <p:spPr>
            <a:xfrm>
              <a:off x="1041515" y="122412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6" name="Shape 7">
              <a:extLst>
                <a:ext uri="{FF2B5EF4-FFF2-40B4-BE49-F238E27FC236}">
                  <a16:creationId xmlns:a16="http://schemas.microsoft.com/office/drawing/2014/main" id="{8720DE8C-EB3C-C8D4-C4B0-853A5D65E0B6}"/>
                </a:ext>
              </a:extLst>
            </p:cNvPr>
            <p:cNvSpPr/>
            <p:nvPr/>
          </p:nvSpPr>
          <p:spPr>
            <a:xfrm>
              <a:off x="1041515" y="1287173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397" name="Text 11">
              <a:extLst>
                <a:ext uri="{FF2B5EF4-FFF2-40B4-BE49-F238E27FC236}">
                  <a16:creationId xmlns:a16="http://schemas.microsoft.com/office/drawing/2014/main" id="{A13553AA-FAC2-CC50-099A-492A33329C59}"/>
                </a:ext>
              </a:extLst>
            </p:cNvPr>
            <p:cNvSpPr/>
            <p:nvPr/>
          </p:nvSpPr>
          <p:spPr>
            <a:xfrm>
              <a:off x="1044692" y="12251582"/>
              <a:ext cx="2801771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Volnewmer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398" name="Text 15">
              <a:extLst>
                <a:ext uri="{FF2B5EF4-FFF2-40B4-BE49-F238E27FC236}">
                  <a16:creationId xmlns:a16="http://schemas.microsoft.com/office/drawing/2014/main" id="{A2B5BB9B-FEB1-C673-0F36-8F0831388886}"/>
                </a:ext>
              </a:extLst>
            </p:cNvPr>
            <p:cNvSpPr/>
            <p:nvPr/>
          </p:nvSpPr>
          <p:spPr>
            <a:xfrm>
              <a:off x="6430948" y="12346214"/>
              <a:ext cx="2815708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Sagging Jawline 300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Full-Face 600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399" name="Text 15">
              <a:extLst>
                <a:ext uri="{FF2B5EF4-FFF2-40B4-BE49-F238E27FC236}">
                  <a16:creationId xmlns:a16="http://schemas.microsoft.com/office/drawing/2014/main" id="{1474FF96-AEC3-C25F-24E4-B5CD69C3D198}"/>
                </a:ext>
              </a:extLst>
            </p:cNvPr>
            <p:cNvSpPr/>
            <p:nvPr/>
          </p:nvSpPr>
          <p:spPr>
            <a:xfrm>
              <a:off x="3526204" y="12453935"/>
              <a:ext cx="2210308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Eye Area 200 Shots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380,000</a:t>
              </a:r>
              <a:endParaRPr lang="en-US" altLang="ko-KR" sz="12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3DDF4493-0426-5D56-DC9C-A3E1AD3767DD}"/>
                </a:ext>
              </a:extLst>
            </p:cNvPr>
            <p:cNvSpPr txBox="1"/>
            <p:nvPr/>
          </p:nvSpPr>
          <p:spPr>
            <a:xfrm>
              <a:off x="930580" y="11913715"/>
              <a:ext cx="128865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Volnewmer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401" name="Shape 7">
              <a:extLst>
                <a:ext uri="{FF2B5EF4-FFF2-40B4-BE49-F238E27FC236}">
                  <a16:creationId xmlns:a16="http://schemas.microsoft.com/office/drawing/2014/main" id="{7F7101F6-7E2B-5441-84AE-B7B824B9390B}"/>
                </a:ext>
              </a:extLst>
            </p:cNvPr>
            <p:cNvSpPr/>
            <p:nvPr/>
          </p:nvSpPr>
          <p:spPr>
            <a:xfrm>
              <a:off x="1041515" y="1287293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402" name="Shape 7">
              <a:extLst>
                <a:ext uri="{FF2B5EF4-FFF2-40B4-BE49-F238E27FC236}">
                  <a16:creationId xmlns:a16="http://schemas.microsoft.com/office/drawing/2014/main" id="{49AF1EA1-F5BB-BB2E-7638-76D3E75E9CD8}"/>
                </a:ext>
              </a:extLst>
            </p:cNvPr>
            <p:cNvSpPr/>
            <p:nvPr/>
          </p:nvSpPr>
          <p:spPr>
            <a:xfrm>
              <a:off x="1041515" y="12240470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</p:grpSp>
      <p:sp>
        <p:nvSpPr>
          <p:cNvPr id="406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530092-4C39-46C3-CB2C-6133E0C1CAE0}"/>
              </a:ext>
            </a:extLst>
          </p:cNvPr>
          <p:cNvGrpSpPr/>
          <p:nvPr/>
        </p:nvGrpSpPr>
        <p:grpSpPr>
          <a:xfrm>
            <a:off x="932624" y="5916826"/>
            <a:ext cx="8316077" cy="1119552"/>
            <a:chOff x="930580" y="3713153"/>
            <a:chExt cx="8316077" cy="11195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270D16-D4A6-6510-A929-4723FBDF7700}"/>
                </a:ext>
              </a:extLst>
            </p:cNvPr>
            <p:cNvSpPr txBox="1"/>
            <p:nvPr/>
          </p:nvSpPr>
          <p:spPr>
            <a:xfrm>
              <a:off x="930580" y="3713153"/>
              <a:ext cx="94151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Fortra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59D7E7C-BBB3-3886-283D-725C14708DCC}"/>
                </a:ext>
              </a:extLst>
            </p:cNvPr>
            <p:cNvGrpSpPr/>
            <p:nvPr/>
          </p:nvGrpSpPr>
          <p:grpSpPr>
            <a:xfrm>
              <a:off x="1041515" y="4044493"/>
              <a:ext cx="8205142" cy="788212"/>
              <a:chOff x="1041515" y="4036831"/>
              <a:chExt cx="8205142" cy="788212"/>
            </a:xfrm>
          </p:grpSpPr>
          <p:sp>
            <p:nvSpPr>
              <p:cNvPr id="26" name="Shape 7">
                <a:extLst>
                  <a:ext uri="{FF2B5EF4-FFF2-40B4-BE49-F238E27FC236}">
                    <a16:creationId xmlns:a16="http://schemas.microsoft.com/office/drawing/2014/main" id="{79D24777-A5BD-105F-A711-B6C092DA5025}"/>
                  </a:ext>
                </a:extLst>
              </p:cNvPr>
              <p:cNvSpPr/>
              <p:nvPr/>
            </p:nvSpPr>
            <p:spPr>
              <a:xfrm>
                <a:off x="1041515" y="4036831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7" name="Shape 7">
                <a:extLst>
                  <a:ext uri="{FF2B5EF4-FFF2-40B4-BE49-F238E27FC236}">
                    <a16:creationId xmlns:a16="http://schemas.microsoft.com/office/drawing/2014/main" id="{89E8929A-80ED-04C5-B8D7-A0E465696B2A}"/>
                  </a:ext>
                </a:extLst>
              </p:cNvPr>
              <p:cNvSpPr/>
              <p:nvPr/>
            </p:nvSpPr>
            <p:spPr>
              <a:xfrm>
                <a:off x="1041515" y="442459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8" name="Shape 7">
                <a:extLst>
                  <a:ext uri="{FF2B5EF4-FFF2-40B4-BE49-F238E27FC236}">
                    <a16:creationId xmlns:a16="http://schemas.microsoft.com/office/drawing/2014/main" id="{FCE7C927-A23E-0C5F-68A2-3EAEA3162EFF}"/>
                  </a:ext>
                </a:extLst>
              </p:cNvPr>
              <p:cNvSpPr/>
              <p:nvPr/>
            </p:nvSpPr>
            <p:spPr>
              <a:xfrm>
                <a:off x="1041515" y="481143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3E6D16DE-A783-7B44-7062-2A6C0B4FBE6C}"/>
                </a:ext>
              </a:extLst>
            </p:cNvPr>
            <p:cNvSpPr/>
            <p:nvPr/>
          </p:nvSpPr>
          <p:spPr>
            <a:xfrm>
              <a:off x="1044691" y="4055158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Fortra</a:t>
              </a:r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7B6C8AEA-E5E2-E100-9543-F7E69BDE0003}"/>
                </a:ext>
              </a:extLst>
            </p:cNvPr>
            <p:cNvSpPr/>
            <p:nvPr/>
          </p:nvSpPr>
          <p:spPr>
            <a:xfrm>
              <a:off x="6412652" y="4135176"/>
              <a:ext cx="1140303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50KJ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DF06781B-4F07-C245-E15C-2E014A41FE4E}"/>
                </a:ext>
              </a:extLst>
            </p:cNvPr>
            <p:cNvSpPr/>
            <p:nvPr/>
          </p:nvSpPr>
          <p:spPr>
            <a:xfrm>
              <a:off x="4496340" y="4135176"/>
              <a:ext cx="106599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498BD"/>
                  </a:solidFill>
                  <a:effectLst/>
                  <a:uLnTx/>
                  <a:uFillTx/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30KJ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A1A1A"/>
                  </a:solidFill>
                  <a:effectLst/>
                  <a:uLnTx/>
                  <a:uFillTx/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500,000</a:t>
              </a: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71E75BE3-D7A8-F88A-61DB-B1E11CACA2F8}"/>
                </a:ext>
              </a:extLst>
            </p:cNvPr>
            <p:cNvSpPr/>
            <p:nvPr/>
          </p:nvSpPr>
          <p:spPr>
            <a:xfrm>
              <a:off x="1044691" y="4442810"/>
              <a:ext cx="38575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10KJ Extra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Standalone Not Available</a:t>
              </a:r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FDA1057B-4E76-7420-36B3-ADCC9026925E}"/>
                </a:ext>
              </a:extLst>
            </p:cNvPr>
            <p:cNvSpPr/>
            <p:nvPr/>
          </p:nvSpPr>
          <p:spPr>
            <a:xfrm>
              <a:off x="8468631" y="4522828"/>
              <a:ext cx="778025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</p:grpSp>
      <p:sp>
        <p:nvSpPr>
          <p:cNvPr id="30" name="Text 15">
            <a:extLst>
              <a:ext uri="{FF2B5EF4-FFF2-40B4-BE49-F238E27FC236}">
                <a16:creationId xmlns:a16="http://schemas.microsoft.com/office/drawing/2014/main" id="{4D59A015-044D-3CA0-0E23-97296BB18EB2}"/>
              </a:ext>
            </a:extLst>
          </p:cNvPr>
          <p:cNvSpPr/>
          <p:nvPr/>
        </p:nvSpPr>
        <p:spPr>
          <a:xfrm>
            <a:off x="7848041" y="6347680"/>
            <a:ext cx="1393578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98BD"/>
                </a:solidFill>
                <a:effectLst/>
                <a:uLnTx/>
                <a:uFillTx/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100KJ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1,300,000</a:t>
            </a:r>
          </a:p>
        </p:txBody>
      </p:sp>
    </p:spTree>
    <p:extLst>
      <p:ext uri="{BB962C8B-B14F-4D97-AF65-F5344CB8AC3E}">
        <p14:creationId xmlns:p14="http://schemas.microsoft.com/office/powerpoint/2010/main" val="366163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4842000"/>
            <a:ext cx="1908000" cy="190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4726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2880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114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PICOLITE Black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491999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en-US" sz="11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A pico laser emitting ultra-short bursts of energy lasting one-trillionth of a second. </a:t>
            </a:r>
          </a:p>
          <a:p>
            <a:pPr>
              <a:lnSpc>
                <a:spcPct val="149333"/>
              </a:lnSpc>
            </a:pPr>
            <a:r>
              <a:rPr lang="en-US" sz="11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Gentler than nano lasers, it improves pigmentation · pores · scars · skin tone </a:t>
            </a:r>
          </a:p>
          <a:p>
            <a:pPr>
              <a:lnSpc>
                <a:spcPct val="149333"/>
              </a:lnSpc>
            </a:pPr>
            <a:r>
              <a:rPr lang="en-US" sz="119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precisely and safely.</a:t>
            </a:r>
            <a:endParaRPr lang="en-US" sz="124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96259" y="4384800"/>
            <a:ext cx="96127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6259" y="4384800"/>
            <a:ext cx="961278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Pico Toning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39833" y="4384800"/>
            <a:ext cx="11661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9833" y="4384800"/>
            <a:ext cx="11661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Melasma · Spots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88324" y="4384800"/>
            <a:ext cx="166204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8324" y="4384800"/>
            <a:ext cx="166204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Mole · Age Spot Removal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6868799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022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256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Co2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5633999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058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laser that precisely vaporizes and cuts lesion tissue. Used to remove moles, milia, seborrheic keratosis, flat warts and other superficial skin lesions, and for skin-surface resurfacing treatments.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6526800"/>
            <a:ext cx="95783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417" y="6526800"/>
            <a:ext cx="95783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Moles · Milia 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43546" y="6526800"/>
            <a:ext cx="183565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43546" y="6526800"/>
            <a:ext cx="183565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Seborrheic Keratosis · Warts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61499" y="6526800"/>
            <a:ext cx="135331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61499" y="6526800"/>
            <a:ext cx="1353311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Lesion Removal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7163999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7397999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964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Potenza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7775999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1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 xml:space="preserve">Micro-needles penetrate the skin to deliver radiofrequency (RF) energy 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  <a:p>
            <a:pPr>
              <a:lnSpc>
                <a:spcPct val="149333"/>
              </a:lnSpc>
            </a:pPr>
            <a:r>
              <a:rPr lang="en-US" sz="11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to the target depth. Various tips and modes help improve pores · scars · texture ·</a:t>
            </a:r>
          </a:p>
          <a:p>
            <a:pPr>
              <a:lnSpc>
                <a:spcPct val="149333"/>
              </a:lnSpc>
            </a:pPr>
            <a:r>
              <a:rPr lang="en-US" sz="11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elasticity, and it can be combined with skin booster treatments.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8668800"/>
            <a:ext cx="103464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92213" y="8668800"/>
            <a:ext cx="103464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Pores · Scars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809152" y="8668800"/>
            <a:ext cx="165734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09152" y="8668800"/>
            <a:ext cx="1657349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Texture · Elasticity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48797" y="8668800"/>
            <a:ext cx="1531619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48797" y="8668800"/>
            <a:ext cx="1531619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Booster Injection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91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Laser Devices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034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Melasma/Spots · Redness · Pores/Scars · Hair Removal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1908000" cy="1908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6983999"/>
            <a:ext cx="1908000" cy="1908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90108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9306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9540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9918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13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light therapy device delivering broadband light energy to different skin depths. It improves pigmentation such as melasma and spots along with redness and vascular lesions, for a clear, even skin tone and texture.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0810800"/>
            <a:ext cx="107670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03417" y="10810800"/>
            <a:ext cx="107670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Melasma · Spots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862418" y="10810800"/>
            <a:ext cx="119557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862418" y="10810800"/>
            <a:ext cx="119557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Redness · Vessels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6140291" y="10810800"/>
            <a:ext cx="105613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6140291" y="10810800"/>
            <a:ext cx="1056131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Even Skin Tone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9126000"/>
            <a:ext cx="1908000" cy="1908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BBL Label"/>
          <p:cNvSpPr/>
          <p:nvPr/>
        </p:nvSpPr>
        <p:spPr>
          <a:xfrm>
            <a:off x="3696259" y="11448000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AVALANCHE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2" name="BBL Name"/>
          <p:cNvSpPr/>
          <p:nvPr/>
        </p:nvSpPr>
        <p:spPr>
          <a:xfrm>
            <a:off x="3696259" y="11682000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008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Avalanche</a:t>
            </a:r>
          </a:p>
        </p:txBody>
      </p:sp>
      <p:sp>
        <p:nvSpPr>
          <p:cNvPr id="303" name="BBL Desc"/>
          <p:cNvSpPr/>
          <p:nvPr/>
        </p:nvSpPr>
        <p:spPr>
          <a:xfrm>
            <a:off x="3696259" y="12060000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laser hair-removal device that adjusts energy to hair type and skin type. Powerful cooling reduces pain, removing hair quickly and evenly over large areas from face to body.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4" name="BBL Tag 1"/>
          <p:cNvSpPr/>
          <p:nvPr/>
        </p:nvSpPr>
        <p:spPr>
          <a:xfrm>
            <a:off x="3703417" y="12952800"/>
            <a:ext cx="141274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5" name="BBL TagText 1"/>
          <p:cNvSpPr/>
          <p:nvPr/>
        </p:nvSpPr>
        <p:spPr>
          <a:xfrm>
            <a:off x="3703417" y="12952800"/>
            <a:ext cx="141274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Women’s Hair Removal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6" name="BBL Tag 2"/>
          <p:cNvSpPr/>
          <p:nvPr/>
        </p:nvSpPr>
        <p:spPr>
          <a:xfrm>
            <a:off x="5198460" y="12952800"/>
            <a:ext cx="129387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7" name="BBL TagText 2"/>
          <p:cNvSpPr/>
          <p:nvPr/>
        </p:nvSpPr>
        <p:spPr>
          <a:xfrm>
            <a:off x="5198460" y="12952800"/>
            <a:ext cx="129387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Men’s Hair Removal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8" name="BBL Tag 3"/>
          <p:cNvSpPr/>
          <p:nvPr/>
        </p:nvSpPr>
        <p:spPr>
          <a:xfrm>
            <a:off x="6574631" y="12952800"/>
            <a:ext cx="838962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09" name="BBL TagText 3"/>
          <p:cNvSpPr/>
          <p:nvPr/>
        </p:nvSpPr>
        <p:spPr>
          <a:xfrm>
            <a:off x="6574631" y="12952800"/>
            <a:ext cx="838962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Face · Body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0" name="BBL 이미지"/>
          <p:cNvSpPr/>
          <p:nvPr/>
        </p:nvSpPr>
        <p:spPr>
          <a:xfrm>
            <a:off x="1016176" y="11268000"/>
            <a:ext cx="1908000" cy="1908000"/>
          </a:xfrm>
          <a:prstGeom prst="rect">
            <a:avLst/>
          </a:prstGeom>
          <a:solidFill>
            <a:srgbClr val="EAF3F7"/>
          </a:solidFill>
          <a:ln w="9525">
            <a:solidFill>
              <a:srgbClr val="2498BD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AVALANCHE 이미지 자리"/>
          <p:cNvSpPr/>
          <p:nvPr/>
        </p:nvSpPr>
        <p:spPr>
          <a:xfrm>
            <a:off x="1015200" y="12114000"/>
            <a:ext cx="1908000" cy="21600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pPr algn="ctr"/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Device image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Laser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118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Melasma/Spots · Pores/Scars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6">
            <a:extLst>
              <a:ext uri="{FF2B5EF4-FFF2-40B4-BE49-F238E27FC236}">
                <a16:creationId xmlns:a16="http://schemas.microsoft.com/office/drawing/2014/main" id="{C0714D43-A692-AD44-AEDA-33D81BEA5C8A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0" name="Shape 7">
            <a:extLst>
              <a:ext uri="{FF2B5EF4-FFF2-40B4-BE49-F238E27FC236}">
                <a16:creationId xmlns:a16="http://schemas.microsoft.com/office/drawing/2014/main" id="{48A1CEE6-14AC-B9C9-5EC7-597AC750FDF3}"/>
              </a:ext>
            </a:extLst>
          </p:cNvPr>
          <p:cNvSpPr/>
          <p:nvPr/>
        </p:nvSpPr>
        <p:spPr>
          <a:xfrm>
            <a:off x="1041515" y="34347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1" name="Shape 7">
            <a:extLst>
              <a:ext uri="{FF2B5EF4-FFF2-40B4-BE49-F238E27FC236}">
                <a16:creationId xmlns:a16="http://schemas.microsoft.com/office/drawing/2014/main" id="{DCB45975-FCBC-D014-55B1-EDC7513A0F29}"/>
              </a:ext>
            </a:extLst>
          </p:cNvPr>
          <p:cNvSpPr/>
          <p:nvPr/>
        </p:nvSpPr>
        <p:spPr>
          <a:xfrm>
            <a:off x="1041515" y="3046774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7CC88596-5234-6439-6B70-132B8F0E27AA}"/>
              </a:ext>
            </a:extLst>
          </p:cNvPr>
          <p:cNvSpPr/>
          <p:nvPr/>
        </p:nvSpPr>
        <p:spPr>
          <a:xfrm>
            <a:off x="1041515" y="38607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Shape 7">
            <a:extLst>
              <a:ext uri="{FF2B5EF4-FFF2-40B4-BE49-F238E27FC236}">
                <a16:creationId xmlns:a16="http://schemas.microsoft.com/office/drawing/2014/main" id="{434A2D39-D8E2-9632-7E24-953601533DD5}"/>
              </a:ext>
            </a:extLst>
          </p:cNvPr>
          <p:cNvSpPr/>
          <p:nvPr/>
        </p:nvSpPr>
        <p:spPr>
          <a:xfrm>
            <a:off x="1041515" y="49055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0" name="Text 11">
            <a:extLst>
              <a:ext uri="{FF2B5EF4-FFF2-40B4-BE49-F238E27FC236}">
                <a16:creationId xmlns:a16="http://schemas.microsoft.com/office/drawing/2014/main" id="{A255D62F-E346-A893-A443-D0879DBD6D2A}"/>
              </a:ext>
            </a:extLst>
          </p:cNvPr>
          <p:cNvSpPr/>
          <p:nvPr/>
        </p:nvSpPr>
        <p:spPr>
          <a:xfrm>
            <a:off x="1044691" y="4285348"/>
            <a:ext cx="458658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CO2 Mole Removal</a:t>
            </a:r>
            <a:endParaRPr lang="en-US" altLang="ko-KR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729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Precise removal of moles, milia, age spots, flat warts / Retouch not included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0880635-3B46-12E2-B95A-70CB15678C23}"/>
              </a:ext>
            </a:extLst>
          </p:cNvPr>
          <p:cNvSpPr txBox="1"/>
          <p:nvPr/>
        </p:nvSpPr>
        <p:spPr>
          <a:xfrm>
            <a:off x="930580" y="2720019"/>
            <a:ext cx="176353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Melasma/Spots</a:t>
            </a:r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3FCC0249-EDAD-9EAD-6B13-C7E10AFDCDC4}"/>
              </a:ext>
            </a:extLst>
          </p:cNvPr>
          <p:cNvSpPr/>
          <p:nvPr/>
        </p:nvSpPr>
        <p:spPr>
          <a:xfrm>
            <a:off x="1044691" y="3048648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Pico Toning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9" name="Text 11">
            <a:extLst>
              <a:ext uri="{FF2B5EF4-FFF2-40B4-BE49-F238E27FC236}">
                <a16:creationId xmlns:a16="http://schemas.microsoft.com/office/drawing/2014/main" id="{4FF4D6BF-9F83-9D3A-8D7F-0F0F3D618CCC}"/>
              </a:ext>
            </a:extLst>
          </p:cNvPr>
          <p:cNvSpPr/>
          <p:nvPr/>
        </p:nvSpPr>
        <p:spPr>
          <a:xfrm>
            <a:off x="1044691" y="3482277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Body Toning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1" name="Text 15">
            <a:extLst>
              <a:ext uri="{FF2B5EF4-FFF2-40B4-BE49-F238E27FC236}">
                <a16:creationId xmlns:a16="http://schemas.microsoft.com/office/drawing/2014/main" id="{24188985-0B0B-0AE7-565D-4F827E38A0BE}"/>
              </a:ext>
            </a:extLst>
          </p:cNvPr>
          <p:cNvSpPr/>
          <p:nvPr/>
        </p:nvSpPr>
        <p:spPr>
          <a:xfrm>
            <a:off x="7289976" y="3128666"/>
            <a:ext cx="195668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10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1,10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BC6B5B2C-26B7-A27A-D59C-F1217E84E0E2}"/>
              </a:ext>
            </a:extLst>
          </p:cNvPr>
          <p:cNvSpPr/>
          <p:nvPr/>
        </p:nvSpPr>
        <p:spPr>
          <a:xfrm>
            <a:off x="5631988" y="3128666"/>
            <a:ext cx="159105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4016548" y="3128666"/>
            <a:ext cx="142415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042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,000</a:t>
            </a:r>
          </a:p>
        </p:txBody>
      </p:sp>
      <p:sp>
        <p:nvSpPr>
          <p:cNvPr id="114" name="Text 15">
            <a:extLst>
              <a:ext uri="{FF2B5EF4-FFF2-40B4-BE49-F238E27FC236}">
                <a16:creationId xmlns:a16="http://schemas.microsoft.com/office/drawing/2014/main" id="{1010B506-8E1D-F16B-AB1F-11227C0299A4}"/>
              </a:ext>
            </a:extLst>
          </p:cNvPr>
          <p:cNvSpPr/>
          <p:nvPr/>
        </p:nvSpPr>
        <p:spPr>
          <a:xfrm>
            <a:off x="7289976" y="3562295"/>
            <a:ext cx="195668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10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1,30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AE1AB3D8-BB82-96AA-4F6F-EB25B431BF04}"/>
              </a:ext>
            </a:extLst>
          </p:cNvPr>
          <p:cNvSpPr/>
          <p:nvPr/>
        </p:nvSpPr>
        <p:spPr>
          <a:xfrm>
            <a:off x="5634912" y="3562295"/>
            <a:ext cx="159105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EFFAE2D2-484D-079B-17C5-1B0BAA23433D}"/>
              </a:ext>
            </a:extLst>
          </p:cNvPr>
          <p:cNvSpPr/>
          <p:nvPr/>
        </p:nvSpPr>
        <p:spPr>
          <a:xfrm>
            <a:off x="4016548" y="3562295"/>
            <a:ext cx="142415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042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,000</a:t>
            </a:r>
          </a:p>
        </p:txBody>
      </p:sp>
      <p:sp>
        <p:nvSpPr>
          <p:cNvPr id="128" name="Text 9">
            <a:extLst>
              <a:ext uri="{FF2B5EF4-FFF2-40B4-BE49-F238E27FC236}">
                <a16:creationId xmlns:a16="http://schemas.microsoft.com/office/drawing/2014/main" id="{26DB72E4-AD56-5C19-545E-FE47FAFD42D8}"/>
              </a:ext>
            </a:extLst>
          </p:cNvPr>
          <p:cNvSpPr/>
          <p:nvPr/>
        </p:nvSpPr>
        <p:spPr>
          <a:xfrm>
            <a:off x="2601655" y="2780484"/>
            <a:ext cx="6645002" cy="248402"/>
          </a:xfrm>
          <a:prstGeom prst="rect">
            <a:avLst/>
          </a:prstGeom>
          <a:noFill/>
          <a:ln/>
        </p:spPr>
        <p:txBody>
          <a:bodyPr wrap="none" lIns="108000" tIns="46800" rIns="0" bIns="4680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PICOLITE Black — Improves pigmentation and skin tone precisely and safely with ultra-short pulse energy.</a:t>
            </a: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9F2DA8B7-1898-FFF9-09DC-EB43E5000B61}"/>
              </a:ext>
            </a:extLst>
          </p:cNvPr>
          <p:cNvSpPr/>
          <p:nvPr/>
        </p:nvSpPr>
        <p:spPr>
          <a:xfrm>
            <a:off x="6519849" y="4395368"/>
            <a:ext cx="2726807" cy="400110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Full-Face or Full Neck (up to 50 ea)</a:t>
            </a:r>
          </a:p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800E28E7-4AED-1839-D4D0-C394CB94B31C}"/>
              </a:ext>
            </a:extLst>
          </p:cNvPr>
          <p:cNvSpPr/>
          <p:nvPr/>
        </p:nvSpPr>
        <p:spPr>
          <a:xfrm>
            <a:off x="4486832" y="4383817"/>
            <a:ext cx="177300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018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Small Mole (1 ea)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30,000</a:t>
            </a:r>
          </a:p>
        </p:txBody>
      </p: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45AF0B89-EF3F-5122-3502-E8174DC865D8}"/>
              </a:ext>
            </a:extLst>
          </p:cNvPr>
          <p:cNvGrpSpPr/>
          <p:nvPr/>
        </p:nvGrpSpPr>
        <p:grpSpPr>
          <a:xfrm>
            <a:off x="930580" y="6846510"/>
            <a:ext cx="8316077" cy="1600861"/>
            <a:chOff x="930580" y="4734845"/>
            <a:chExt cx="8316077" cy="1600861"/>
          </a:xfrm>
        </p:grpSpPr>
        <p:sp>
          <p:nvSpPr>
            <p:cNvPr id="201" name="Text 15">
              <a:extLst>
                <a:ext uri="{FF2B5EF4-FFF2-40B4-BE49-F238E27FC236}">
                  <a16:creationId xmlns:a16="http://schemas.microsoft.com/office/drawing/2014/main" id="{96E60DD6-114E-F68E-38EB-377A3E5872B2}"/>
                </a:ext>
              </a:extLst>
            </p:cNvPr>
            <p:cNvSpPr/>
            <p:nvPr/>
          </p:nvSpPr>
          <p:spPr>
            <a:xfrm>
              <a:off x="7579253" y="5904300"/>
              <a:ext cx="166305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2" name="Text 15">
              <a:extLst>
                <a:ext uri="{FF2B5EF4-FFF2-40B4-BE49-F238E27FC236}">
                  <a16:creationId xmlns:a16="http://schemas.microsoft.com/office/drawing/2014/main" id="{1712E711-C01C-42CA-850C-C3A348A0874D}"/>
                </a:ext>
              </a:extLst>
            </p:cNvPr>
            <p:cNvSpPr/>
            <p:nvPr/>
          </p:nvSpPr>
          <p:spPr>
            <a:xfrm>
              <a:off x="5697372" y="5904300"/>
              <a:ext cx="1591056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3 Sessions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03" name="Text 15">
              <a:extLst>
                <a:ext uri="{FF2B5EF4-FFF2-40B4-BE49-F238E27FC236}">
                  <a16:creationId xmlns:a16="http://schemas.microsoft.com/office/drawing/2014/main" id="{660C8F3F-0096-CBC5-3B7D-3E34A9218A04}"/>
                </a:ext>
              </a:extLst>
            </p:cNvPr>
            <p:cNvSpPr/>
            <p:nvPr/>
          </p:nvSpPr>
          <p:spPr>
            <a:xfrm>
              <a:off x="4012201" y="5904300"/>
              <a:ext cx="1424157" cy="2154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 anchorCtr="0">
              <a:spAutoFit/>
            </a:bodyPr>
            <a:lstStyle/>
            <a:p>
              <a:r>
                <a:rPr lang="en-US" sz="1042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</a:t>
              </a:r>
              <a:r>
                <a:rPr lang="en-US" altLang="ko-KR" sz="11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250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,000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4181CC0E-2D76-B111-CB31-E44341B135AC}"/>
                </a:ext>
              </a:extLst>
            </p:cNvPr>
            <p:cNvSpPr txBox="1"/>
            <p:nvPr/>
          </p:nvSpPr>
          <p:spPr>
            <a:xfrm>
              <a:off x="930580" y="4734845"/>
              <a:ext cx="165963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Pores / Scars</a:t>
              </a:r>
            </a:p>
          </p:txBody>
        </p:sp>
        <p:sp>
          <p:nvSpPr>
            <p:cNvPr id="218" name="Text 11">
              <a:extLst>
                <a:ext uri="{FF2B5EF4-FFF2-40B4-BE49-F238E27FC236}">
                  <a16:creationId xmlns:a16="http://schemas.microsoft.com/office/drawing/2014/main" id="{EEFADE4A-2DA9-BF6C-764F-BA44A3FF4806}"/>
                </a:ext>
              </a:extLst>
            </p:cNvPr>
            <p:cNvSpPr/>
            <p:nvPr/>
          </p:nvSpPr>
          <p:spPr>
            <a:xfrm>
              <a:off x="1044691" y="507226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Pico Fraxel</a:t>
              </a:r>
              <a:endParaRPr lang="en-US" altLang="ko-KR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A fractional laser that emits micro-beams to stimulate skin regeneration.</a:t>
              </a:r>
              <a:endParaRPr lang="en-US" altLang="ko-KR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0" name="Text 15">
              <a:extLst>
                <a:ext uri="{FF2B5EF4-FFF2-40B4-BE49-F238E27FC236}">
                  <a16:creationId xmlns:a16="http://schemas.microsoft.com/office/drawing/2014/main" id="{033D666A-695E-CD81-6826-ADD52CCB9BBB}"/>
                </a:ext>
              </a:extLst>
            </p:cNvPr>
            <p:cNvSpPr/>
            <p:nvPr/>
          </p:nvSpPr>
          <p:spPr>
            <a:xfrm>
              <a:off x="7203244" y="5073735"/>
              <a:ext cx="2043412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Butterfly Zone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Full-Face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14" name="Text 11">
              <a:extLst>
                <a:ext uri="{FF2B5EF4-FFF2-40B4-BE49-F238E27FC236}">
                  <a16:creationId xmlns:a16="http://schemas.microsoft.com/office/drawing/2014/main" id="{7D5EEC23-89C0-F0BE-F166-4BC3E83395F5}"/>
                </a:ext>
              </a:extLst>
            </p:cNvPr>
            <p:cNvSpPr/>
            <p:nvPr/>
          </p:nvSpPr>
          <p:spPr>
            <a:xfrm>
              <a:off x="1044691" y="570194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Potenza Pores · Scars </a:t>
              </a:r>
            </a:p>
            <a:p>
              <a:r>
                <a:rPr lang="en-US" sz="781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Full-Face · Personal Tip — micro-needle heat: renewal · pores</a:t>
              </a:r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91953C7A-E82B-A479-2CD4-AE70097FC1F0}"/>
                </a:ext>
              </a:extLst>
            </p:cNvPr>
            <p:cNvGrpSpPr/>
            <p:nvPr/>
          </p:nvGrpSpPr>
          <p:grpSpPr>
            <a:xfrm>
              <a:off x="1041515" y="5061600"/>
              <a:ext cx="8205142" cy="1274106"/>
              <a:chOff x="1041515" y="4276772"/>
              <a:chExt cx="8205142" cy="1274106"/>
            </a:xfrm>
          </p:grpSpPr>
          <p:sp>
            <p:nvSpPr>
              <p:cNvPr id="211" name="Shape 7">
                <a:extLst>
                  <a:ext uri="{FF2B5EF4-FFF2-40B4-BE49-F238E27FC236}">
                    <a16:creationId xmlns:a16="http://schemas.microsoft.com/office/drawing/2014/main" id="{27632594-FB9D-D630-9253-A1A3611E0110}"/>
                  </a:ext>
                </a:extLst>
              </p:cNvPr>
              <p:cNvSpPr/>
              <p:nvPr/>
            </p:nvSpPr>
            <p:spPr>
              <a:xfrm>
                <a:off x="1041515" y="4276772"/>
                <a:ext cx="8205142" cy="13607"/>
              </a:xfrm>
              <a:prstGeom prst="rect">
                <a:avLst/>
              </a:prstGeom>
              <a:solidFill>
                <a:srgbClr val="2498BD"/>
              </a:solidFill>
              <a:ln/>
            </p:spPr>
          </p:sp>
          <p:sp>
            <p:nvSpPr>
              <p:cNvPr id="212" name="Shape 7">
                <a:extLst>
                  <a:ext uri="{FF2B5EF4-FFF2-40B4-BE49-F238E27FC236}">
                    <a16:creationId xmlns:a16="http://schemas.microsoft.com/office/drawing/2014/main" id="{A945E07C-A83C-4657-A145-C723D512F45B}"/>
                  </a:ext>
                </a:extLst>
              </p:cNvPr>
              <p:cNvSpPr/>
              <p:nvPr/>
            </p:nvSpPr>
            <p:spPr>
              <a:xfrm>
                <a:off x="1041515" y="4907588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13" name="Shape 7">
                <a:extLst>
                  <a:ext uri="{FF2B5EF4-FFF2-40B4-BE49-F238E27FC236}">
                    <a16:creationId xmlns:a16="http://schemas.microsoft.com/office/drawing/2014/main" id="{A09457E6-0897-05B0-FB10-1E5A6A2D455D}"/>
                  </a:ext>
                </a:extLst>
              </p:cNvPr>
              <p:cNvSpPr/>
              <p:nvPr/>
            </p:nvSpPr>
            <p:spPr>
              <a:xfrm>
                <a:off x="1041515" y="5537271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</p:grpSp>
      <p:sp>
        <p:nvSpPr>
          <p:cNvPr id="23" name="Shape 7">
            <a:extLst>
              <a:ext uri="{FF2B5EF4-FFF2-40B4-BE49-F238E27FC236}">
                <a16:creationId xmlns:a16="http://schemas.microsoft.com/office/drawing/2014/main" id="{EBD6F060-A580-FB11-C29A-2A02B22136CA}"/>
              </a:ext>
            </a:extLst>
          </p:cNvPr>
          <p:cNvSpPr/>
          <p:nvPr/>
        </p:nvSpPr>
        <p:spPr>
          <a:xfrm>
            <a:off x="1047868" y="426466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964A7EA-24F3-BAC1-DF4F-9502610E5C95}"/>
              </a:ext>
            </a:extLst>
          </p:cNvPr>
          <p:cNvSpPr/>
          <p:nvPr/>
        </p:nvSpPr>
        <p:spPr>
          <a:xfrm>
            <a:off x="1051044" y="3886241"/>
            <a:ext cx="440106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Tattoo Removal</a:t>
            </a: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430BA8D6-2EC3-7273-231E-CADE7F1909EE}"/>
              </a:ext>
            </a:extLst>
          </p:cNvPr>
          <p:cNvSpPr/>
          <p:nvPr/>
        </p:nvSpPr>
        <p:spPr>
          <a:xfrm>
            <a:off x="6031918" y="3966259"/>
            <a:ext cx="322109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1 Session / Business Card-Sized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C952C8B0-EF22-60B7-EE52-9C257CAAED86}"/>
              </a:ext>
            </a:extLst>
          </p:cNvPr>
          <p:cNvSpPr/>
          <p:nvPr/>
        </p:nvSpPr>
        <p:spPr>
          <a:xfrm>
            <a:off x="3181529" y="3966259"/>
            <a:ext cx="278638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1 Session / 1x10 Lettering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26" name="Text 11"/>
          <p:cNvSpPr txBox="1"/>
          <p:nvPr/>
        </p:nvSpPr>
        <p:spPr>
          <a:xfrm>
            <a:off x="1044692" y="4905500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(FACE)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Premium high-end light therapy · 1 Session</a:t>
            </a:r>
          </a:p>
        </p:txBody>
      </p:sp>
      <p:sp>
        <p:nvSpPr>
          <p:cNvPr id="227" name="Text 15"/>
          <p:cNvSpPr txBox="1"/>
          <p:nvPr/>
        </p:nvSpPr>
        <p:spPr>
          <a:xfrm>
            <a:off x="4129532" y="4905500"/>
            <a:ext cx="1823212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Forever Young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8" name="Text 15"/>
          <p:cNvSpPr txBox="1"/>
          <p:nvPr/>
        </p:nvSpPr>
        <p:spPr>
          <a:xfrm>
            <a:off x="6053328" y="4905500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SkinTyte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29" name="Text 15"/>
          <p:cNvSpPr txBox="1"/>
          <p:nvPr/>
        </p:nvSpPr>
        <p:spPr>
          <a:xfrm>
            <a:off x="7918704" y="4905500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Clear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550,000</a:t>
            </a:r>
          </a:p>
        </p:txBody>
      </p:sp>
      <p:sp>
        <p:nvSpPr>
          <p:cNvPr id="230" name="Shape 7"/>
          <p:cNvSpPr/>
          <p:nvPr/>
        </p:nvSpPr>
        <p:spPr>
          <a:xfrm>
            <a:off x="1041515" y="5525651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1" name="Text 11"/>
          <p:cNvSpPr txBox="1"/>
          <p:nvPr/>
        </p:nvSpPr>
        <p:spPr>
          <a:xfrm>
            <a:off x="1044692" y="5525651"/>
            <a:ext cx="5200000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BBL HERO (BODY)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Per 15 × 15 cm area or per body part · 1 Session</a:t>
            </a:r>
          </a:p>
        </p:txBody>
      </p:sp>
      <p:sp>
        <p:nvSpPr>
          <p:cNvPr id="232" name="Text 15"/>
          <p:cNvSpPr txBox="1"/>
          <p:nvPr/>
        </p:nvSpPr>
        <p:spPr>
          <a:xfrm>
            <a:off x="4129532" y="5525651"/>
            <a:ext cx="1823212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Forever Young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3" name="Text 15"/>
          <p:cNvSpPr txBox="1"/>
          <p:nvPr/>
        </p:nvSpPr>
        <p:spPr>
          <a:xfrm>
            <a:off x="6053328" y="5525651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SkinTyte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4" name="Text 15"/>
          <p:cNvSpPr txBox="1"/>
          <p:nvPr/>
        </p:nvSpPr>
        <p:spPr>
          <a:xfrm>
            <a:off x="7918704" y="5525651"/>
            <a:ext cx="1750000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Clear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</a:p>
        </p:txBody>
      </p:sp>
      <p:sp>
        <p:nvSpPr>
          <p:cNvPr id="235" name="Shape 7"/>
          <p:cNvSpPr/>
          <p:nvPr/>
        </p:nvSpPr>
        <p:spPr>
          <a:xfrm>
            <a:off x="1041515" y="614580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36" name="Text 9"/>
          <p:cNvSpPr txBox="1"/>
          <p:nvPr/>
        </p:nvSpPr>
        <p:spPr>
          <a:xfrm>
            <a:off x="1044692" y="6205802"/>
            <a:ext cx="8200000" cy="2300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* Forever Young: skin texture · skin tone (BODY: DNA rejuvenation),   SkinTyte: pores · fine lines · lifting,   Clear: breakouts</a:t>
            </a:r>
          </a:p>
        </p:txBody>
      </p:sp>
      <p:sp>
        <p:nvSpPr>
          <p:cNvPr id="237" name="Text 11"/>
          <p:cNvSpPr txBox="1"/>
          <p:nvPr/>
        </p:nvSpPr>
        <p:spPr>
          <a:xfrm>
            <a:off x="1044692" y="8433764"/>
            <a:ext cx="6098776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Add-on) Subcision, 1 area (palm-sized)</a:t>
            </a:r>
          </a:p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A procedure that releases the fibrous tissue beneath depressed acne scars so the scars fill back up.</a:t>
            </a:r>
          </a:p>
        </p:txBody>
      </p:sp>
      <p:sp>
        <p:nvSpPr>
          <p:cNvPr id="238" name="Text 15"/>
          <p:cNvSpPr txBox="1"/>
          <p:nvPr/>
        </p:nvSpPr>
        <p:spPr>
          <a:xfrm>
            <a:off x="5946656" y="8433764"/>
            <a:ext cx="3219115" cy="62015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rmAutofit/>
          </a:bodyPr>
          <a:lstStyle/>
          <a:p>
            <a:pPr algn="r"/>
            <a:r>
              <a:rPr lang="en-US" sz="1042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 xml:space="preserve">1 Session </a:t>
            </a:r>
            <a:r>
              <a:rPr lang="ko-KR" alt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239" name="Shape 7"/>
          <p:cNvSpPr/>
          <p:nvPr/>
        </p:nvSpPr>
        <p:spPr>
          <a:xfrm>
            <a:off x="1041515" y="905391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07DF2-1D3B-B489-EDAB-49E3B0CC6AAB}"/>
              </a:ext>
            </a:extLst>
          </p:cNvPr>
          <p:cNvSpPr txBox="1"/>
          <p:nvPr/>
        </p:nvSpPr>
        <p:spPr>
          <a:xfrm>
            <a:off x="4473246" y="4561296"/>
            <a:ext cx="20374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5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Big Mole (1 ea)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3">
            <a:extLst>
              <a:ext uri="{FF2B5EF4-FFF2-40B4-BE49-F238E27FC236}">
                <a16:creationId xmlns:a16="http://schemas.microsoft.com/office/drawing/2014/main" id="{07D082F0-96DE-92BB-5CED-DD202590AC4A}"/>
              </a:ext>
            </a:extLst>
          </p:cNvPr>
          <p:cNvSpPr/>
          <p:nvPr/>
        </p:nvSpPr>
        <p:spPr>
          <a:xfrm>
            <a:off x="-514350" y="85684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HAIR REMOVAL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0A1EE3F0-805B-61D7-B34E-9ACD158894FB}"/>
              </a:ext>
            </a:extLst>
          </p:cNvPr>
          <p:cNvSpPr/>
          <p:nvPr/>
        </p:nvSpPr>
        <p:spPr>
          <a:xfrm>
            <a:off x="-514350" y="105818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71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Laser Hair Removal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0CD7E084-7678-E826-00CF-B3CE4F6288A5}"/>
              </a:ext>
            </a:extLst>
          </p:cNvPr>
          <p:cNvSpPr/>
          <p:nvPr/>
        </p:nvSpPr>
        <p:spPr>
          <a:xfrm>
            <a:off x="-514350" y="153167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Avalanche — Women’s · Men’s Hair Removal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4" name="Text 96">
            <a:extLst>
              <a:ext uri="{FF2B5EF4-FFF2-40B4-BE49-F238E27FC236}">
                <a16:creationId xmlns:a16="http://schemas.microsoft.com/office/drawing/2014/main" id="{1213A560-35D6-A4E7-B37C-B4B2473A1C73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2721600"/>
            <a:ext cx="3607307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Avalanche Women’s Hair Removal</a:t>
            </a:r>
            <a:endParaRPr lang="ko-KR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0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3045599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0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056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Underarms or Upper Lip or Sideburns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0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3113999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50,000</a:t>
            </a:r>
          </a:p>
        </p:txBody>
      </p:sp>
      <p:sp>
        <p:nvSpPr>
          <p:cNvPr id="10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31139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1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39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4091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Underarms + Upper Lip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3466799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34667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1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375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37619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Forehead (incl. Hairline) or Back of Neck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1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38196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90,000</a:t>
            </a:r>
          </a:p>
        </p:txBody>
      </p:sp>
      <p:sp>
        <p:nvSpPr>
          <p:cNvPr id="11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3819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1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10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11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Full-Face (incl. Forehead · Glabella)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41724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4172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2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456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467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Fingers + Back of Hands or Toes + Tops of Feet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45252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2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4525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2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4809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4820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Lower or Upper Arm (incl. Elbow)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2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48780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2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4878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162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173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Arms (to Wrists)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5230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3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5230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3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515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526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Calves (incl. Knees)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55836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3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5583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3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5868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5878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Thighs (incl. Knees)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59364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5936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14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220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231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Legs (to Ankles)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62892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6289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4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573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584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Abdomen (incl. Happy Trail)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4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66420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4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6642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6926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6937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Back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6994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5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6994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15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7279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5" name="TextBox 251">
            <a:extLst>
              <a:ext uri="{FF2B5EF4-FFF2-40B4-BE49-F238E27FC236}">
                <a16:creationId xmlns:a16="http://schemas.microsoft.com/office/drawing/2014/main" id="{8DA01E9F-A1B4-868E-FBDF-592F835229C2}"/>
              </a:ext>
            </a:extLst>
          </p:cNvPr>
          <p:cNvSpPr txBox="1"/>
          <p:nvPr/>
        </p:nvSpPr>
        <p:spPr>
          <a:xfrm>
            <a:off x="928800" y="7556400"/>
            <a:ext cx="3378707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Avalanche Men’s Hair Removal</a:t>
            </a:r>
            <a:endParaRPr lang="ko-KR" altLang="en-US" dirty="0">
              <a:latin typeface="신세계 SemiBold" panose="02000300000000000000" pitchFamily="50" charset="-127"/>
              <a:ea typeface="신세계 SemiBold" panose="02000300000000000000" pitchFamily="50" charset="-127"/>
              <a:cs typeface="Sinsegye" pitchFamily="34" charset="-120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EDF12578-D341-D8EB-43DD-F6BCDBA41D68}"/>
              </a:ext>
            </a:extLst>
          </p:cNvPr>
          <p:cNvSpPr/>
          <p:nvPr/>
        </p:nvSpPr>
        <p:spPr>
          <a:xfrm>
            <a:off x="1040400" y="7880400"/>
            <a:ext cx="8204400" cy="13607"/>
          </a:xfrm>
          <a:prstGeom prst="rect">
            <a:avLst/>
          </a:prstGeom>
          <a:solidFill>
            <a:srgbClr val="2498BD"/>
          </a:solidFill>
          <a:ln/>
        </p:spPr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7891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Upper Lip + Chin + Under-Chin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5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79488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80,000</a:t>
            </a:r>
          </a:p>
        </p:txBody>
      </p:sp>
      <p:sp>
        <p:nvSpPr>
          <p:cNvPr id="15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7948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6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233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244000"/>
            <a:ext cx="511603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065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Lower Face (Upper Lip · Chin · Jawline · Sideburns · Cheeks · Under-Chin)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83016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8301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586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596800"/>
            <a:ext cx="5045431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315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Full-Face (incl. Forehead · Hairline · Glabella · Under-Chin)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6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86544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16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8654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650,000</a:t>
            </a:r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8938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8949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Add-on) Neck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90072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9007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291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302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Forehead (incl. Hairline)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93600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7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9360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17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644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9655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Back of Neck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9712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120,000</a:t>
            </a:r>
          </a:p>
        </p:txBody>
      </p:sp>
      <p:sp>
        <p:nvSpPr>
          <p:cNvPr id="17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9712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390,000</a:t>
            </a: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9997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008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Underarms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100656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0065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350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360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Fingers + Back of Hands or Toes + Tops of Feet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8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203188" y="10418400"/>
            <a:ext cx="128407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70,000</a:t>
            </a:r>
          </a:p>
        </p:txBody>
      </p:sp>
      <p:sp>
        <p:nvSpPr>
          <p:cNvPr id="18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04184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18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07028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07136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Lower or Upper Arm (incl. Elbow)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07712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07712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19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0556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0664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Arms (to Wrists)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11240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230,000</a:t>
            </a:r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11240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4084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4192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Calves (incl. Knees)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14768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150,000</a:t>
            </a:r>
          </a:p>
        </p:txBody>
      </p:sp>
      <p:sp>
        <p:nvSpPr>
          <p:cNvPr id="199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14768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450,000</a:t>
            </a:r>
          </a:p>
        </p:txBody>
      </p:sp>
      <p:sp>
        <p:nvSpPr>
          <p:cNvPr id="200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17612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1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17720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Thighs (incl. Knees)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2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1829600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203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1829600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600,000</a:t>
            </a: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114000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5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124800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Legs (to Ankles)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06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2182399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21823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08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4667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9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477599"/>
            <a:ext cx="5139306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992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Chest (incl. Areola) or Abdomen (incl. Happy Trail) *Based on the solar plexus line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0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2535199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160,000</a:t>
            </a:r>
          </a:p>
        </p:txBody>
      </p:sp>
      <p:sp>
        <p:nvSpPr>
          <p:cNvPr id="211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25351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500,000</a:t>
            </a:r>
          </a:p>
        </p:txBody>
      </p:sp>
      <p:sp>
        <p:nvSpPr>
          <p:cNvPr id="212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28195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A3E3B819-E0D2-5245-F783-B7C3665FF436}"/>
              </a:ext>
            </a:extLst>
          </p:cNvPr>
          <p:cNvSpPr/>
          <p:nvPr/>
        </p:nvSpPr>
        <p:spPr>
          <a:xfrm>
            <a:off x="1044000" y="12830399"/>
            <a:ext cx="5040000" cy="331200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Full Back</a:t>
            </a:r>
            <a:endParaRPr lang="ko-KR" altLang="en-US" sz="14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214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6092952" y="12887999"/>
            <a:ext cx="13943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99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 Session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250,000</a:t>
            </a:r>
          </a:p>
        </p:txBody>
      </p:sp>
      <p:sp>
        <p:nvSpPr>
          <p:cNvPr id="215" name="Text 15">
            <a:extLst>
              <a:ext uri="{FF2B5EF4-FFF2-40B4-BE49-F238E27FC236}">
                <a16:creationId xmlns:a16="http://schemas.microsoft.com/office/drawing/2014/main" id="{6541FC45-2F76-FA08-4151-9D4B816BFCC6}"/>
              </a:ext>
            </a:extLst>
          </p:cNvPr>
          <p:cNvSpPr/>
          <p:nvPr/>
        </p:nvSpPr>
        <p:spPr>
          <a:xfrm>
            <a:off x="7708392" y="12887999"/>
            <a:ext cx="1557266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sz="1147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5 Sessions</a:t>
            </a:r>
            <a:r>
              <a:rPr lang="en-US" altLang="ko-KR" sz="11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750,000</a:t>
            </a:r>
          </a:p>
        </p:txBody>
      </p:sp>
      <p:sp>
        <p:nvSpPr>
          <p:cNvPr id="216" name="Shape 7">
            <a:extLst>
              <a:ext uri="{FF2B5EF4-FFF2-40B4-BE49-F238E27FC236}">
                <a16:creationId xmlns:a16="http://schemas.microsoft.com/office/drawing/2014/main" id="{64127FB2-31D8-1A56-FE3F-A142E6D63B7F}"/>
              </a:ext>
            </a:extLst>
          </p:cNvPr>
          <p:cNvSpPr/>
          <p:nvPr/>
        </p:nvSpPr>
        <p:spPr>
          <a:xfrm>
            <a:off x="1040400" y="13172399"/>
            <a:ext cx="8204400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928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Booster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04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Regeneration · Collagen/Volume · ECM · Elasticity/Glow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120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Regeneration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078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REJURAN Healer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767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Salmon-derived PN — Strengthens Skin Barrier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REJURAN I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762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Eye-area only — Softens Fine Lines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REJURAN HB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/>
            </a:bodyPr>
            <a:lstStyle/>
            <a:p>
              <a:pPr>
                <a:lnSpc>
                  <a:spcPct val="131104"/>
                </a:lnSpc>
              </a:pPr>
              <a:r>
                <a:rPr lang="en-US" sz="803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Low pain · Hyaluronic Acid added for Extra Hydration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Olidia </a:t>
              </a:r>
              <a:r>
                <a:rPr lang="en-US" sz="934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80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PLLA — Stimulates fibroblasts, </a:t>
              </a:r>
            </a:p>
            <a:p>
              <a:pPr>
                <a:lnSpc>
                  <a:spcPct val="131104"/>
                </a:lnSpc>
              </a:pPr>
              <a:r>
                <a:rPr lang="en-US" sz="80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Induces Collagen Production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0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RADIESSE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817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CaHA — Immediate Volume and </a:t>
              </a:r>
            </a:p>
            <a:p>
              <a:pPr>
                <a:lnSpc>
                  <a:spcPct val="131104"/>
                </a:lnSpc>
              </a:pPr>
              <a:r>
                <a:rPr lang="en-US" sz="817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Long-lasting Elasticity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022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JUVELOOK Skin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819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PDLLA — Texture Refinement · Pore Reduction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958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JUVELOOK Volume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908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A Collagen Booster for </a:t>
              </a:r>
            </a:p>
            <a:p>
              <a:pPr>
                <a:lnSpc>
                  <a:spcPct val="131104"/>
                </a:lnSpc>
              </a:pPr>
              <a:r>
                <a:rPr lang="en-US" sz="908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an Elegant Contour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en-US" sz="13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Collagen / Volume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098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Celcore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774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ECM-based — Structural Skin </a:t>
              </a:r>
            </a:p>
            <a:p>
              <a:pPr>
                <a:lnSpc>
                  <a:spcPct val="131104"/>
                </a:lnSpc>
              </a:pPr>
              <a:r>
                <a:rPr lang="en-US" sz="774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Regeneration and Restoration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2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Elravie Re2O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788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Acellular Dermal Matrix-based — Immediate Skin </a:t>
              </a:r>
            </a:p>
            <a:p>
              <a:pPr>
                <a:lnSpc>
                  <a:spcPct val="131104"/>
                </a:lnSpc>
              </a:pPr>
              <a:r>
                <a:rPr lang="en-US" sz="788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Remodeling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Elravie Re2O Fine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796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For Delicate Areas — Acellular Dermal Matrix </a:t>
              </a:r>
            </a:p>
            <a:p>
              <a:pPr>
                <a:lnSpc>
                  <a:spcPct val="131104"/>
                </a:lnSpc>
              </a:pPr>
              <a:r>
                <a:rPr lang="en-US" sz="796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Skin Booster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Lilied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175436" cy="209162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881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HA — Hydration and Oil-Water Balance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HILO WAVE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40907" cy="38670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10000"/>
            </a:bodyPr>
            <a:lstStyle/>
            <a:p>
              <a:pPr>
                <a:lnSpc>
                  <a:spcPct val="131104"/>
                </a:lnSpc>
              </a:pPr>
              <a:r>
                <a:rPr lang="en-US" sz="793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High-Purity HA Collagen Booster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en-US" sz="793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 — Hydration · Elasticity · Texture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en-US" sz="1087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JUVÉDERM SKINVIVE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en-US" sz="802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 xml:space="preserve">Premium HA — Long-lasting Hydration · </a:t>
                </a:r>
              </a:p>
              <a:p>
                <a:pPr>
                  <a:lnSpc>
                    <a:spcPct val="131104"/>
                  </a:lnSpc>
                </a:pPr>
                <a:r>
                  <a:rPr lang="en-US" sz="802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Fine-line Improvement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en-US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BELOTERO REVIVE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40907" cy="386704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10000"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en-US" sz="709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HA + Glycerol — Hydration · Barrier Strengthening · Anti-inflammation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120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Elasticity / Glass Skin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183" b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HIJU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175436" cy="209162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31104"/>
              </a:lnSpc>
            </a:pPr>
            <a:r>
              <a:rPr lang="en-US" sz="721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High-Density Hydration Care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EXOXE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175436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/>
            </a:bodyPr>
            <a:lstStyle/>
            <a:p>
              <a:pPr>
                <a:lnSpc>
                  <a:spcPct val="131104"/>
                </a:lnSpc>
              </a:pPr>
              <a:r>
                <a:rPr lang="en-US" sz="749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Regenerative Signaling — Barrier Repair ·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  <a:p>
              <a:pPr>
                <a:lnSpc>
                  <a:spcPct val="131104"/>
                </a:lnSpc>
              </a:pPr>
              <a:r>
                <a:rPr lang="en-US" sz="749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Anti-inflammation · Elasticity · Texture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928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Booster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043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Regeneration · Collagen/Volume · ECM · Elasticity/Glow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0627B9-B2BB-446F-4014-D1692DF8E8BE}"/>
              </a:ext>
            </a:extLst>
          </p:cNvPr>
          <p:cNvGrpSpPr/>
          <p:nvPr/>
        </p:nvGrpSpPr>
        <p:grpSpPr>
          <a:xfrm>
            <a:off x="930580" y="2720019"/>
            <a:ext cx="8316077" cy="1496252"/>
            <a:chOff x="930580" y="2720019"/>
            <a:chExt cx="8316077" cy="14962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F6BE59-3378-1C3C-740C-8BCFF4B73C25}"/>
                </a:ext>
              </a:extLst>
            </p:cNvPr>
            <p:cNvSpPr txBox="1"/>
            <p:nvPr/>
          </p:nvSpPr>
          <p:spPr>
            <a:xfrm>
              <a:off x="930580" y="2720019"/>
              <a:ext cx="163761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Regeneration</a:t>
              </a:r>
            </a:p>
          </p:txBody>
        </p:sp>
        <p:sp>
          <p:nvSpPr>
            <p:cNvPr id="114" name="Shape 7">
              <a:extLst>
                <a:ext uri="{FF2B5EF4-FFF2-40B4-BE49-F238E27FC236}">
                  <a16:creationId xmlns:a16="http://schemas.microsoft.com/office/drawing/2014/main" id="{883F2A57-DC8F-5F6A-617A-619BD74F9056}"/>
                </a:ext>
              </a:extLst>
            </p:cNvPr>
            <p:cNvSpPr/>
            <p:nvPr/>
          </p:nvSpPr>
          <p:spPr>
            <a:xfrm>
              <a:off x="1041515" y="343474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6" name="Shape 7">
              <a:extLst>
                <a:ext uri="{FF2B5EF4-FFF2-40B4-BE49-F238E27FC236}">
                  <a16:creationId xmlns:a16="http://schemas.microsoft.com/office/drawing/2014/main" id="{2C7E9AFF-D4D8-409B-B054-E98A5B26C883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8" name="Shape 7">
              <a:extLst>
                <a:ext uri="{FF2B5EF4-FFF2-40B4-BE49-F238E27FC236}">
                  <a16:creationId xmlns:a16="http://schemas.microsoft.com/office/drawing/2014/main" id="{404CEEB9-FE28-B85C-760A-1116B91CFEDC}"/>
                </a:ext>
              </a:extLst>
            </p:cNvPr>
            <p:cNvSpPr/>
            <p:nvPr/>
          </p:nvSpPr>
          <p:spPr>
            <a:xfrm>
              <a:off x="1041515" y="382043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12" name="Text 11">
              <a:extLst>
                <a:ext uri="{FF2B5EF4-FFF2-40B4-BE49-F238E27FC236}">
                  <a16:creationId xmlns:a16="http://schemas.microsoft.com/office/drawing/2014/main" id="{2117F15C-6805-92B1-E917-BF8F4CAE6D0B}"/>
                </a:ext>
              </a:extLst>
            </p:cNvPr>
            <p:cNvSpPr/>
            <p:nvPr/>
          </p:nvSpPr>
          <p:spPr>
            <a:xfrm>
              <a:off x="1044691" y="3057439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REJURAN Healer (2cc)</a:t>
              </a:r>
            </a:p>
          </p:txBody>
        </p:sp>
        <p:sp>
          <p:nvSpPr>
            <p:cNvPr id="113" name="Text 15">
              <a:extLst>
                <a:ext uri="{FF2B5EF4-FFF2-40B4-BE49-F238E27FC236}">
                  <a16:creationId xmlns:a16="http://schemas.microsoft.com/office/drawing/2014/main" id="{F2AD08AD-2B1C-9665-0D8D-A31B92704383}"/>
                </a:ext>
              </a:extLst>
            </p:cNvPr>
            <p:cNvSpPr/>
            <p:nvPr/>
          </p:nvSpPr>
          <p:spPr>
            <a:xfrm>
              <a:off x="6981209" y="3058910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300,000</a:t>
              </a:r>
            </a:p>
          </p:txBody>
        </p:sp>
        <p:sp>
          <p:nvSpPr>
            <p:cNvPr id="110" name="Text 11">
              <a:extLst>
                <a:ext uri="{FF2B5EF4-FFF2-40B4-BE49-F238E27FC236}">
                  <a16:creationId xmlns:a16="http://schemas.microsoft.com/office/drawing/2014/main" id="{43CA04EE-1A71-B8E6-FA01-26604D53849B}"/>
                </a:ext>
              </a:extLst>
            </p:cNvPr>
            <p:cNvSpPr/>
            <p:nvPr/>
          </p:nvSpPr>
          <p:spPr>
            <a:xfrm>
              <a:off x="1044691" y="344928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REJURAN HB (1cc)</a:t>
              </a:r>
              <a:endParaRPr lang="ko-KR" altLang="en-US" sz="10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111" name="Text 15">
              <a:extLst>
                <a:ext uri="{FF2B5EF4-FFF2-40B4-BE49-F238E27FC236}">
                  <a16:creationId xmlns:a16="http://schemas.microsoft.com/office/drawing/2014/main" id="{4BD8EE7D-3CFF-92D2-74AB-C9EFC0206535}"/>
                </a:ext>
              </a:extLst>
            </p:cNvPr>
            <p:cNvSpPr/>
            <p:nvPr/>
          </p:nvSpPr>
          <p:spPr>
            <a:xfrm>
              <a:off x="6981209" y="345075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08" name="Text 11">
              <a:extLst>
                <a:ext uri="{FF2B5EF4-FFF2-40B4-BE49-F238E27FC236}">
                  <a16:creationId xmlns:a16="http://schemas.microsoft.com/office/drawing/2014/main" id="{0481B1C7-D92C-3795-EC47-8DDF1D1BD282}"/>
                </a:ext>
              </a:extLst>
            </p:cNvPr>
            <p:cNvSpPr/>
            <p:nvPr/>
          </p:nvSpPr>
          <p:spPr>
            <a:xfrm>
              <a:off x="1044691" y="3828743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REJURAN I (1cc)</a:t>
              </a:r>
            </a:p>
          </p:txBody>
        </p:sp>
        <p:sp>
          <p:nvSpPr>
            <p:cNvPr id="109" name="Text 15">
              <a:extLst>
                <a:ext uri="{FF2B5EF4-FFF2-40B4-BE49-F238E27FC236}">
                  <a16:creationId xmlns:a16="http://schemas.microsoft.com/office/drawing/2014/main" id="{ECD195C4-54E2-0260-6884-BEE2B6DFFB47}"/>
                </a:ext>
              </a:extLst>
            </p:cNvPr>
            <p:cNvSpPr/>
            <p:nvPr/>
          </p:nvSpPr>
          <p:spPr>
            <a:xfrm>
              <a:off x="6981209" y="383021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120" name="Shape 7">
              <a:extLst>
                <a:ext uri="{FF2B5EF4-FFF2-40B4-BE49-F238E27FC236}">
                  <a16:creationId xmlns:a16="http://schemas.microsoft.com/office/drawing/2014/main" id="{90803F78-704E-9988-3DA6-864552ACA6B6}"/>
                </a:ext>
              </a:extLst>
            </p:cNvPr>
            <p:cNvSpPr/>
            <p:nvPr/>
          </p:nvSpPr>
          <p:spPr>
            <a:xfrm>
              <a:off x="1041515" y="420266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123" name="Shape 7">
            <a:extLst>
              <a:ext uri="{FF2B5EF4-FFF2-40B4-BE49-F238E27FC236}">
                <a16:creationId xmlns:a16="http://schemas.microsoft.com/office/drawing/2014/main" id="{14766AB7-B42A-0519-0429-6E88F9CC9B22}"/>
              </a:ext>
            </a:extLst>
          </p:cNvPr>
          <p:cNvSpPr/>
          <p:nvPr/>
        </p:nvSpPr>
        <p:spPr>
          <a:xfrm>
            <a:off x="1041515" y="63457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29695242-7D7B-23F0-D2AC-456FF52680CA}"/>
              </a:ext>
            </a:extLst>
          </p:cNvPr>
          <p:cNvSpPr/>
          <p:nvPr/>
        </p:nvSpPr>
        <p:spPr>
          <a:xfrm>
            <a:off x="1044691" y="6354012"/>
            <a:ext cx="5660909" cy="770722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Olidia</a:t>
            </a: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A816B10-0115-6AAB-C390-DC9BEFAC69F7}"/>
              </a:ext>
            </a:extLst>
          </p:cNvPr>
          <p:cNvSpPr/>
          <p:nvPr/>
        </p:nvSpPr>
        <p:spPr>
          <a:xfrm>
            <a:off x="6981209" y="6355483"/>
            <a:ext cx="2265448" cy="7692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120 (4cc)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</a:p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365 (1 Vial)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6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56" name="Shape 7">
            <a:extLst>
              <a:ext uri="{FF2B5EF4-FFF2-40B4-BE49-F238E27FC236}">
                <a16:creationId xmlns:a16="http://schemas.microsoft.com/office/drawing/2014/main" id="{485CC30B-6D60-DF5F-EE90-77B7268E13A4}"/>
              </a:ext>
            </a:extLst>
          </p:cNvPr>
          <p:cNvSpPr/>
          <p:nvPr/>
        </p:nvSpPr>
        <p:spPr>
          <a:xfrm>
            <a:off x="1041515" y="712235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75" name="Text 11">
            <a:extLst>
              <a:ext uri="{FF2B5EF4-FFF2-40B4-BE49-F238E27FC236}">
                <a16:creationId xmlns:a16="http://schemas.microsoft.com/office/drawing/2014/main" id="{60F540FE-75C4-770C-880E-F4DA89E5081B}"/>
              </a:ext>
            </a:extLst>
          </p:cNvPr>
          <p:cNvSpPr/>
          <p:nvPr/>
        </p:nvSpPr>
        <p:spPr>
          <a:xfrm>
            <a:off x="1044691" y="5092790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JUVELOOK Skin</a:t>
            </a:r>
            <a:endParaRPr lang="ko-KR" altLang="en-US" sz="1000" dirty="0">
              <a:solidFill>
                <a:srgbClr val="555555"/>
              </a:solidFill>
              <a:latin typeface="신세계 Medium" panose="02000300000000000000" pitchFamily="50" charset="-127"/>
              <a:ea typeface="신세계 Medium" panose="02000300000000000000" pitchFamily="50" charset="-127"/>
              <a:cs typeface="Arial" pitchFamily="34" charset="-120"/>
            </a:endParaRPr>
          </a:p>
        </p:txBody>
      </p:sp>
      <p:sp>
        <p:nvSpPr>
          <p:cNvPr id="177" name="Text 15">
            <a:extLst>
              <a:ext uri="{FF2B5EF4-FFF2-40B4-BE49-F238E27FC236}">
                <a16:creationId xmlns:a16="http://schemas.microsoft.com/office/drawing/2014/main" id="{2141CB39-CB43-70B9-EEEC-76A42F380FEF}"/>
              </a:ext>
            </a:extLst>
          </p:cNvPr>
          <p:cNvSpPr/>
          <p:nvPr/>
        </p:nvSpPr>
        <p:spPr>
          <a:xfrm>
            <a:off x="7711440" y="5094261"/>
            <a:ext cx="1535216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4cc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400,000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altLang="ko-KR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1Vial(8cc)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700,000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180" name="Shape 7">
            <a:extLst>
              <a:ext uri="{FF2B5EF4-FFF2-40B4-BE49-F238E27FC236}">
                <a16:creationId xmlns:a16="http://schemas.microsoft.com/office/drawing/2014/main" id="{57B17C8A-93B1-5C79-68A0-2F70088F2146}"/>
              </a:ext>
            </a:extLst>
          </p:cNvPr>
          <p:cNvSpPr/>
          <p:nvPr/>
        </p:nvSpPr>
        <p:spPr>
          <a:xfrm>
            <a:off x="1041515" y="5712942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97" name="Text 11">
            <a:extLst>
              <a:ext uri="{FF2B5EF4-FFF2-40B4-BE49-F238E27FC236}">
                <a16:creationId xmlns:a16="http://schemas.microsoft.com/office/drawing/2014/main" id="{9A1CCE11-8AC1-6AF1-C454-10BF2144FDA1}"/>
              </a:ext>
            </a:extLst>
          </p:cNvPr>
          <p:cNvSpPr/>
          <p:nvPr/>
        </p:nvSpPr>
        <p:spPr>
          <a:xfrm>
            <a:off x="1044691" y="572555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JUVELOOK Volume (8cc)</a:t>
            </a:r>
          </a:p>
        </p:txBody>
      </p:sp>
      <p:sp>
        <p:nvSpPr>
          <p:cNvPr id="198" name="Text 15">
            <a:extLst>
              <a:ext uri="{FF2B5EF4-FFF2-40B4-BE49-F238E27FC236}">
                <a16:creationId xmlns:a16="http://schemas.microsoft.com/office/drawing/2014/main" id="{C68EA4E0-19DD-D21F-D992-029E097932DA}"/>
              </a:ext>
            </a:extLst>
          </p:cNvPr>
          <p:cNvSpPr/>
          <p:nvPr/>
        </p:nvSpPr>
        <p:spPr>
          <a:xfrm>
            <a:off x="7301796" y="5727025"/>
            <a:ext cx="1944860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1 Session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800,000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3 Sessions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4" name="Text 11">
            <a:extLst>
              <a:ext uri="{FF2B5EF4-FFF2-40B4-BE49-F238E27FC236}">
                <a16:creationId xmlns:a16="http://schemas.microsoft.com/office/drawing/2014/main" id="{F1E61DD0-E71D-481E-C763-A8D5BDE44943}"/>
              </a:ext>
            </a:extLst>
          </p:cNvPr>
          <p:cNvSpPr/>
          <p:nvPr/>
        </p:nvSpPr>
        <p:spPr>
          <a:xfrm>
            <a:off x="1044691" y="7134744"/>
            <a:ext cx="5660909" cy="62015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RADIESSE 1 Syringe</a:t>
            </a:r>
          </a:p>
        </p:txBody>
      </p:sp>
      <p:sp>
        <p:nvSpPr>
          <p:cNvPr id="205" name="Text 15">
            <a:extLst>
              <a:ext uri="{FF2B5EF4-FFF2-40B4-BE49-F238E27FC236}">
                <a16:creationId xmlns:a16="http://schemas.microsoft.com/office/drawing/2014/main" id="{E79B571A-C18F-6D42-BCF1-70FA44859326}"/>
              </a:ext>
            </a:extLst>
          </p:cNvPr>
          <p:cNvSpPr/>
          <p:nvPr/>
        </p:nvSpPr>
        <p:spPr>
          <a:xfrm>
            <a:off x="7301796" y="7136215"/>
            <a:ext cx="1944860" cy="617208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 xml:space="preserve">1 Session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1,000,000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  <a:p>
            <a:pPr algn="r"/>
            <a:r>
              <a:rPr lang="en-US" sz="12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3 Sessions</a:t>
            </a:r>
            <a:r>
              <a:rPr lang="en-US" altLang="ko-KR" sz="14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 </a:t>
            </a:r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2,500,000</a:t>
            </a:r>
            <a:endParaRPr lang="en-US" altLang="ko-KR" sz="1400" dirty="0">
              <a:latin typeface="신세계 Bold" panose="02000300000000000000" pitchFamily="50" charset="-127"/>
              <a:ea typeface="신세계 Bold" panose="02000300000000000000" pitchFamily="50" charset="-127"/>
            </a:endParaRPr>
          </a:p>
        </p:txBody>
      </p:sp>
      <p:sp>
        <p:nvSpPr>
          <p:cNvPr id="203" name="Shape 7">
            <a:extLst>
              <a:ext uri="{FF2B5EF4-FFF2-40B4-BE49-F238E27FC236}">
                <a16:creationId xmlns:a16="http://schemas.microsoft.com/office/drawing/2014/main" id="{17F873F4-188A-C171-6878-E560B0FA6793}"/>
              </a:ext>
            </a:extLst>
          </p:cNvPr>
          <p:cNvSpPr/>
          <p:nvPr/>
        </p:nvSpPr>
        <p:spPr>
          <a:xfrm>
            <a:off x="1041515" y="7754896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E800C45-D5B8-0604-3BB8-EC3AFBEE4796}"/>
              </a:ext>
            </a:extLst>
          </p:cNvPr>
          <p:cNvSpPr txBox="1"/>
          <p:nvPr/>
        </p:nvSpPr>
        <p:spPr>
          <a:xfrm>
            <a:off x="930580" y="4746505"/>
            <a:ext cx="2092061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Collagen · Volume</a:t>
            </a:r>
          </a:p>
        </p:txBody>
      </p:sp>
      <p:sp>
        <p:nvSpPr>
          <p:cNvPr id="214" name="Shape 7">
            <a:extLst>
              <a:ext uri="{FF2B5EF4-FFF2-40B4-BE49-F238E27FC236}">
                <a16:creationId xmlns:a16="http://schemas.microsoft.com/office/drawing/2014/main" id="{B7D3E4E3-A64D-ED1B-6E12-9EF5CE2AF20F}"/>
              </a:ext>
            </a:extLst>
          </p:cNvPr>
          <p:cNvSpPr/>
          <p:nvPr/>
        </p:nvSpPr>
        <p:spPr>
          <a:xfrm>
            <a:off x="1041515" y="507326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5E5514-E10C-C634-A1A7-8D2B67082257}"/>
              </a:ext>
            </a:extLst>
          </p:cNvPr>
          <p:cNvGrpSpPr/>
          <p:nvPr/>
        </p:nvGrpSpPr>
        <p:grpSpPr>
          <a:xfrm>
            <a:off x="930580" y="9593882"/>
            <a:ext cx="8316077" cy="2516627"/>
            <a:chOff x="930580" y="10677088"/>
            <a:chExt cx="8316077" cy="2516627"/>
          </a:xfrm>
        </p:grpSpPr>
        <p:sp>
          <p:nvSpPr>
            <p:cNvPr id="248" name="Shape 7">
              <a:extLst>
                <a:ext uri="{FF2B5EF4-FFF2-40B4-BE49-F238E27FC236}">
                  <a16:creationId xmlns:a16="http://schemas.microsoft.com/office/drawing/2014/main" id="{CEC68061-309C-D591-B275-7E6E0F5B9919}"/>
                </a:ext>
              </a:extLst>
            </p:cNvPr>
            <p:cNvSpPr/>
            <p:nvPr/>
          </p:nvSpPr>
          <p:spPr>
            <a:xfrm>
              <a:off x="1041515" y="1139181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9" name="Shape 7">
              <a:extLst>
                <a:ext uri="{FF2B5EF4-FFF2-40B4-BE49-F238E27FC236}">
                  <a16:creationId xmlns:a16="http://schemas.microsoft.com/office/drawing/2014/main" id="{C6DDB5FC-9968-D5D3-1DCE-997CC7C67F02}"/>
                </a:ext>
              </a:extLst>
            </p:cNvPr>
            <p:cNvSpPr/>
            <p:nvPr/>
          </p:nvSpPr>
          <p:spPr>
            <a:xfrm>
              <a:off x="1041515" y="1100384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50" name="Shape 7">
              <a:extLst>
                <a:ext uri="{FF2B5EF4-FFF2-40B4-BE49-F238E27FC236}">
                  <a16:creationId xmlns:a16="http://schemas.microsoft.com/office/drawing/2014/main" id="{F8182B89-255B-E588-5D04-1C853DA3965D}"/>
                </a:ext>
              </a:extLst>
            </p:cNvPr>
            <p:cNvSpPr/>
            <p:nvPr/>
          </p:nvSpPr>
          <p:spPr>
            <a:xfrm>
              <a:off x="1041515" y="1177750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4" name="Shape 7">
              <a:extLst>
                <a:ext uri="{FF2B5EF4-FFF2-40B4-BE49-F238E27FC236}">
                  <a16:creationId xmlns:a16="http://schemas.microsoft.com/office/drawing/2014/main" id="{A9E86E26-B311-6CFD-A8B9-10224E5E7DD2}"/>
                </a:ext>
              </a:extLst>
            </p:cNvPr>
            <p:cNvSpPr/>
            <p:nvPr/>
          </p:nvSpPr>
          <p:spPr>
            <a:xfrm>
              <a:off x="1041515" y="1240832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35" name="Text 11">
              <a:extLst>
                <a:ext uri="{FF2B5EF4-FFF2-40B4-BE49-F238E27FC236}">
                  <a16:creationId xmlns:a16="http://schemas.microsoft.com/office/drawing/2014/main" id="{6D564DDE-BF34-FEE0-B40C-6503F9151C36}"/>
                </a:ext>
              </a:extLst>
            </p:cNvPr>
            <p:cNvSpPr/>
            <p:nvPr/>
          </p:nvSpPr>
          <p:spPr>
            <a:xfrm>
              <a:off x="1040343" y="11788169"/>
              <a:ext cx="3905742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HILO WAVE</a:t>
              </a:r>
              <a:endParaRPr lang="ko-KR" alt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32CA14B1-54B8-5317-9EF6-3B8290F7C2FF}"/>
                </a:ext>
              </a:extLst>
            </p:cNvPr>
            <p:cNvSpPr txBox="1"/>
            <p:nvPr/>
          </p:nvSpPr>
          <p:spPr>
            <a:xfrm>
              <a:off x="930580" y="10677088"/>
              <a:ext cx="282092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Elasticity · Glass Skin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37" name="Text 11">
              <a:extLst>
                <a:ext uri="{FF2B5EF4-FFF2-40B4-BE49-F238E27FC236}">
                  <a16:creationId xmlns:a16="http://schemas.microsoft.com/office/drawing/2014/main" id="{CE7C4110-0615-9FF5-AA4B-C2C2C1311DE0}"/>
                </a:ext>
              </a:extLst>
            </p:cNvPr>
            <p:cNvSpPr/>
            <p:nvPr/>
          </p:nvSpPr>
          <p:spPr>
            <a:xfrm>
              <a:off x="1044691" y="1100571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Basic Glass Skin Injection (2cc)</a:t>
              </a:r>
            </a:p>
          </p:txBody>
        </p:sp>
        <p:sp>
          <p:nvSpPr>
            <p:cNvPr id="238" name="Text 11">
              <a:extLst>
                <a:ext uri="{FF2B5EF4-FFF2-40B4-BE49-F238E27FC236}">
                  <a16:creationId xmlns:a16="http://schemas.microsoft.com/office/drawing/2014/main" id="{B07E1F21-8A6F-73E7-7B9B-81FEC1F2E14C}"/>
                </a:ext>
              </a:extLst>
            </p:cNvPr>
            <p:cNvSpPr/>
            <p:nvPr/>
          </p:nvSpPr>
          <p:spPr>
            <a:xfrm>
              <a:off x="1044691" y="11399082"/>
              <a:ext cx="57752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Lilied M 1 Vial (5cc)</a:t>
              </a:r>
            </a:p>
          </p:txBody>
        </p:sp>
        <p:sp>
          <p:nvSpPr>
            <p:cNvPr id="239" name="Text 15">
              <a:extLst>
                <a:ext uri="{FF2B5EF4-FFF2-40B4-BE49-F238E27FC236}">
                  <a16:creationId xmlns:a16="http://schemas.microsoft.com/office/drawing/2014/main" id="{9F268E9E-6B92-5F3E-0D58-1D2C2C43FA55}"/>
                </a:ext>
              </a:extLst>
            </p:cNvPr>
            <p:cNvSpPr/>
            <p:nvPr/>
          </p:nvSpPr>
          <p:spPr>
            <a:xfrm>
              <a:off x="8585650" y="11085735"/>
              <a:ext cx="661006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</a:p>
          </p:txBody>
        </p:sp>
        <p:sp>
          <p:nvSpPr>
            <p:cNvPr id="242" name="Text 15">
              <a:extLst>
                <a:ext uri="{FF2B5EF4-FFF2-40B4-BE49-F238E27FC236}">
                  <a16:creationId xmlns:a16="http://schemas.microsoft.com/office/drawing/2014/main" id="{C1A8D845-0A3A-E136-EC93-65C18E0D4DA1}"/>
                </a:ext>
              </a:extLst>
            </p:cNvPr>
            <p:cNvSpPr/>
            <p:nvPr/>
          </p:nvSpPr>
          <p:spPr>
            <a:xfrm>
              <a:off x="8492676" y="11479100"/>
              <a:ext cx="75398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180,000</a:t>
              </a:r>
            </a:p>
          </p:txBody>
        </p:sp>
        <p:sp>
          <p:nvSpPr>
            <p:cNvPr id="246" name="Text 15">
              <a:extLst>
                <a:ext uri="{FF2B5EF4-FFF2-40B4-BE49-F238E27FC236}">
                  <a16:creationId xmlns:a16="http://schemas.microsoft.com/office/drawing/2014/main" id="{13EE5C0F-A992-E353-5BC8-9C7A1736D8E6}"/>
                </a:ext>
              </a:extLst>
            </p:cNvPr>
            <p:cNvSpPr/>
            <p:nvPr/>
          </p:nvSpPr>
          <p:spPr>
            <a:xfrm>
              <a:off x="8058723" y="11882801"/>
              <a:ext cx="1183584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2cc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  <a:p>
              <a:pPr algn="r"/>
              <a:r>
                <a:rPr lang="en-US" altLang="ko-KR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4cc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1,400,000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52795262-C4C4-0B25-3C3B-F6BE708619A7}"/>
                </a:ext>
              </a:extLst>
            </p:cNvPr>
            <p:cNvGrpSpPr/>
            <p:nvPr/>
          </p:nvGrpSpPr>
          <p:grpSpPr>
            <a:xfrm>
              <a:off x="1041515" y="12794414"/>
              <a:ext cx="8205142" cy="399301"/>
              <a:chOff x="1041515" y="5834612"/>
              <a:chExt cx="8205142" cy="399301"/>
            </a:xfrm>
          </p:grpSpPr>
          <p:sp>
            <p:nvSpPr>
              <p:cNvPr id="252" name="Shape 7">
                <a:extLst>
                  <a:ext uri="{FF2B5EF4-FFF2-40B4-BE49-F238E27FC236}">
                    <a16:creationId xmlns:a16="http://schemas.microsoft.com/office/drawing/2014/main" id="{B152B9E3-CEB7-1AEB-9E96-0385C2C52F57}"/>
                  </a:ext>
                </a:extLst>
              </p:cNvPr>
              <p:cNvSpPr/>
              <p:nvPr/>
            </p:nvSpPr>
            <p:spPr>
              <a:xfrm>
                <a:off x="1041515" y="5834612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  <p:sp>
            <p:nvSpPr>
              <p:cNvPr id="254" name="Shape 7">
                <a:extLst>
                  <a:ext uri="{FF2B5EF4-FFF2-40B4-BE49-F238E27FC236}">
                    <a16:creationId xmlns:a16="http://schemas.microsoft.com/office/drawing/2014/main" id="{856B8AE0-B325-DAB9-1ADA-121E3E3A0250}"/>
                  </a:ext>
                </a:extLst>
              </p:cNvPr>
              <p:cNvSpPr/>
              <p:nvPr/>
            </p:nvSpPr>
            <p:spPr>
              <a:xfrm>
                <a:off x="1041515" y="6220306"/>
                <a:ext cx="8205142" cy="13607"/>
              </a:xfrm>
              <a:prstGeom prst="rect">
                <a:avLst/>
              </a:prstGeom>
              <a:solidFill>
                <a:srgbClr val="CCCCCC"/>
              </a:solidFill>
              <a:ln/>
            </p:spPr>
          </p:sp>
        </p:grpSp>
        <p:sp>
          <p:nvSpPr>
            <p:cNvPr id="255" name="Text 11">
              <a:extLst>
                <a:ext uri="{FF2B5EF4-FFF2-40B4-BE49-F238E27FC236}">
                  <a16:creationId xmlns:a16="http://schemas.microsoft.com/office/drawing/2014/main" id="{D8D51D21-AD53-5CEE-6558-F311B03059ED}"/>
                </a:ext>
              </a:extLst>
            </p:cNvPr>
            <p:cNvSpPr/>
            <p:nvPr/>
          </p:nvSpPr>
          <p:spPr>
            <a:xfrm>
              <a:off x="1044691" y="12408320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JUVÉDERM SKINVIVE (2cc)</a:t>
              </a:r>
              <a:endParaRPr lang="en-US" altLang="ko-KR" sz="1000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6" name="Text 11">
              <a:extLst>
                <a:ext uri="{FF2B5EF4-FFF2-40B4-BE49-F238E27FC236}">
                  <a16:creationId xmlns:a16="http://schemas.microsoft.com/office/drawing/2014/main" id="{3E3969C9-853C-C996-DCF7-7D280DDC0624}"/>
                </a:ext>
              </a:extLst>
            </p:cNvPr>
            <p:cNvSpPr/>
            <p:nvPr/>
          </p:nvSpPr>
          <p:spPr>
            <a:xfrm>
              <a:off x="1044691" y="12801685"/>
              <a:ext cx="5936518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BELOTERO REVIVE (2cc)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57" name="Text 15">
              <a:extLst>
                <a:ext uri="{FF2B5EF4-FFF2-40B4-BE49-F238E27FC236}">
                  <a16:creationId xmlns:a16="http://schemas.microsoft.com/office/drawing/2014/main" id="{0F4DC521-26BE-92B4-AFEE-AD2C45868EC8}"/>
                </a:ext>
              </a:extLst>
            </p:cNvPr>
            <p:cNvSpPr/>
            <p:nvPr/>
          </p:nvSpPr>
          <p:spPr>
            <a:xfrm>
              <a:off x="8470234" y="12488338"/>
              <a:ext cx="776422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700,000</a:t>
              </a:r>
            </a:p>
          </p:txBody>
        </p:sp>
        <p:sp>
          <p:nvSpPr>
            <p:cNvPr id="260" name="Text 15">
              <a:extLst>
                <a:ext uri="{FF2B5EF4-FFF2-40B4-BE49-F238E27FC236}">
                  <a16:creationId xmlns:a16="http://schemas.microsoft.com/office/drawing/2014/main" id="{B682348B-7883-59C9-B73F-9B98C71058FE}"/>
                </a:ext>
              </a:extLst>
            </p:cNvPr>
            <p:cNvSpPr/>
            <p:nvPr/>
          </p:nvSpPr>
          <p:spPr>
            <a:xfrm>
              <a:off x="8462219" y="12881703"/>
              <a:ext cx="784437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</p:grpSp>
      <p:sp>
        <p:nvSpPr>
          <p:cNvPr id="262" name="Text 96">
            <a:extLst>
              <a:ext uri="{FF2B5EF4-FFF2-40B4-BE49-F238E27FC236}">
                <a16:creationId xmlns:a16="http://schemas.microsoft.com/office/drawing/2014/main" id="{DD66A37A-BBF2-55D4-A318-07588E9891A8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F96CF68-A027-85E7-2A41-1F0A97664104}"/>
              </a:ext>
            </a:extLst>
          </p:cNvPr>
          <p:cNvGrpSpPr/>
          <p:nvPr/>
        </p:nvGrpSpPr>
        <p:grpSpPr>
          <a:xfrm>
            <a:off x="930580" y="7918052"/>
            <a:ext cx="8316077" cy="1471832"/>
            <a:chOff x="930580" y="8302340"/>
            <a:chExt cx="8316077" cy="1471832"/>
          </a:xfrm>
        </p:grpSpPr>
        <p:sp>
          <p:nvSpPr>
            <p:cNvPr id="213" name="Shape 7">
              <a:extLst>
                <a:ext uri="{FF2B5EF4-FFF2-40B4-BE49-F238E27FC236}">
                  <a16:creationId xmlns:a16="http://schemas.microsoft.com/office/drawing/2014/main" id="{67074E1F-E7E2-D776-972A-5A62E63CE541}"/>
                </a:ext>
              </a:extLst>
            </p:cNvPr>
            <p:cNvSpPr/>
            <p:nvPr/>
          </p:nvSpPr>
          <p:spPr>
            <a:xfrm>
              <a:off x="1041515" y="899264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5" name="Shape 7">
              <a:extLst>
                <a:ext uri="{FF2B5EF4-FFF2-40B4-BE49-F238E27FC236}">
                  <a16:creationId xmlns:a16="http://schemas.microsoft.com/office/drawing/2014/main" id="{48AA2153-46D3-B118-EA8F-E6C978F65E51}"/>
                </a:ext>
              </a:extLst>
            </p:cNvPr>
            <p:cNvSpPr/>
            <p:nvPr/>
          </p:nvSpPr>
          <p:spPr>
            <a:xfrm>
              <a:off x="1041515" y="937833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7" name="Text 11">
              <a:extLst>
                <a:ext uri="{FF2B5EF4-FFF2-40B4-BE49-F238E27FC236}">
                  <a16:creationId xmlns:a16="http://schemas.microsoft.com/office/drawing/2014/main" id="{247C8FF0-C3D9-F3A8-D56D-1455B508EE28}"/>
                </a:ext>
              </a:extLst>
            </p:cNvPr>
            <p:cNvSpPr/>
            <p:nvPr/>
          </p:nvSpPr>
          <p:spPr>
            <a:xfrm>
              <a:off x="1044691" y="861534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Celcore 1 Syringe</a:t>
              </a:r>
            </a:p>
          </p:txBody>
        </p:sp>
        <p:sp>
          <p:nvSpPr>
            <p:cNvPr id="218" name="Text 15">
              <a:extLst>
                <a:ext uri="{FF2B5EF4-FFF2-40B4-BE49-F238E27FC236}">
                  <a16:creationId xmlns:a16="http://schemas.microsoft.com/office/drawing/2014/main" id="{607D2774-293A-1302-479C-E0A600F2E829}"/>
                </a:ext>
              </a:extLst>
            </p:cNvPr>
            <p:cNvSpPr/>
            <p:nvPr/>
          </p:nvSpPr>
          <p:spPr>
            <a:xfrm>
              <a:off x="6981209" y="861681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0" name="Text 11">
              <a:extLst>
                <a:ext uri="{FF2B5EF4-FFF2-40B4-BE49-F238E27FC236}">
                  <a16:creationId xmlns:a16="http://schemas.microsoft.com/office/drawing/2014/main" id="{C7EEC850-AEB6-C17B-BF0A-71A349746CB8}"/>
                </a:ext>
              </a:extLst>
            </p:cNvPr>
            <p:cNvSpPr/>
            <p:nvPr/>
          </p:nvSpPr>
          <p:spPr>
            <a:xfrm>
              <a:off x="1044691" y="900718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Elravie Re2O 1 Vial (6cc)</a:t>
              </a:r>
            </a:p>
          </p:txBody>
        </p:sp>
        <p:sp>
          <p:nvSpPr>
            <p:cNvPr id="221" name="Text 15">
              <a:extLst>
                <a:ext uri="{FF2B5EF4-FFF2-40B4-BE49-F238E27FC236}">
                  <a16:creationId xmlns:a16="http://schemas.microsoft.com/office/drawing/2014/main" id="{0D6A5111-009A-5331-87E7-E445E0FCD266}"/>
                </a:ext>
              </a:extLst>
            </p:cNvPr>
            <p:cNvSpPr/>
            <p:nvPr/>
          </p:nvSpPr>
          <p:spPr>
            <a:xfrm>
              <a:off x="6981209" y="900865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800,000</a:t>
              </a:r>
            </a:p>
          </p:txBody>
        </p:sp>
        <p:sp>
          <p:nvSpPr>
            <p:cNvPr id="223" name="Text 11">
              <a:extLst>
                <a:ext uri="{FF2B5EF4-FFF2-40B4-BE49-F238E27FC236}">
                  <a16:creationId xmlns:a16="http://schemas.microsoft.com/office/drawing/2014/main" id="{ABA9B80B-983F-B6FF-A214-1E06002971B2}"/>
                </a:ext>
              </a:extLst>
            </p:cNvPr>
            <p:cNvSpPr/>
            <p:nvPr/>
          </p:nvSpPr>
          <p:spPr>
            <a:xfrm>
              <a:off x="1044691" y="938664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Elravie Re2O Fine 1 Vial (2cc)</a:t>
              </a:r>
            </a:p>
          </p:txBody>
        </p:sp>
        <p:sp>
          <p:nvSpPr>
            <p:cNvPr id="224" name="Text 15">
              <a:extLst>
                <a:ext uri="{FF2B5EF4-FFF2-40B4-BE49-F238E27FC236}">
                  <a16:creationId xmlns:a16="http://schemas.microsoft.com/office/drawing/2014/main" id="{2B7AEE63-8C86-128F-1984-37217F1D3AC2}"/>
                </a:ext>
              </a:extLst>
            </p:cNvPr>
            <p:cNvSpPr/>
            <p:nvPr/>
          </p:nvSpPr>
          <p:spPr>
            <a:xfrm>
              <a:off x="6981209" y="938811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600,000</a:t>
              </a:r>
            </a:p>
          </p:txBody>
        </p:sp>
        <p:sp>
          <p:nvSpPr>
            <p:cNvPr id="227" name="Shape 7">
              <a:extLst>
                <a:ext uri="{FF2B5EF4-FFF2-40B4-BE49-F238E27FC236}">
                  <a16:creationId xmlns:a16="http://schemas.microsoft.com/office/drawing/2014/main" id="{2E62A571-0970-AF23-C0FB-4DC41AD3F34F}"/>
                </a:ext>
              </a:extLst>
            </p:cNvPr>
            <p:cNvSpPr/>
            <p:nvPr/>
          </p:nvSpPr>
          <p:spPr>
            <a:xfrm>
              <a:off x="1041515" y="976056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E8E2D98D-5F6C-649A-ED6E-6E77FD32A196}"/>
                </a:ext>
              </a:extLst>
            </p:cNvPr>
            <p:cNvSpPr/>
            <p:nvPr/>
          </p:nvSpPr>
          <p:spPr>
            <a:xfrm>
              <a:off x="1041515" y="862909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8EEF80-0B91-1E5C-2211-2F5E6CBE6BF9}"/>
                </a:ext>
              </a:extLst>
            </p:cNvPr>
            <p:cNvSpPr txBox="1"/>
            <p:nvPr/>
          </p:nvSpPr>
          <p:spPr>
            <a:xfrm>
              <a:off x="930580" y="8302340"/>
              <a:ext cx="69442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altLang="ko-KR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ECM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</p:grpSp>
      <p:sp>
        <p:nvSpPr>
          <p:cNvPr id="4" name="Shape 7">
            <a:extLst>
              <a:ext uri="{FF2B5EF4-FFF2-40B4-BE49-F238E27FC236}">
                <a16:creationId xmlns:a16="http://schemas.microsoft.com/office/drawing/2014/main" id="{409CBCEA-7DD9-42D8-50E1-0F969FD18F6F}"/>
              </a:ext>
            </a:extLst>
          </p:cNvPr>
          <p:cNvSpPr/>
          <p:nvPr/>
        </p:nvSpPr>
        <p:spPr>
          <a:xfrm>
            <a:off x="1044691" y="4581004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FF8BED7-0C66-E698-3878-3A1F140944A1}"/>
              </a:ext>
            </a:extLst>
          </p:cNvPr>
          <p:cNvSpPr/>
          <p:nvPr/>
        </p:nvSpPr>
        <p:spPr>
          <a:xfrm>
            <a:off x="1037167" y="4214408"/>
            <a:ext cx="56609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EXOXE (2.5cc)</a:t>
            </a: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695BD39-EA57-CE40-19BC-5B55206D6F4E}"/>
              </a:ext>
            </a:extLst>
          </p:cNvPr>
          <p:cNvSpPr/>
          <p:nvPr/>
        </p:nvSpPr>
        <p:spPr>
          <a:xfrm>
            <a:off x="6973685" y="4215879"/>
            <a:ext cx="2265448" cy="372539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300,000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1749155-27DC-F16E-18B0-ABFA466792EE}"/>
              </a:ext>
            </a:extLst>
          </p:cNvPr>
          <p:cNvSpPr/>
          <p:nvPr/>
        </p:nvSpPr>
        <p:spPr>
          <a:xfrm>
            <a:off x="1040400" y="130104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D3A9D47-91CF-5657-A8EC-CC373B163B5E}"/>
              </a:ext>
            </a:extLst>
          </p:cNvPr>
          <p:cNvSpPr/>
          <p:nvPr/>
        </p:nvSpPr>
        <p:spPr>
          <a:xfrm>
            <a:off x="1036800" y="12628800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Add-on: DermaShine Tip</a:t>
            </a:r>
            <a:endParaRPr lang="en-US" altLang="ko-KR" sz="10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CC1C6413-C780-3824-E4F5-50F7D3D1FB1A}"/>
              </a:ext>
            </a:extLst>
          </p:cNvPr>
          <p:cNvSpPr/>
          <p:nvPr/>
        </p:nvSpPr>
        <p:spPr>
          <a:xfrm>
            <a:off x="1036800" y="13021200"/>
            <a:ext cx="5936518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>Add-on: Potenza Pumping Tip</a:t>
            </a:r>
            <a:endParaRPr lang="ko-KR" altLang="en-US" sz="1000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944B1EA8-48BF-4318-32BE-3E6103681DB4}"/>
              </a:ext>
            </a:extLst>
          </p:cNvPr>
          <p:cNvSpPr/>
          <p:nvPr/>
        </p:nvSpPr>
        <p:spPr>
          <a:xfrm>
            <a:off x="8463600" y="12708000"/>
            <a:ext cx="776422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100,000</a:t>
            </a: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90CC9D7-F9F0-2243-0DB3-2B47C9DE70B5}"/>
              </a:ext>
            </a:extLst>
          </p:cNvPr>
          <p:cNvSpPr/>
          <p:nvPr/>
        </p:nvSpPr>
        <p:spPr>
          <a:xfrm>
            <a:off x="8470800" y="13100400"/>
            <a:ext cx="766804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3F3B31E-F2DF-D2ED-63D8-7AC9020A30D8}"/>
              </a:ext>
            </a:extLst>
          </p:cNvPr>
          <p:cNvSpPr/>
          <p:nvPr/>
        </p:nvSpPr>
        <p:spPr>
          <a:xfrm>
            <a:off x="1040400" y="13395600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3" name="TextBox 235">
            <a:extLst>
              <a:ext uri="{FF2B5EF4-FFF2-40B4-BE49-F238E27FC236}">
                <a16:creationId xmlns:a16="http://schemas.microsoft.com/office/drawing/2014/main" id="{32CA14B1-54B8-5317-9EF6-3B8290F7C2FF}"/>
              </a:ext>
            </a:extLst>
          </p:cNvPr>
          <p:cNvSpPr txBox="1"/>
          <p:nvPr/>
        </p:nvSpPr>
        <p:spPr>
          <a:xfrm>
            <a:off x="1029600" y="12290400"/>
            <a:ext cx="1481328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l"/>
            <a:r>
              <a:rPr 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rPr>
              <a:t>Tip Add-ons</a:t>
            </a:r>
          </a:p>
        </p:txBody>
      </p:sp>
      <p:sp>
        <p:nvSpPr>
          <p:cNvPr id="264" name="Shape 7">
            <a:extLst>
              <a:ext uri="{FF2B5EF4-FFF2-40B4-BE49-F238E27FC236}">
                <a16:creationId xmlns:a16="http://schemas.microsoft.com/office/drawing/2014/main" id="{C6DDB5FC-9968-D5D3-1DCE-997CC7C67F02}"/>
              </a:ext>
            </a:extLst>
          </p:cNvPr>
          <p:cNvSpPr/>
          <p:nvPr/>
        </p:nvSpPr>
        <p:spPr>
          <a:xfrm>
            <a:off x="1040400" y="12618000"/>
            <a:ext cx="8205142" cy="13607"/>
          </a:xfrm>
          <a:prstGeom prst="rect">
            <a:avLst/>
          </a:prstGeom>
          <a:solidFill>
            <a:srgbClr val="2498B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514350" y="863193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MEDICAL SKINCARE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64536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Medical Skincare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38022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Medical Skincare Recommended by Ceramique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9" name="Text 96">
            <a:extLst>
              <a:ext uri="{FF2B5EF4-FFF2-40B4-BE49-F238E27FC236}">
                <a16:creationId xmlns:a16="http://schemas.microsoft.com/office/drawing/2014/main" id="{9FBF630D-5C4D-0E3A-FE6B-8DFD553C0E1D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27FEB013-83EA-3243-3708-082B8D83AEE1}"/>
              </a:ext>
            </a:extLst>
          </p:cNvPr>
          <p:cNvGrpSpPr/>
          <p:nvPr/>
        </p:nvGrpSpPr>
        <p:grpSpPr>
          <a:xfrm>
            <a:off x="930580" y="2720019"/>
            <a:ext cx="8316077" cy="4124371"/>
            <a:chOff x="930580" y="2720019"/>
            <a:chExt cx="8316077" cy="4124371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A0ECF7-C560-E851-FD4C-E224DF0F46DE}"/>
                </a:ext>
              </a:extLst>
            </p:cNvPr>
            <p:cNvSpPr txBox="1"/>
            <p:nvPr/>
          </p:nvSpPr>
          <p:spPr>
            <a:xfrm>
              <a:off x="930580" y="2720019"/>
              <a:ext cx="275024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Cleansing &amp; Daily Care</a:t>
              </a:r>
            </a:p>
          </p:txBody>
        </p:sp>
        <p:sp>
          <p:nvSpPr>
            <p:cNvPr id="155" name="Text 11">
              <a:extLst>
                <a:ext uri="{FF2B5EF4-FFF2-40B4-BE49-F238E27FC236}">
                  <a16:creationId xmlns:a16="http://schemas.microsoft.com/office/drawing/2014/main" id="{1CE06990-7F3E-7D9F-B2EB-8E2E6C46FDD3}"/>
                </a:ext>
              </a:extLst>
            </p:cNvPr>
            <p:cNvSpPr/>
            <p:nvPr/>
          </p:nvSpPr>
          <p:spPr>
            <a:xfrm>
              <a:off x="1044691" y="305743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Aqua Peel (Stage 1/2/3)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Removes impurities and sebum from pores + supplies hydration and nutrition</a:t>
              </a:r>
            </a:p>
          </p:txBody>
        </p:sp>
        <p:sp>
          <p:nvSpPr>
            <p:cNvPr id="157" name="Text 15">
              <a:extLst>
                <a:ext uri="{FF2B5EF4-FFF2-40B4-BE49-F238E27FC236}">
                  <a16:creationId xmlns:a16="http://schemas.microsoft.com/office/drawing/2014/main" id="{D9F2D14D-B5FF-FA6A-ADCE-C94714205D86}"/>
                </a:ext>
              </a:extLst>
            </p:cNvPr>
            <p:cNvSpPr/>
            <p:nvPr/>
          </p:nvSpPr>
          <p:spPr>
            <a:xfrm>
              <a:off x="7589148" y="3058909"/>
              <a:ext cx="1745724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51" name="Text 11">
              <a:extLst>
                <a:ext uri="{FF2B5EF4-FFF2-40B4-BE49-F238E27FC236}">
                  <a16:creationId xmlns:a16="http://schemas.microsoft.com/office/drawing/2014/main" id="{777ACBC6-E80F-3D93-2C66-9978C9601491}"/>
                </a:ext>
              </a:extLst>
            </p:cNvPr>
            <p:cNvSpPr/>
            <p:nvPr/>
          </p:nvSpPr>
          <p:spPr>
            <a:xfrm>
              <a:off x="1044691" y="3642204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Cryo Soothing Care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Rapid cooling — Soothes redness and swelling</a:t>
              </a:r>
            </a:p>
          </p:txBody>
        </p:sp>
        <p:sp>
          <p:nvSpPr>
            <p:cNvPr id="147" name="Shape 7">
              <a:extLst>
                <a:ext uri="{FF2B5EF4-FFF2-40B4-BE49-F238E27FC236}">
                  <a16:creationId xmlns:a16="http://schemas.microsoft.com/office/drawing/2014/main" id="{071FB9FE-C029-C79B-79AD-1C09B4193E3A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8" name="Shape 7">
              <a:extLst>
                <a:ext uri="{FF2B5EF4-FFF2-40B4-BE49-F238E27FC236}">
                  <a16:creationId xmlns:a16="http://schemas.microsoft.com/office/drawing/2014/main" id="{EAAF6A05-5BF7-F5F9-A179-6F498F75EBD1}"/>
                </a:ext>
              </a:extLst>
            </p:cNvPr>
            <p:cNvSpPr/>
            <p:nvPr/>
          </p:nvSpPr>
          <p:spPr>
            <a:xfrm>
              <a:off x="1041515" y="363079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9" name="Shape 7">
              <a:extLst>
                <a:ext uri="{FF2B5EF4-FFF2-40B4-BE49-F238E27FC236}">
                  <a16:creationId xmlns:a16="http://schemas.microsoft.com/office/drawing/2014/main" id="{8FAE98C2-1F8A-B8C7-60BF-0E9C4744BE31}"/>
                </a:ext>
              </a:extLst>
            </p:cNvPr>
            <p:cNvSpPr/>
            <p:nvPr/>
          </p:nvSpPr>
          <p:spPr>
            <a:xfrm>
              <a:off x="1041515" y="421367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50" name="Shape 7">
              <a:extLst>
                <a:ext uri="{FF2B5EF4-FFF2-40B4-BE49-F238E27FC236}">
                  <a16:creationId xmlns:a16="http://schemas.microsoft.com/office/drawing/2014/main" id="{398D9EF1-9BB9-71B8-58B0-4697BB5AF3F4}"/>
                </a:ext>
              </a:extLst>
            </p:cNvPr>
            <p:cNvSpPr/>
            <p:nvPr/>
          </p:nvSpPr>
          <p:spPr>
            <a:xfrm>
              <a:off x="1041515" y="479809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Text 11">
              <a:extLst>
                <a:ext uri="{FF2B5EF4-FFF2-40B4-BE49-F238E27FC236}">
                  <a16:creationId xmlns:a16="http://schemas.microsoft.com/office/drawing/2014/main" id="{97411113-E4D2-34A6-F7ED-123889FA2BAD}"/>
                </a:ext>
              </a:extLst>
            </p:cNvPr>
            <p:cNvSpPr/>
            <p:nvPr/>
          </p:nvSpPr>
          <p:spPr>
            <a:xfrm>
              <a:off x="1044691" y="4225527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Ion Vitamin Whitening Care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Delivers highly concentrated ionized Vitamin C deep into the skin</a:t>
              </a:r>
            </a:p>
          </p:txBody>
        </p:sp>
        <p:sp>
          <p:nvSpPr>
            <p:cNvPr id="176" name="Text 11">
              <a:extLst>
                <a:ext uri="{FF2B5EF4-FFF2-40B4-BE49-F238E27FC236}">
                  <a16:creationId xmlns:a16="http://schemas.microsoft.com/office/drawing/2014/main" id="{564FA673-C753-1ABC-158F-839D55DED2F6}"/>
                </a:ext>
              </a:extLst>
            </p:cNvPr>
            <p:cNvSpPr/>
            <p:nvPr/>
          </p:nvSpPr>
          <p:spPr>
            <a:xfrm>
              <a:off x="1044691" y="4809325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SONO Ultrasound Care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Stabilizes skin condition through ultrasound vibration</a:t>
              </a:r>
            </a:p>
          </p:txBody>
        </p:sp>
        <p:sp>
          <p:nvSpPr>
            <p:cNvPr id="172" name="Text 11">
              <a:extLst>
                <a:ext uri="{FF2B5EF4-FFF2-40B4-BE49-F238E27FC236}">
                  <a16:creationId xmlns:a16="http://schemas.microsoft.com/office/drawing/2014/main" id="{ED566BC8-7587-3D1D-C231-2D9D3CD288F5}"/>
                </a:ext>
              </a:extLst>
            </p:cNvPr>
            <p:cNvSpPr/>
            <p:nvPr/>
          </p:nvSpPr>
          <p:spPr>
            <a:xfrm>
              <a:off x="1044691" y="5392208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Ionzyme Whitening Care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Uses micro-current for hydration · soothing · texture improvement</a:t>
              </a:r>
            </a:p>
          </p:txBody>
        </p:sp>
        <p:sp>
          <p:nvSpPr>
            <p:cNvPr id="169" name="Shape 7">
              <a:extLst>
                <a:ext uri="{FF2B5EF4-FFF2-40B4-BE49-F238E27FC236}">
                  <a16:creationId xmlns:a16="http://schemas.microsoft.com/office/drawing/2014/main" id="{1E76A880-25A0-80E3-1F09-BF61725554BB}"/>
                </a:ext>
              </a:extLst>
            </p:cNvPr>
            <p:cNvSpPr/>
            <p:nvPr/>
          </p:nvSpPr>
          <p:spPr>
            <a:xfrm>
              <a:off x="1041515" y="538267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0" name="Shape 7">
              <a:extLst>
                <a:ext uri="{FF2B5EF4-FFF2-40B4-BE49-F238E27FC236}">
                  <a16:creationId xmlns:a16="http://schemas.microsoft.com/office/drawing/2014/main" id="{AC3FD692-FD84-6F02-64E2-258EB9C981FB}"/>
                </a:ext>
              </a:extLst>
            </p:cNvPr>
            <p:cNvSpPr/>
            <p:nvPr/>
          </p:nvSpPr>
          <p:spPr>
            <a:xfrm>
              <a:off x="1041515" y="596556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1" name="Shape 7">
              <a:extLst>
                <a:ext uri="{FF2B5EF4-FFF2-40B4-BE49-F238E27FC236}">
                  <a16:creationId xmlns:a16="http://schemas.microsoft.com/office/drawing/2014/main" id="{3822DEB2-4E6E-B3A1-975F-41D1FEB87A7A}"/>
                </a:ext>
              </a:extLst>
            </p:cNvPr>
            <p:cNvSpPr/>
            <p:nvPr/>
          </p:nvSpPr>
          <p:spPr>
            <a:xfrm>
              <a:off x="1041515" y="654998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07DD6227-3C12-67FB-C815-078F8F4DB919}"/>
                </a:ext>
              </a:extLst>
            </p:cNvPr>
            <p:cNvSpPr/>
            <p:nvPr/>
          </p:nvSpPr>
          <p:spPr>
            <a:xfrm>
              <a:off x="1044691" y="5976276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Ionzyme + SONO Care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Skin condition stabilization · Texture improvement</a:t>
              </a:r>
            </a:p>
          </p:txBody>
        </p:sp>
        <p:sp>
          <p:nvSpPr>
            <p:cNvPr id="180" name="Text 15">
              <a:extLst>
                <a:ext uri="{FF2B5EF4-FFF2-40B4-BE49-F238E27FC236}">
                  <a16:creationId xmlns:a16="http://schemas.microsoft.com/office/drawing/2014/main" id="{483A027F-54CC-D211-BCF4-61BB49AEAB5B}"/>
                </a:ext>
              </a:extLst>
            </p:cNvPr>
            <p:cNvSpPr/>
            <p:nvPr/>
          </p:nvSpPr>
          <p:spPr>
            <a:xfrm>
              <a:off x="7589148" y="3643675"/>
              <a:ext cx="1745724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1" name="Text 15">
              <a:extLst>
                <a:ext uri="{FF2B5EF4-FFF2-40B4-BE49-F238E27FC236}">
                  <a16:creationId xmlns:a16="http://schemas.microsoft.com/office/drawing/2014/main" id="{9582DA14-1B83-9AA1-3BBA-34BF3E638D78}"/>
                </a:ext>
              </a:extLst>
            </p:cNvPr>
            <p:cNvSpPr/>
            <p:nvPr/>
          </p:nvSpPr>
          <p:spPr>
            <a:xfrm>
              <a:off x="7589148" y="4226998"/>
              <a:ext cx="1745724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2" name="Text 15">
              <a:extLst>
                <a:ext uri="{FF2B5EF4-FFF2-40B4-BE49-F238E27FC236}">
                  <a16:creationId xmlns:a16="http://schemas.microsoft.com/office/drawing/2014/main" id="{FEA22D18-AD1A-DB29-403F-1E6DC18C7B40}"/>
                </a:ext>
              </a:extLst>
            </p:cNvPr>
            <p:cNvSpPr/>
            <p:nvPr/>
          </p:nvSpPr>
          <p:spPr>
            <a:xfrm>
              <a:off x="7589148" y="4810796"/>
              <a:ext cx="1745724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3" name="Text 15">
              <a:extLst>
                <a:ext uri="{FF2B5EF4-FFF2-40B4-BE49-F238E27FC236}">
                  <a16:creationId xmlns:a16="http://schemas.microsoft.com/office/drawing/2014/main" id="{4E1526F8-0A06-842F-FAF5-14929F2AC46D}"/>
                </a:ext>
              </a:extLst>
            </p:cNvPr>
            <p:cNvSpPr/>
            <p:nvPr/>
          </p:nvSpPr>
          <p:spPr>
            <a:xfrm>
              <a:off x="7589148" y="5393679"/>
              <a:ext cx="1745724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69,000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84" name="Text 15">
              <a:extLst>
                <a:ext uri="{FF2B5EF4-FFF2-40B4-BE49-F238E27FC236}">
                  <a16:creationId xmlns:a16="http://schemas.microsoft.com/office/drawing/2014/main" id="{D2E5B1CD-9394-BBF1-A55E-D74FB9924E71}"/>
                </a:ext>
              </a:extLst>
            </p:cNvPr>
            <p:cNvSpPr/>
            <p:nvPr/>
          </p:nvSpPr>
          <p:spPr>
            <a:xfrm>
              <a:off x="7589148" y="5977747"/>
              <a:ext cx="1745724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99,000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5 Sessions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450,000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</p:grp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CE35FB12-CC6A-8F3C-F14D-45852AA4FD64}"/>
              </a:ext>
            </a:extLst>
          </p:cNvPr>
          <p:cNvGrpSpPr/>
          <p:nvPr/>
        </p:nvGrpSpPr>
        <p:grpSpPr>
          <a:xfrm>
            <a:off x="930580" y="6745232"/>
            <a:ext cx="8316077" cy="1358521"/>
            <a:chOff x="930580" y="7115471"/>
            <a:chExt cx="8316077" cy="1358521"/>
          </a:xfrm>
        </p:grpSpPr>
        <p:sp>
          <p:nvSpPr>
            <p:cNvPr id="186" name="Shape 7">
              <a:extLst>
                <a:ext uri="{FF2B5EF4-FFF2-40B4-BE49-F238E27FC236}">
                  <a16:creationId xmlns:a16="http://schemas.microsoft.com/office/drawing/2014/main" id="{5739B7E3-69BB-9F99-DCB2-DD14468D178A}"/>
                </a:ext>
              </a:extLst>
            </p:cNvPr>
            <p:cNvSpPr/>
            <p:nvPr/>
          </p:nvSpPr>
          <p:spPr>
            <a:xfrm>
              <a:off x="1041515" y="744305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90" name="Text 11">
              <a:extLst>
                <a:ext uri="{FF2B5EF4-FFF2-40B4-BE49-F238E27FC236}">
                  <a16:creationId xmlns:a16="http://schemas.microsoft.com/office/drawing/2014/main" id="{7136E984-437D-FEC8-858A-25C555567D65}"/>
                </a:ext>
              </a:extLst>
            </p:cNvPr>
            <p:cNvSpPr/>
            <p:nvPr/>
          </p:nvSpPr>
          <p:spPr>
            <a:xfrm>
              <a:off x="1044692" y="7453338"/>
              <a:ext cx="6143543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LDM (Ulkin) </a:t>
              </a:r>
            </a:p>
            <a:p>
              <a:r>
                <a:rPr lang="en-US" sz="875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Triple ultrasound — Cell activation · Skin remodeling · Effective for sensitive, bruised, swollen or reddened skin</a:t>
              </a:r>
            </a:p>
          </p:txBody>
        </p:sp>
        <p:sp>
          <p:nvSpPr>
            <p:cNvPr id="192" name="Text 15">
              <a:extLst>
                <a:ext uri="{FF2B5EF4-FFF2-40B4-BE49-F238E27FC236}">
                  <a16:creationId xmlns:a16="http://schemas.microsoft.com/office/drawing/2014/main" id="{78F74B78-2BE0-247C-8897-66C6F18F3542}"/>
                </a:ext>
              </a:extLst>
            </p:cNvPr>
            <p:cNvSpPr/>
            <p:nvPr/>
          </p:nvSpPr>
          <p:spPr>
            <a:xfrm>
              <a:off x="7182841" y="7547970"/>
              <a:ext cx="2152031" cy="430887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11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Session (6 min)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11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1 Session (12 min)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2E6D09-FEAF-0998-4498-5874F81B0386}"/>
                </a:ext>
              </a:extLst>
            </p:cNvPr>
            <p:cNvSpPr txBox="1"/>
            <p:nvPr/>
          </p:nvSpPr>
          <p:spPr>
            <a:xfrm>
              <a:off x="930580" y="7115471"/>
              <a:ext cx="160869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Special Care</a:t>
              </a:r>
            </a:p>
          </p:txBody>
        </p:sp>
        <p:sp>
          <p:nvSpPr>
            <p:cNvPr id="198" name="Shape 7">
              <a:extLst>
                <a:ext uri="{FF2B5EF4-FFF2-40B4-BE49-F238E27FC236}">
                  <a16:creationId xmlns:a16="http://schemas.microsoft.com/office/drawing/2014/main" id="{5161B7A2-8B18-C769-1ED3-5320F029655D}"/>
                </a:ext>
              </a:extLst>
            </p:cNvPr>
            <p:cNvSpPr/>
            <p:nvPr/>
          </p:nvSpPr>
          <p:spPr>
            <a:xfrm>
              <a:off x="1041515" y="80746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00" name="Shape 7">
              <a:extLst>
                <a:ext uri="{FF2B5EF4-FFF2-40B4-BE49-F238E27FC236}">
                  <a16:creationId xmlns:a16="http://schemas.microsoft.com/office/drawing/2014/main" id="{33A3A469-8D4F-42BA-B3F5-DD9215ED028B}"/>
                </a:ext>
              </a:extLst>
            </p:cNvPr>
            <p:cNvSpPr/>
            <p:nvPr/>
          </p:nvSpPr>
          <p:spPr>
            <a:xfrm>
              <a:off x="1041515" y="7442226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02" name="Text 11">
              <a:extLst>
                <a:ext uri="{FF2B5EF4-FFF2-40B4-BE49-F238E27FC236}">
                  <a16:creationId xmlns:a16="http://schemas.microsoft.com/office/drawing/2014/main" id="{F0E39CDE-8BF5-284E-028F-001921E2591B}"/>
                </a:ext>
              </a:extLst>
            </p:cNvPr>
            <p:cNvSpPr/>
            <p:nvPr/>
          </p:nvSpPr>
          <p:spPr>
            <a:xfrm>
              <a:off x="1044691" y="8081962"/>
              <a:ext cx="517195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O2Derm  </a:t>
              </a:r>
              <a:r>
                <a:rPr 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High-concentration oxygen · anions — skin regeneration and soothing</a:t>
              </a:r>
            </a:p>
          </p:txBody>
        </p:sp>
        <p:sp>
          <p:nvSpPr>
            <p:cNvPr id="204" name="Text 15">
              <a:extLst>
                <a:ext uri="{FF2B5EF4-FFF2-40B4-BE49-F238E27FC236}">
                  <a16:creationId xmlns:a16="http://schemas.microsoft.com/office/drawing/2014/main" id="{B2F4676D-AE5B-2735-D1EF-1352BE2D48D5}"/>
                </a:ext>
              </a:extLst>
            </p:cNvPr>
            <p:cNvSpPr/>
            <p:nvPr/>
          </p:nvSpPr>
          <p:spPr>
            <a:xfrm>
              <a:off x="8389545" y="8161980"/>
              <a:ext cx="942150" cy="215444"/>
            </a:xfrm>
            <a:prstGeom prst="rect">
              <a:avLst/>
            </a:prstGeom>
            <a:noFill/>
            <a:ln/>
          </p:spPr>
          <p:txBody>
            <a:bodyPr wrap="none" lIns="18000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  <p:sp>
          <p:nvSpPr>
            <p:cNvPr id="206" name="Shape 7">
              <a:extLst>
                <a:ext uri="{FF2B5EF4-FFF2-40B4-BE49-F238E27FC236}">
                  <a16:creationId xmlns:a16="http://schemas.microsoft.com/office/drawing/2014/main" id="{28453F4D-ADB2-29D3-227B-BA898B16E5D3}"/>
                </a:ext>
              </a:extLst>
            </p:cNvPr>
            <p:cNvSpPr/>
            <p:nvPr/>
          </p:nvSpPr>
          <p:spPr>
            <a:xfrm>
              <a:off x="1041515" y="84603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1ACD641D-236A-FC2F-A14A-2049A3627DBF}"/>
              </a:ext>
            </a:extLst>
          </p:cNvPr>
          <p:cNvGrpSpPr/>
          <p:nvPr/>
        </p:nvGrpSpPr>
        <p:grpSpPr>
          <a:xfrm>
            <a:off x="930580" y="8285395"/>
            <a:ext cx="8316077" cy="1496252"/>
            <a:chOff x="930580" y="8746283"/>
            <a:chExt cx="8316077" cy="1496252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1DA1AA6-66B3-A72B-229D-CF6210CA5756}"/>
                </a:ext>
              </a:extLst>
            </p:cNvPr>
            <p:cNvSpPr txBox="1"/>
            <p:nvPr/>
          </p:nvSpPr>
          <p:spPr>
            <a:xfrm>
              <a:off x="930580" y="8746283"/>
              <a:ext cx="105830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Peeling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221" name="Shape 7">
              <a:extLst>
                <a:ext uri="{FF2B5EF4-FFF2-40B4-BE49-F238E27FC236}">
                  <a16:creationId xmlns:a16="http://schemas.microsoft.com/office/drawing/2014/main" id="{9C6D7527-C3D2-59E3-D4B6-6FA35205287E}"/>
                </a:ext>
              </a:extLst>
            </p:cNvPr>
            <p:cNvSpPr/>
            <p:nvPr/>
          </p:nvSpPr>
          <p:spPr>
            <a:xfrm>
              <a:off x="1041515" y="9461006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2" name="Shape 7">
              <a:extLst>
                <a:ext uri="{FF2B5EF4-FFF2-40B4-BE49-F238E27FC236}">
                  <a16:creationId xmlns:a16="http://schemas.microsoft.com/office/drawing/2014/main" id="{9793C565-E5CE-40CB-B6DF-1276451C0616}"/>
                </a:ext>
              </a:extLst>
            </p:cNvPr>
            <p:cNvSpPr/>
            <p:nvPr/>
          </p:nvSpPr>
          <p:spPr>
            <a:xfrm>
              <a:off x="1041515" y="9073038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23" name="Shape 7">
              <a:extLst>
                <a:ext uri="{FF2B5EF4-FFF2-40B4-BE49-F238E27FC236}">
                  <a16:creationId xmlns:a16="http://schemas.microsoft.com/office/drawing/2014/main" id="{6CB910F4-E364-5AEB-0CEA-FCEE0CA93AE9}"/>
                </a:ext>
              </a:extLst>
            </p:cNvPr>
            <p:cNvSpPr/>
            <p:nvPr/>
          </p:nvSpPr>
          <p:spPr>
            <a:xfrm>
              <a:off x="1041515" y="984670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4" name="Shape 7">
              <a:extLst>
                <a:ext uri="{FF2B5EF4-FFF2-40B4-BE49-F238E27FC236}">
                  <a16:creationId xmlns:a16="http://schemas.microsoft.com/office/drawing/2014/main" id="{F7371FDF-066E-EB9B-5437-78F091AACD0A}"/>
                </a:ext>
              </a:extLst>
            </p:cNvPr>
            <p:cNvSpPr/>
            <p:nvPr/>
          </p:nvSpPr>
          <p:spPr>
            <a:xfrm>
              <a:off x="1041515" y="10228928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25" name="Text 11">
              <a:extLst>
                <a:ext uri="{FF2B5EF4-FFF2-40B4-BE49-F238E27FC236}">
                  <a16:creationId xmlns:a16="http://schemas.microsoft.com/office/drawing/2014/main" id="{47D8CA1E-1CE0-4701-20D3-C4D2E5C7E96C}"/>
                </a:ext>
              </a:extLst>
            </p:cNvPr>
            <p:cNvSpPr/>
            <p:nvPr/>
          </p:nvSpPr>
          <p:spPr>
            <a:xfrm>
              <a:off x="1044691" y="9074912"/>
              <a:ext cx="5602460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Pumpkin Peel  </a:t>
              </a:r>
              <a:r>
                <a:rPr 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Natural pumpkin enzymes — Exfoliation · Skin tone · Texture improvement</a:t>
              </a:r>
            </a:p>
          </p:txBody>
        </p:sp>
        <p:sp>
          <p:nvSpPr>
            <p:cNvPr id="226" name="Text 11">
              <a:extLst>
                <a:ext uri="{FF2B5EF4-FFF2-40B4-BE49-F238E27FC236}">
                  <a16:creationId xmlns:a16="http://schemas.microsoft.com/office/drawing/2014/main" id="{20A4C911-ACED-A90B-7C52-85E3C3D70932}"/>
                </a:ext>
              </a:extLst>
            </p:cNvPr>
            <p:cNvSpPr/>
            <p:nvPr/>
          </p:nvSpPr>
          <p:spPr>
            <a:xfrm>
              <a:off x="1044691" y="9468277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Black Peel  </a:t>
              </a:r>
              <a:r>
                <a:rPr 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Removes excess sebum · impurities and refines pores</a:t>
              </a:r>
            </a:p>
          </p:txBody>
        </p:sp>
        <p:sp>
          <p:nvSpPr>
            <p:cNvPr id="227" name="Text 11">
              <a:extLst>
                <a:ext uri="{FF2B5EF4-FFF2-40B4-BE49-F238E27FC236}">
                  <a16:creationId xmlns:a16="http://schemas.microsoft.com/office/drawing/2014/main" id="{4A9F0CA8-7C4B-8312-1982-B9E14DC7E619}"/>
                </a:ext>
              </a:extLst>
            </p:cNvPr>
            <p:cNvSpPr/>
            <p:nvPr/>
          </p:nvSpPr>
          <p:spPr>
            <a:xfrm>
              <a:off x="1044691" y="9850353"/>
              <a:ext cx="440106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PLA Peel  </a:t>
              </a:r>
              <a:r>
                <a:rPr lang="en-US" sz="1000" dirty="0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Low-irritation peel that protects the skin barrier</a:t>
              </a:r>
              <a:endParaRPr lang="ko-KR" alt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endParaRPr>
            </a:p>
          </p:txBody>
        </p:sp>
        <p:sp>
          <p:nvSpPr>
            <p:cNvPr id="228" name="Text 15">
              <a:extLst>
                <a:ext uri="{FF2B5EF4-FFF2-40B4-BE49-F238E27FC236}">
                  <a16:creationId xmlns:a16="http://schemas.microsoft.com/office/drawing/2014/main" id="{7BEE7F56-6008-0391-ED49-A93C862DF40F}"/>
                </a:ext>
              </a:extLst>
            </p:cNvPr>
            <p:cNvSpPr/>
            <p:nvPr/>
          </p:nvSpPr>
          <p:spPr>
            <a:xfrm>
              <a:off x="8582525" y="9154930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</a:t>
              </a:r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0,000</a:t>
              </a:r>
            </a:p>
          </p:txBody>
        </p:sp>
        <p:sp>
          <p:nvSpPr>
            <p:cNvPr id="229" name="Text 15">
              <a:extLst>
                <a:ext uri="{FF2B5EF4-FFF2-40B4-BE49-F238E27FC236}">
                  <a16:creationId xmlns:a16="http://schemas.microsoft.com/office/drawing/2014/main" id="{16C43AAE-0AD0-0921-448A-13C4429ECA94}"/>
                </a:ext>
              </a:extLst>
            </p:cNvPr>
            <p:cNvSpPr/>
            <p:nvPr/>
          </p:nvSpPr>
          <p:spPr>
            <a:xfrm>
              <a:off x="8582525" y="9548295"/>
              <a:ext cx="749170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  <p:sp>
          <p:nvSpPr>
            <p:cNvPr id="231" name="Text 15">
              <a:extLst>
                <a:ext uri="{FF2B5EF4-FFF2-40B4-BE49-F238E27FC236}">
                  <a16:creationId xmlns:a16="http://schemas.microsoft.com/office/drawing/2014/main" id="{CE976CBD-50F1-9384-8413-89D9B087256F}"/>
                </a:ext>
              </a:extLst>
            </p:cNvPr>
            <p:cNvSpPr/>
            <p:nvPr/>
          </p:nvSpPr>
          <p:spPr>
            <a:xfrm>
              <a:off x="8582524" y="9930371"/>
              <a:ext cx="749171" cy="215444"/>
            </a:xfrm>
            <a:prstGeom prst="rect">
              <a:avLst/>
            </a:prstGeom>
            <a:noFill/>
            <a:ln/>
          </p:spPr>
          <p:txBody>
            <a:bodyPr wrap="none" lIns="0" tIns="0" rIns="72000" bIns="0" rtlCol="0" anchor="ctr" anchorCtr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150,000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94FB0D59-50C2-4E9E-6D81-6DEEEAA2FAA1}"/>
              </a:ext>
            </a:extLst>
          </p:cNvPr>
          <p:cNvGrpSpPr/>
          <p:nvPr/>
        </p:nvGrpSpPr>
        <p:grpSpPr>
          <a:xfrm>
            <a:off x="930580" y="11533446"/>
            <a:ext cx="8316077" cy="1600861"/>
            <a:chOff x="930580" y="10514090"/>
            <a:chExt cx="8316077" cy="1600861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48100B5-3CC0-6B22-46A6-CBD0172F0BB2}"/>
                </a:ext>
              </a:extLst>
            </p:cNvPr>
            <p:cNvSpPr txBox="1"/>
            <p:nvPr/>
          </p:nvSpPr>
          <p:spPr>
            <a:xfrm>
              <a:off x="930580" y="10514090"/>
              <a:ext cx="482415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Extraction · Anti-Inflammatory Injection</a:t>
              </a:r>
            </a:p>
          </p:txBody>
        </p:sp>
        <p:sp>
          <p:nvSpPr>
            <p:cNvPr id="247" name="Text 11">
              <a:extLst>
                <a:ext uri="{FF2B5EF4-FFF2-40B4-BE49-F238E27FC236}">
                  <a16:creationId xmlns:a16="http://schemas.microsoft.com/office/drawing/2014/main" id="{9F37C046-027B-6DA5-3337-53FED31B45FD}"/>
                </a:ext>
              </a:extLst>
            </p:cNvPr>
            <p:cNvSpPr/>
            <p:nvPr/>
          </p:nvSpPr>
          <p:spPr>
            <a:xfrm>
              <a:off x="1044691" y="10851509"/>
              <a:ext cx="5857476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Extraction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Specialized removal of sebum, blackheads, whiteheads, comedones (tiny bumps) and pustular acne</a:t>
              </a:r>
            </a:p>
          </p:txBody>
        </p:sp>
        <p:sp>
          <p:nvSpPr>
            <p:cNvPr id="248" name="Text 15">
              <a:extLst>
                <a:ext uri="{FF2B5EF4-FFF2-40B4-BE49-F238E27FC236}">
                  <a16:creationId xmlns:a16="http://schemas.microsoft.com/office/drawing/2014/main" id="{ADA01967-5B9B-AFC4-04BC-CB70EE693C53}"/>
                </a:ext>
              </a:extLst>
            </p:cNvPr>
            <p:cNvSpPr/>
            <p:nvPr/>
          </p:nvSpPr>
          <p:spPr>
            <a:xfrm>
              <a:off x="7653841" y="10852980"/>
              <a:ext cx="1592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ea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Full-Face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80,000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51" name="Text 15">
              <a:extLst>
                <a:ext uri="{FF2B5EF4-FFF2-40B4-BE49-F238E27FC236}">
                  <a16:creationId xmlns:a16="http://schemas.microsoft.com/office/drawing/2014/main" id="{5F479F4F-9772-9116-7275-A929B133CA97}"/>
                </a:ext>
              </a:extLst>
            </p:cNvPr>
            <p:cNvSpPr/>
            <p:nvPr/>
          </p:nvSpPr>
          <p:spPr>
            <a:xfrm>
              <a:off x="7653841" y="11477161"/>
              <a:ext cx="1592816" cy="617208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 xml:space="preserve">1 ea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  <a:p>
              <a:pPr algn="r"/>
              <a:r>
                <a:rPr lang="en-US" sz="12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Full-Face</a:t>
              </a:r>
              <a:r>
                <a:rPr lang="en-US" altLang="ko-KR" sz="1400" dirty="0">
                  <a:solidFill>
                    <a:srgbClr val="2498BD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GC 16 Mono" pitchFamily="34" charset="-120"/>
                </a:rPr>
                <a:t> </a:t>
              </a:r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  <a:endParaRPr lang="en-US" altLang="ko-KR" sz="1400" dirty="0">
                <a:latin typeface="신세계 Bold" panose="02000300000000000000" pitchFamily="50" charset="-127"/>
                <a:ea typeface="신세계 Bold" panose="02000300000000000000" pitchFamily="50" charset="-127"/>
              </a:endParaRPr>
            </a:p>
          </p:txBody>
        </p:sp>
        <p:sp>
          <p:nvSpPr>
            <p:cNvPr id="242" name="Text 11">
              <a:extLst>
                <a:ext uri="{FF2B5EF4-FFF2-40B4-BE49-F238E27FC236}">
                  <a16:creationId xmlns:a16="http://schemas.microsoft.com/office/drawing/2014/main" id="{D1EE07DC-DAF2-593C-AB6D-B3527F32E7C8}"/>
                </a:ext>
              </a:extLst>
            </p:cNvPr>
            <p:cNvSpPr/>
            <p:nvPr/>
          </p:nvSpPr>
          <p:spPr>
            <a:xfrm>
              <a:off x="1044691" y="11475690"/>
              <a:ext cx="5660909" cy="62015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>Anti-Inflammatory Injection</a:t>
              </a:r>
            </a:p>
            <a:p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Direct injection of anti-inflammatory medication into inflamed acne lesions</a:t>
              </a:r>
            </a:p>
          </p:txBody>
        </p:sp>
        <p:sp>
          <p:nvSpPr>
            <p:cNvPr id="244" name="Shape 7">
              <a:extLst>
                <a:ext uri="{FF2B5EF4-FFF2-40B4-BE49-F238E27FC236}">
                  <a16:creationId xmlns:a16="http://schemas.microsoft.com/office/drawing/2014/main" id="{BA3A2FB9-4761-88D5-9C32-AA21F51346D7}"/>
                </a:ext>
              </a:extLst>
            </p:cNvPr>
            <p:cNvSpPr/>
            <p:nvPr/>
          </p:nvSpPr>
          <p:spPr>
            <a:xfrm>
              <a:off x="1041515" y="10840845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245" name="Shape 7">
              <a:extLst>
                <a:ext uri="{FF2B5EF4-FFF2-40B4-BE49-F238E27FC236}">
                  <a16:creationId xmlns:a16="http://schemas.microsoft.com/office/drawing/2014/main" id="{DD789A59-7C1C-DC4A-1C40-3525DB9219F1}"/>
                </a:ext>
              </a:extLst>
            </p:cNvPr>
            <p:cNvSpPr/>
            <p:nvPr/>
          </p:nvSpPr>
          <p:spPr>
            <a:xfrm>
              <a:off x="1041515" y="1147166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46" name="Shape 7">
              <a:extLst>
                <a:ext uri="{FF2B5EF4-FFF2-40B4-BE49-F238E27FC236}">
                  <a16:creationId xmlns:a16="http://schemas.microsoft.com/office/drawing/2014/main" id="{A8BDEEC1-9998-4418-5BB8-5D147C88E30B}"/>
                </a:ext>
              </a:extLst>
            </p:cNvPr>
            <p:cNvSpPr/>
            <p:nvPr/>
          </p:nvSpPr>
          <p:spPr>
            <a:xfrm>
              <a:off x="1041515" y="12101344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</p:grpSp>
      <p:sp>
        <p:nvSpPr>
          <p:cNvPr id="3" name="Shape 7">
            <a:extLst>
              <a:ext uri="{FF2B5EF4-FFF2-40B4-BE49-F238E27FC236}">
                <a16:creationId xmlns:a16="http://schemas.microsoft.com/office/drawing/2014/main" id="{38B0C460-21BF-76C3-D621-E04DB80060B9}"/>
              </a:ext>
            </a:extLst>
          </p:cNvPr>
          <p:cNvSpPr/>
          <p:nvPr/>
        </p:nvSpPr>
        <p:spPr>
          <a:xfrm>
            <a:off x="1044692" y="10175205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9460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A1DE965-013A-0D8B-0A14-246120802500}"/>
              </a:ext>
            </a:extLst>
          </p:cNvPr>
          <p:cNvSpPr/>
          <p:nvPr/>
        </p:nvSpPr>
        <p:spPr>
          <a:xfrm>
            <a:off x="1044692" y="11328327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99A6BA-B960-2AAB-8F87-8684BC3CE20F}"/>
              </a:ext>
            </a:extLst>
          </p:cNvPr>
          <p:cNvSpPr/>
          <p:nvPr/>
        </p:nvSpPr>
        <p:spPr>
          <a:xfrm>
            <a:off x="1047868" y="9789111"/>
            <a:ext cx="5328709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 xml:space="preserve">LaLa Peel  </a:t>
            </a:r>
            <a:r>
              <a:rPr 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Gentle LHA-based peel — Exfoliation · sebum control · Improves texture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567676"/>
            <a:ext cx="7431727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378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 xml:space="preserve">Pink Peel  </a:t>
            </a:r>
            <a:r>
              <a:rPr lang="en-US" sz="984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Gentle peel with brightening and firming ingredients — Clears impurities · Improves skin tone and elasticity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443B8F-3ECF-809D-9A7A-CC9C749ECC5C}"/>
              </a:ext>
            </a:extLst>
          </p:cNvPr>
          <p:cNvSpPr/>
          <p:nvPr/>
        </p:nvSpPr>
        <p:spPr>
          <a:xfrm>
            <a:off x="1047868" y="10949752"/>
            <a:ext cx="6627350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400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 xml:space="preserve">Yes Peel  </a:t>
            </a:r>
            <a:r>
              <a:rPr lang="en-US" sz="1000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Recovery peel that helps restore skin condition — Exfoliation · Improves texture and hydration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B82777E-AAC7-0A9D-65DF-2AFBD2CC237D}"/>
              </a:ext>
            </a:extLst>
          </p:cNvPr>
          <p:cNvSpPr/>
          <p:nvPr/>
        </p:nvSpPr>
        <p:spPr>
          <a:xfrm>
            <a:off x="8585702" y="9869129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altLang="ko-KR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15</a:t>
            </a:r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0,000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85702" y="106476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ACBAC6AD-9F28-EEB5-B7B2-8F3466D2F2B9}"/>
              </a:ext>
            </a:extLst>
          </p:cNvPr>
          <p:cNvSpPr/>
          <p:nvPr/>
        </p:nvSpPr>
        <p:spPr>
          <a:xfrm>
            <a:off x="8585701" y="11029770"/>
            <a:ext cx="749171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170,000</a:t>
            </a:r>
          </a:p>
        </p:txBody>
      </p:sp>
      <p:sp>
        <p:nvSpPr>
          <p:cNvPr id="9001" name="Text 11">
            <a:extLst>
              <a:ext uri="{FF2B5EF4-FFF2-40B4-BE49-F238E27FC236}">
                <a16:creationId xmlns:a16="http://schemas.microsoft.com/office/drawing/2014/main" id="{29117810-E7B9-39AA-9C84-57065433D0D7}"/>
              </a:ext>
            </a:extLst>
          </p:cNvPr>
          <p:cNvSpPr/>
          <p:nvPr/>
        </p:nvSpPr>
        <p:spPr>
          <a:xfrm>
            <a:off x="1047868" y="10182476"/>
            <a:ext cx="7428440" cy="375481"/>
          </a:xfrm>
          <a:prstGeom prst="rect">
            <a:avLst/>
          </a:prstGeom>
          <a:noFill/>
          <a:ln/>
        </p:spPr>
        <p:txBody>
          <a:bodyPr wrap="none" lIns="72000" tIns="0" rIns="72000" bIns="0" rtlCol="0" anchor="ctr" anchorCtr="0">
            <a:normAutofit/>
          </a:bodyPr>
          <a:lstStyle/>
          <a:p>
            <a:r>
              <a:rPr lang="en-US" sz="1114" dirty="0">
                <a:solidFill>
                  <a:srgbClr val="555555"/>
                </a:solidFill>
                <a:latin typeface="신세계 Medium" panose="02000300000000000000" pitchFamily="50" charset="-127"/>
                <a:ea typeface="신세계 Medium" panose="02000300000000000000" pitchFamily="50" charset="-127"/>
                <a:cs typeface="Arial" pitchFamily="34" charset="-120"/>
              </a:rPr>
              <a:t xml:space="preserve">LaLa Jet  </a:t>
            </a:r>
            <a:r>
              <a:rPr lang="en-US" sz="79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Hydro-fountain · hydro-delivery system — ultra-fine water jets clear impurities and sebum from pores · renews skin for a clear, radiant glow</a:t>
            </a:r>
          </a:p>
        </p:txBody>
      </p:sp>
      <p:sp>
        <p:nvSpPr>
          <p:cNvPr id="9002" name="Text 15">
            <a:extLst>
              <a:ext uri="{FF2B5EF4-FFF2-40B4-BE49-F238E27FC236}">
                <a16:creationId xmlns:a16="http://schemas.microsoft.com/office/drawing/2014/main" id="{495700E0-0105-01F4-C4C1-D002FEFE9604}"/>
              </a:ext>
            </a:extLst>
          </p:cNvPr>
          <p:cNvSpPr/>
          <p:nvPr/>
        </p:nvSpPr>
        <p:spPr>
          <a:xfrm>
            <a:off x="8585702" y="10262494"/>
            <a:ext cx="749170" cy="215444"/>
          </a:xfrm>
          <a:prstGeom prst="rect">
            <a:avLst/>
          </a:prstGeom>
          <a:noFill/>
          <a:ln/>
        </p:spPr>
        <p:txBody>
          <a:bodyPr wrap="none" lIns="0" tIns="0" rIns="72000" bIns="0" rtlCol="0" anchor="ctr" anchorCtr="0">
            <a:spAutoFit/>
          </a:bodyPr>
          <a:lstStyle/>
          <a:p>
            <a:pPr algn="r"/>
            <a:r>
              <a:rPr lang="en-US" sz="1400" dirty="0">
                <a:solidFill>
                  <a:srgbClr val="1A1A1A"/>
                </a:solidFill>
                <a:latin typeface="신세계 Bold" panose="02000300000000000000" pitchFamily="50" charset="-127"/>
                <a:ea typeface="신세계 Bold" panose="02000300000000000000" pitchFamily="50" charset="-127"/>
                <a:cs typeface="Arial" pitchFamily="34" charset="-120"/>
              </a:rPr>
              <a:t>200,000</a:t>
            </a:r>
          </a:p>
        </p:txBody>
      </p:sp>
      <p:sp>
        <p:nvSpPr>
          <p:cNvPr id="9003" name="Shape 7">
            <a:extLst>
              <a:ext uri="{FF2B5EF4-FFF2-40B4-BE49-F238E27FC236}">
                <a16:creationId xmlns:a16="http://schemas.microsoft.com/office/drawing/2014/main" id="{FC4C5FFA-75B2-1975-8ADB-F325A40134B4}"/>
              </a:ext>
            </a:extLst>
          </p:cNvPr>
          <p:cNvSpPr/>
          <p:nvPr/>
        </p:nvSpPr>
        <p:spPr>
          <a:xfrm>
            <a:off x="1044692" y="10560899"/>
            <a:ext cx="8205142" cy="13607"/>
          </a:xfrm>
          <a:prstGeom prst="rect">
            <a:avLst/>
          </a:prstGeom>
          <a:solidFill>
            <a:srgbClr val="CCCCC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123865"/>
          </a:xfrm>
          <a:prstGeom prst="rect">
            <a:avLst/>
          </a:prstGeom>
          <a:gradFill rotWithShape="1">
            <a:gsLst>
              <a:gs pos="0">
                <a:srgbClr val="B2E3F2">
                  <a:alpha val="100000"/>
                </a:srgbClr>
              </a:gs>
              <a:gs pos="75000">
                <a:srgbClr val="D6F0F8">
                  <a:alpha val="30000"/>
                </a:srgbClr>
              </a:gs>
              <a:gs pos="100000">
                <a:srgbClr val="D6F0F8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3"/>
          <p:cNvSpPr/>
          <p:nvPr/>
        </p:nvSpPr>
        <p:spPr>
          <a:xfrm>
            <a:off x="-514350" y="871536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CERA CELL &amp; IV THERAPY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-514350" y="1072879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IV Therapy / Pain Care</a:t>
            </a:r>
            <a:endParaRPr lang="ko-KR" altLang="en-US" sz="3150" b="1" kern="0" spc="-63" dirty="0">
              <a:solidFill>
                <a:srgbClr val="2498BD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-514350" y="1546365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14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Custom IV drips for your condition, plus pain care for a comfortable procedure</a:t>
            </a:r>
            <a:endParaRPr lang="ko-KR" altLang="en-US" sz="1275" dirty="0">
              <a:solidFill>
                <a:srgbClr val="6E6E6E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Arial" pitchFamily="34" charset="-120"/>
            </a:endParaRPr>
          </a:p>
        </p:txBody>
      </p:sp>
      <p:sp>
        <p:nvSpPr>
          <p:cNvPr id="5" name="Text 96">
            <a:extLst>
              <a:ext uri="{FF2B5EF4-FFF2-40B4-BE49-F238E27FC236}">
                <a16:creationId xmlns:a16="http://schemas.microsoft.com/office/drawing/2014/main" id="{61CA324E-1327-E37D-0D08-F19B7B0D7007}"/>
              </a:ext>
            </a:extLst>
          </p:cNvPr>
          <p:cNvSpPr/>
          <p:nvPr/>
        </p:nvSpPr>
        <p:spPr>
          <a:xfrm>
            <a:off x="529167" y="13503293"/>
            <a:ext cx="9237133" cy="187694"/>
          </a:xfrm>
          <a:prstGeom prst="rect">
            <a:avLst/>
          </a:prstGeom>
          <a:noFill/>
          <a:ln/>
        </p:spPr>
        <p:txBody>
          <a:bodyPr wrap="square" lIns="25400" tIns="25400" rIns="5148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88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* VAT 10% excluded.</a:t>
            </a:r>
            <a:endParaRPr lang="en-US" sz="101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444193F4-1660-6C04-D340-B7489DA7E0BA}"/>
              </a:ext>
            </a:extLst>
          </p:cNvPr>
          <p:cNvGrpSpPr/>
          <p:nvPr/>
        </p:nvGrpSpPr>
        <p:grpSpPr>
          <a:xfrm>
            <a:off x="930580" y="2720019"/>
            <a:ext cx="8319253" cy="3077170"/>
            <a:chOff x="930580" y="2720019"/>
            <a:chExt cx="8319253" cy="307717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C8B7B09-C464-02CA-AAB1-CFAF62EE4D7A}"/>
                </a:ext>
              </a:extLst>
            </p:cNvPr>
            <p:cNvSpPr txBox="1"/>
            <p:nvPr/>
          </p:nvSpPr>
          <p:spPr>
            <a:xfrm>
              <a:off x="930580" y="2720019"/>
              <a:ext cx="140561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IV Therapy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40" name="Shape 7">
              <a:extLst>
                <a:ext uri="{FF2B5EF4-FFF2-40B4-BE49-F238E27FC236}">
                  <a16:creationId xmlns:a16="http://schemas.microsoft.com/office/drawing/2014/main" id="{45C5A187-DA64-8B2C-88DC-0F404AE7223D}"/>
                </a:ext>
              </a:extLst>
            </p:cNvPr>
            <p:cNvSpPr/>
            <p:nvPr/>
          </p:nvSpPr>
          <p:spPr>
            <a:xfrm>
              <a:off x="1041515" y="3046774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42" name="Shape 7">
              <a:extLst>
                <a:ext uri="{FF2B5EF4-FFF2-40B4-BE49-F238E27FC236}">
                  <a16:creationId xmlns:a16="http://schemas.microsoft.com/office/drawing/2014/main" id="{A3DEF85D-64E2-6526-E202-D5AC4416035C}"/>
                </a:ext>
              </a:extLst>
            </p:cNvPr>
            <p:cNvSpPr/>
            <p:nvPr/>
          </p:nvSpPr>
          <p:spPr>
            <a:xfrm>
              <a:off x="1044691" y="346522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3" name="Shape 7">
              <a:extLst>
                <a:ext uri="{FF2B5EF4-FFF2-40B4-BE49-F238E27FC236}">
                  <a16:creationId xmlns:a16="http://schemas.microsoft.com/office/drawing/2014/main" id="{20F5E084-F1CF-1670-3380-8A61D633D289}"/>
                </a:ext>
              </a:extLst>
            </p:cNvPr>
            <p:cNvSpPr/>
            <p:nvPr/>
          </p:nvSpPr>
          <p:spPr>
            <a:xfrm>
              <a:off x="1044691" y="38541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4" name="Shape 7">
              <a:extLst>
                <a:ext uri="{FF2B5EF4-FFF2-40B4-BE49-F238E27FC236}">
                  <a16:creationId xmlns:a16="http://schemas.microsoft.com/office/drawing/2014/main" id="{B74B6B83-FA96-9203-A913-2174A5985524}"/>
                </a:ext>
              </a:extLst>
            </p:cNvPr>
            <p:cNvSpPr/>
            <p:nvPr/>
          </p:nvSpPr>
          <p:spPr>
            <a:xfrm>
              <a:off x="1044691" y="4239807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45" name="Shape 7">
              <a:extLst>
                <a:ext uri="{FF2B5EF4-FFF2-40B4-BE49-F238E27FC236}">
                  <a16:creationId xmlns:a16="http://schemas.microsoft.com/office/drawing/2014/main" id="{DF69FC24-3DDD-A4E6-B18B-EE71249F9364}"/>
                </a:ext>
              </a:extLst>
            </p:cNvPr>
            <p:cNvSpPr/>
            <p:nvPr/>
          </p:nvSpPr>
          <p:spPr>
            <a:xfrm>
              <a:off x="1041515" y="4625210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33" name="Text 11">
              <a:extLst>
                <a:ext uri="{FF2B5EF4-FFF2-40B4-BE49-F238E27FC236}">
                  <a16:creationId xmlns:a16="http://schemas.microsoft.com/office/drawing/2014/main" id="{B41CCB5D-3BBF-8DAA-7BF9-894077051EF9}"/>
                </a:ext>
              </a:extLst>
            </p:cNvPr>
            <p:cNvSpPr/>
            <p:nvPr/>
          </p:nvSpPr>
          <p:spPr>
            <a:xfrm>
              <a:off x="1047867" y="309130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Diet IV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Boosts metabolism</a:t>
              </a:r>
            </a:p>
          </p:txBody>
        </p:sp>
        <p:sp>
          <p:nvSpPr>
            <p:cNvPr id="134" name="Text 15">
              <a:extLst>
                <a:ext uri="{FF2B5EF4-FFF2-40B4-BE49-F238E27FC236}">
                  <a16:creationId xmlns:a16="http://schemas.microsoft.com/office/drawing/2014/main" id="{FCCD0A01-1963-DBC7-E109-BD55FFF31A95}"/>
                </a:ext>
              </a:extLst>
            </p:cNvPr>
            <p:cNvSpPr/>
            <p:nvPr/>
          </p:nvSpPr>
          <p:spPr>
            <a:xfrm>
              <a:off x="6984385" y="309277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90,000</a:t>
              </a:r>
            </a:p>
          </p:txBody>
        </p:sp>
        <p:sp>
          <p:nvSpPr>
            <p:cNvPr id="131" name="Text 11">
              <a:extLst>
                <a:ext uri="{FF2B5EF4-FFF2-40B4-BE49-F238E27FC236}">
                  <a16:creationId xmlns:a16="http://schemas.microsoft.com/office/drawing/2014/main" id="{F6A191FD-F6FC-4182-D7BA-CDEFC6C92E76}"/>
                </a:ext>
              </a:extLst>
            </p:cNvPr>
            <p:cNvSpPr/>
            <p:nvPr/>
          </p:nvSpPr>
          <p:spPr>
            <a:xfrm>
              <a:off x="1047867" y="347681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Licorice Injection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Liver Detox · Anti-Inflammation · Fatigue Relief</a:t>
              </a:r>
            </a:p>
          </p:txBody>
        </p:sp>
        <p:sp>
          <p:nvSpPr>
            <p:cNvPr id="132" name="Text 15">
              <a:extLst>
                <a:ext uri="{FF2B5EF4-FFF2-40B4-BE49-F238E27FC236}">
                  <a16:creationId xmlns:a16="http://schemas.microsoft.com/office/drawing/2014/main" id="{9E517E47-18B6-E064-4980-163BE0EF2806}"/>
                </a:ext>
              </a:extLst>
            </p:cNvPr>
            <p:cNvSpPr/>
            <p:nvPr/>
          </p:nvSpPr>
          <p:spPr>
            <a:xfrm>
              <a:off x="6984385" y="347828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9" name="Text 11">
              <a:extLst>
                <a:ext uri="{FF2B5EF4-FFF2-40B4-BE49-F238E27FC236}">
                  <a16:creationId xmlns:a16="http://schemas.microsoft.com/office/drawing/2014/main" id="{778FFFE8-DC0E-25B9-9698-8A40B2CF5A7E}"/>
                </a:ext>
              </a:extLst>
            </p:cNvPr>
            <p:cNvSpPr/>
            <p:nvPr/>
          </p:nvSpPr>
          <p:spPr>
            <a:xfrm>
              <a:off x="1044691" y="3868655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Multivitamin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Eliminates Free Radicals · Improves Condition</a:t>
              </a:r>
            </a:p>
          </p:txBody>
        </p:sp>
        <p:sp>
          <p:nvSpPr>
            <p:cNvPr id="130" name="Text 15">
              <a:extLst>
                <a:ext uri="{FF2B5EF4-FFF2-40B4-BE49-F238E27FC236}">
                  <a16:creationId xmlns:a16="http://schemas.microsoft.com/office/drawing/2014/main" id="{A01248E2-4AA2-5102-8CEF-E007F93E9CD2}"/>
                </a:ext>
              </a:extLst>
            </p:cNvPr>
            <p:cNvSpPr/>
            <p:nvPr/>
          </p:nvSpPr>
          <p:spPr>
            <a:xfrm>
              <a:off x="6984385" y="3870126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27" name="Text 11">
              <a:extLst>
                <a:ext uri="{FF2B5EF4-FFF2-40B4-BE49-F238E27FC236}">
                  <a16:creationId xmlns:a16="http://schemas.microsoft.com/office/drawing/2014/main" id="{6EB77E8A-257D-A0B5-110C-432BBB9EF57B}"/>
                </a:ext>
              </a:extLst>
            </p:cNvPr>
            <p:cNvSpPr/>
            <p:nvPr/>
          </p:nvSpPr>
          <p:spPr>
            <a:xfrm>
              <a:off x="1044691" y="4248114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Garlic Injection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High-concentration fatigue-recovery ingredients</a:t>
              </a:r>
            </a:p>
          </p:txBody>
        </p:sp>
        <p:sp>
          <p:nvSpPr>
            <p:cNvPr id="128" name="Text 15">
              <a:extLst>
                <a:ext uri="{FF2B5EF4-FFF2-40B4-BE49-F238E27FC236}">
                  <a16:creationId xmlns:a16="http://schemas.microsoft.com/office/drawing/2014/main" id="{86850444-9FB1-16CC-5A77-4D3A8EA767D9}"/>
                </a:ext>
              </a:extLst>
            </p:cNvPr>
            <p:cNvSpPr/>
            <p:nvPr/>
          </p:nvSpPr>
          <p:spPr>
            <a:xfrm>
              <a:off x="6984385" y="4249585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160" name="Shape 7">
              <a:extLst>
                <a:ext uri="{FF2B5EF4-FFF2-40B4-BE49-F238E27FC236}">
                  <a16:creationId xmlns:a16="http://schemas.microsoft.com/office/drawing/2014/main" id="{41E553EE-7FF3-AFD2-5C53-AC3E4E7A172E}"/>
                </a:ext>
              </a:extLst>
            </p:cNvPr>
            <p:cNvSpPr/>
            <p:nvPr/>
          </p:nvSpPr>
          <p:spPr>
            <a:xfrm>
              <a:off x="1044691" y="50124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1" name="Shape 7">
              <a:extLst>
                <a:ext uri="{FF2B5EF4-FFF2-40B4-BE49-F238E27FC236}">
                  <a16:creationId xmlns:a16="http://schemas.microsoft.com/office/drawing/2014/main" id="{62BD0988-054B-D110-B96F-535D35711D48}"/>
                </a:ext>
              </a:extLst>
            </p:cNvPr>
            <p:cNvSpPr/>
            <p:nvPr/>
          </p:nvSpPr>
          <p:spPr>
            <a:xfrm>
              <a:off x="1044691" y="5398179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2" name="Shape 7">
              <a:extLst>
                <a:ext uri="{FF2B5EF4-FFF2-40B4-BE49-F238E27FC236}">
                  <a16:creationId xmlns:a16="http://schemas.microsoft.com/office/drawing/2014/main" id="{EC165F8A-C3C8-5183-69EA-CCD0E9FFA5A6}"/>
                </a:ext>
              </a:extLst>
            </p:cNvPr>
            <p:cNvSpPr/>
            <p:nvPr/>
          </p:nvSpPr>
          <p:spPr>
            <a:xfrm>
              <a:off x="1044691" y="5783582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64" name="Text 11">
              <a:extLst>
                <a:ext uri="{FF2B5EF4-FFF2-40B4-BE49-F238E27FC236}">
                  <a16:creationId xmlns:a16="http://schemas.microsoft.com/office/drawing/2014/main" id="{9568C523-310D-AC2B-DF39-980B57B1FA24}"/>
                </a:ext>
              </a:extLst>
            </p:cNvPr>
            <p:cNvSpPr/>
            <p:nvPr/>
          </p:nvSpPr>
          <p:spPr>
            <a:xfrm>
              <a:off x="1047867" y="463518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Cinderella Injection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Antioxidant · Diet</a:t>
              </a:r>
            </a:p>
          </p:txBody>
        </p:sp>
        <p:sp>
          <p:nvSpPr>
            <p:cNvPr id="165" name="Text 15">
              <a:extLst>
                <a:ext uri="{FF2B5EF4-FFF2-40B4-BE49-F238E27FC236}">
                  <a16:creationId xmlns:a16="http://schemas.microsoft.com/office/drawing/2014/main" id="{B88B01D8-8F2A-421E-2740-91ED982107A8}"/>
                </a:ext>
              </a:extLst>
            </p:cNvPr>
            <p:cNvSpPr/>
            <p:nvPr/>
          </p:nvSpPr>
          <p:spPr>
            <a:xfrm>
              <a:off x="6984385" y="463665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67" name="Text 11">
              <a:extLst>
                <a:ext uri="{FF2B5EF4-FFF2-40B4-BE49-F238E27FC236}">
                  <a16:creationId xmlns:a16="http://schemas.microsoft.com/office/drawing/2014/main" id="{83A6A789-FB4C-6AE9-4906-4A2B6D3AC002}"/>
                </a:ext>
              </a:extLst>
            </p:cNvPr>
            <p:cNvSpPr/>
            <p:nvPr/>
          </p:nvSpPr>
          <p:spPr>
            <a:xfrm>
              <a:off x="1047867" y="5027027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Placenta Injection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Fatigue Recovery · Immunity Boost</a:t>
              </a:r>
            </a:p>
          </p:txBody>
        </p:sp>
        <p:sp>
          <p:nvSpPr>
            <p:cNvPr id="168" name="Text 15">
              <a:extLst>
                <a:ext uri="{FF2B5EF4-FFF2-40B4-BE49-F238E27FC236}">
                  <a16:creationId xmlns:a16="http://schemas.microsoft.com/office/drawing/2014/main" id="{4E3A5C3F-15DB-C662-12BF-097C39DFFD28}"/>
                </a:ext>
              </a:extLst>
            </p:cNvPr>
            <p:cNvSpPr/>
            <p:nvPr/>
          </p:nvSpPr>
          <p:spPr>
            <a:xfrm>
              <a:off x="6984385" y="5028498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  <p:sp>
          <p:nvSpPr>
            <p:cNvPr id="170" name="Text 11">
              <a:extLst>
                <a:ext uri="{FF2B5EF4-FFF2-40B4-BE49-F238E27FC236}">
                  <a16:creationId xmlns:a16="http://schemas.microsoft.com/office/drawing/2014/main" id="{445C9434-AE1D-A88D-76E2-9277250420ED}"/>
                </a:ext>
              </a:extLst>
            </p:cNvPr>
            <p:cNvSpPr/>
            <p:nvPr/>
          </p:nvSpPr>
          <p:spPr>
            <a:xfrm>
              <a:off x="1047867" y="5406486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Whitening Injection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Clear Skin · Fatigue Recovery</a:t>
              </a:r>
            </a:p>
          </p:txBody>
        </p:sp>
        <p:sp>
          <p:nvSpPr>
            <p:cNvPr id="171" name="Text 15">
              <a:extLst>
                <a:ext uri="{FF2B5EF4-FFF2-40B4-BE49-F238E27FC236}">
                  <a16:creationId xmlns:a16="http://schemas.microsoft.com/office/drawing/2014/main" id="{6BD0D8BE-301A-BB19-2A7C-65FDC6DB92AB}"/>
                </a:ext>
              </a:extLst>
            </p:cNvPr>
            <p:cNvSpPr/>
            <p:nvPr/>
          </p:nvSpPr>
          <p:spPr>
            <a:xfrm>
              <a:off x="6984385" y="5407957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30,000</a:t>
              </a: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22AE4EBC-9ACA-147C-2EE4-7F32DE254CD1}"/>
              </a:ext>
            </a:extLst>
          </p:cNvPr>
          <p:cNvGrpSpPr/>
          <p:nvPr/>
        </p:nvGrpSpPr>
        <p:grpSpPr>
          <a:xfrm>
            <a:off x="930580" y="5970702"/>
            <a:ext cx="8316077" cy="1885142"/>
            <a:chOff x="930580" y="6807168"/>
            <a:chExt cx="8316077" cy="1885142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B5621D9-1F17-6327-7150-4503B39BABDF}"/>
                </a:ext>
              </a:extLst>
            </p:cNvPr>
            <p:cNvSpPr txBox="1"/>
            <p:nvPr/>
          </p:nvSpPr>
          <p:spPr>
            <a:xfrm>
              <a:off x="930580" y="6807168"/>
              <a:ext cx="1264837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>
                  <a:latin typeface="신세계 SemiBold" panose="02000300000000000000" pitchFamily="50" charset="-127"/>
                  <a:ea typeface="신세계 SemiBold" panose="02000300000000000000" pitchFamily="50" charset="-127"/>
                  <a:cs typeface="Sinsegye" pitchFamily="34" charset="-120"/>
                </a:rPr>
                <a:t>Pain Care</a:t>
              </a:r>
              <a:endParaRPr lang="ko-KR" altLang="en-US" dirty="0">
                <a:latin typeface="신세계 SemiBold" panose="02000300000000000000" pitchFamily="50" charset="-127"/>
                <a:ea typeface="신세계 SemiBold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175" name="Shape 7">
              <a:extLst>
                <a:ext uri="{FF2B5EF4-FFF2-40B4-BE49-F238E27FC236}">
                  <a16:creationId xmlns:a16="http://schemas.microsoft.com/office/drawing/2014/main" id="{D3CE2020-BF4C-3450-3AAD-9350D5AA3EA9}"/>
                </a:ext>
              </a:extLst>
            </p:cNvPr>
            <p:cNvSpPr/>
            <p:nvPr/>
          </p:nvSpPr>
          <p:spPr>
            <a:xfrm>
              <a:off x="1041515" y="7521891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6" name="Shape 7">
              <a:extLst>
                <a:ext uri="{FF2B5EF4-FFF2-40B4-BE49-F238E27FC236}">
                  <a16:creationId xmlns:a16="http://schemas.microsoft.com/office/drawing/2014/main" id="{CD32FBD2-D877-0E5C-A1CB-D69F19CD22C1}"/>
                </a:ext>
              </a:extLst>
            </p:cNvPr>
            <p:cNvSpPr/>
            <p:nvPr/>
          </p:nvSpPr>
          <p:spPr>
            <a:xfrm>
              <a:off x="1041515" y="7133923"/>
              <a:ext cx="8205142" cy="13607"/>
            </a:xfrm>
            <a:prstGeom prst="rect">
              <a:avLst/>
            </a:prstGeom>
            <a:solidFill>
              <a:srgbClr val="2498BD"/>
            </a:solidFill>
            <a:ln/>
          </p:spPr>
        </p:sp>
        <p:sp>
          <p:nvSpPr>
            <p:cNvPr id="177" name="Shape 7">
              <a:extLst>
                <a:ext uri="{FF2B5EF4-FFF2-40B4-BE49-F238E27FC236}">
                  <a16:creationId xmlns:a16="http://schemas.microsoft.com/office/drawing/2014/main" id="{5B3643A4-1CD3-22C2-E7FB-A0F102AD494D}"/>
                </a:ext>
              </a:extLst>
            </p:cNvPr>
            <p:cNvSpPr/>
            <p:nvPr/>
          </p:nvSpPr>
          <p:spPr>
            <a:xfrm>
              <a:off x="1041515" y="7907585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8" name="Shape 7">
              <a:extLst>
                <a:ext uri="{FF2B5EF4-FFF2-40B4-BE49-F238E27FC236}">
                  <a16:creationId xmlns:a16="http://schemas.microsoft.com/office/drawing/2014/main" id="{DD0F9A73-47E2-FE6B-418F-0B08881AEB7C}"/>
                </a:ext>
              </a:extLst>
            </p:cNvPr>
            <p:cNvSpPr/>
            <p:nvPr/>
          </p:nvSpPr>
          <p:spPr>
            <a:xfrm>
              <a:off x="1041515" y="828981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179" name="Shape 7">
              <a:extLst>
                <a:ext uri="{FF2B5EF4-FFF2-40B4-BE49-F238E27FC236}">
                  <a16:creationId xmlns:a16="http://schemas.microsoft.com/office/drawing/2014/main" id="{BD900D24-BEC6-A097-FA29-3EC27A654B8D}"/>
                </a:ext>
              </a:extLst>
            </p:cNvPr>
            <p:cNvSpPr/>
            <p:nvPr/>
          </p:nvSpPr>
          <p:spPr>
            <a:xfrm>
              <a:off x="1041515" y="8678703"/>
              <a:ext cx="8205142" cy="13607"/>
            </a:xfrm>
            <a:prstGeom prst="rect">
              <a:avLst/>
            </a:prstGeom>
            <a:solidFill>
              <a:srgbClr val="CCCCCC"/>
            </a:solidFill>
            <a:ln/>
          </p:spPr>
        </p:sp>
        <p:sp>
          <p:nvSpPr>
            <p:cNvPr id="210" name="Text 11">
              <a:extLst>
                <a:ext uri="{FF2B5EF4-FFF2-40B4-BE49-F238E27FC236}">
                  <a16:creationId xmlns:a16="http://schemas.microsoft.com/office/drawing/2014/main" id="{5584789F-696A-3BB5-9321-89A5E7451BEA}"/>
                </a:ext>
              </a:extLst>
            </p:cNvPr>
            <p:cNvSpPr/>
            <p:nvPr/>
          </p:nvSpPr>
          <p:spPr>
            <a:xfrm>
              <a:off x="1044691" y="7144588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Numbing Cream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Temporarily dulls surface sensation to ease pain · discomfort</a:t>
              </a:r>
            </a:p>
          </p:txBody>
        </p:sp>
        <p:sp>
          <p:nvSpPr>
            <p:cNvPr id="211" name="Text 15">
              <a:extLst>
                <a:ext uri="{FF2B5EF4-FFF2-40B4-BE49-F238E27FC236}">
                  <a16:creationId xmlns:a16="http://schemas.microsoft.com/office/drawing/2014/main" id="{1FB5B980-6260-CCEE-D251-0D135A65E29C}"/>
                </a:ext>
              </a:extLst>
            </p:cNvPr>
            <p:cNvSpPr/>
            <p:nvPr/>
          </p:nvSpPr>
          <p:spPr>
            <a:xfrm>
              <a:off x="6981209" y="7146059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10,000</a:t>
              </a:r>
            </a:p>
          </p:txBody>
        </p:sp>
        <p:sp>
          <p:nvSpPr>
            <p:cNvPr id="208" name="Text 11">
              <a:extLst>
                <a:ext uri="{FF2B5EF4-FFF2-40B4-BE49-F238E27FC236}">
                  <a16:creationId xmlns:a16="http://schemas.microsoft.com/office/drawing/2014/main" id="{C6EBC41E-87B5-3A70-05A3-746B924EFEC0}"/>
                </a:ext>
              </a:extLst>
            </p:cNvPr>
            <p:cNvSpPr/>
            <p:nvPr/>
          </p:nvSpPr>
          <p:spPr>
            <a:xfrm>
              <a:off x="1044691" y="7536433"/>
              <a:ext cx="6394940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Local Anesthesia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Anesthetic injected directly into the treatment area to temporarily block pain</a:t>
              </a:r>
            </a:p>
          </p:txBody>
        </p:sp>
        <p:sp>
          <p:nvSpPr>
            <p:cNvPr id="209" name="Text 15">
              <a:extLst>
                <a:ext uri="{FF2B5EF4-FFF2-40B4-BE49-F238E27FC236}">
                  <a16:creationId xmlns:a16="http://schemas.microsoft.com/office/drawing/2014/main" id="{3F25672C-E1B4-F749-784A-87D165E26480}"/>
                </a:ext>
              </a:extLst>
            </p:cNvPr>
            <p:cNvSpPr/>
            <p:nvPr/>
          </p:nvSpPr>
          <p:spPr>
            <a:xfrm>
              <a:off x="6981209" y="7537904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50,000</a:t>
              </a:r>
            </a:p>
          </p:txBody>
        </p:sp>
        <p:sp>
          <p:nvSpPr>
            <p:cNvPr id="206" name="Text 11">
              <a:extLst>
                <a:ext uri="{FF2B5EF4-FFF2-40B4-BE49-F238E27FC236}">
                  <a16:creationId xmlns:a16="http://schemas.microsoft.com/office/drawing/2014/main" id="{6B1C0CD0-2F6E-2360-2E27-7088E661EE31}"/>
                </a:ext>
              </a:extLst>
            </p:cNvPr>
            <p:cNvSpPr/>
            <p:nvPr/>
          </p:nvSpPr>
          <p:spPr>
            <a:xfrm>
              <a:off x="1044691" y="7915892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Sleep Sedation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Procedure performed while you rest comfortably under IV sedation</a:t>
              </a:r>
            </a:p>
          </p:txBody>
        </p:sp>
        <p:sp>
          <p:nvSpPr>
            <p:cNvPr id="207" name="Text 15">
              <a:extLst>
                <a:ext uri="{FF2B5EF4-FFF2-40B4-BE49-F238E27FC236}">
                  <a16:creationId xmlns:a16="http://schemas.microsoft.com/office/drawing/2014/main" id="{A315952E-6986-2B0D-B358-B650742F3979}"/>
                </a:ext>
              </a:extLst>
            </p:cNvPr>
            <p:cNvSpPr/>
            <p:nvPr/>
          </p:nvSpPr>
          <p:spPr>
            <a:xfrm>
              <a:off x="6981209" y="7917363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altLang="ko-KR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200,000</a:t>
              </a:r>
            </a:p>
          </p:txBody>
        </p:sp>
        <p:sp>
          <p:nvSpPr>
            <p:cNvPr id="204" name="Text 11">
              <a:extLst>
                <a:ext uri="{FF2B5EF4-FFF2-40B4-BE49-F238E27FC236}">
                  <a16:creationId xmlns:a16="http://schemas.microsoft.com/office/drawing/2014/main" id="{7D5BDAA9-0CD1-EEEB-B8EE-E0E59F742C5F}"/>
                </a:ext>
              </a:extLst>
            </p:cNvPr>
            <p:cNvSpPr/>
            <p:nvPr/>
          </p:nvSpPr>
          <p:spPr>
            <a:xfrm>
              <a:off x="1044691" y="8301400"/>
              <a:ext cx="5660909" cy="375481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rmAutofit/>
            </a:bodyPr>
            <a:lstStyle/>
            <a:p>
              <a:r>
                <a:rPr lang="en-US" sz="1400" dirty="0">
                  <a:solidFill>
                    <a:srgbClr val="555555"/>
                  </a:solidFill>
                  <a:latin typeface="신세계 Medium" panose="02000300000000000000" pitchFamily="50" charset="-127"/>
                  <a:ea typeface="신세계 Medium" panose="02000300000000000000" pitchFamily="50" charset="-127"/>
                  <a:cs typeface="Arial" pitchFamily="34" charset="-120"/>
                </a:rPr>
                <a:t xml:space="preserve">Numbing IV  </a:t>
              </a:r>
              <a:r>
                <a:rPr lang="en-US" sz="10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Arial" pitchFamily="34" charset="-120"/>
                </a:rPr>
                <a:t>An IV with analgesic ingredients to ease discomfort during treatment</a:t>
              </a:r>
            </a:p>
          </p:txBody>
        </p:sp>
        <p:sp>
          <p:nvSpPr>
            <p:cNvPr id="205" name="Text 15">
              <a:extLst>
                <a:ext uri="{FF2B5EF4-FFF2-40B4-BE49-F238E27FC236}">
                  <a16:creationId xmlns:a16="http://schemas.microsoft.com/office/drawing/2014/main" id="{01B6FCA4-5566-F718-6430-3289539E63DF}"/>
                </a:ext>
              </a:extLst>
            </p:cNvPr>
            <p:cNvSpPr/>
            <p:nvPr/>
          </p:nvSpPr>
          <p:spPr>
            <a:xfrm>
              <a:off x="6981209" y="8302871"/>
              <a:ext cx="2265448" cy="372539"/>
            </a:xfrm>
            <a:prstGeom prst="rect">
              <a:avLst/>
            </a:prstGeom>
            <a:noFill/>
            <a:ln/>
          </p:spPr>
          <p:txBody>
            <a:bodyPr wrap="none" lIns="72000" tIns="0" rIns="72000" bIns="0" rtlCol="0" anchor="ctr" anchorCtr="0">
              <a:noAutofit/>
            </a:bodyPr>
            <a:lstStyle/>
            <a:p>
              <a:pPr algn="r"/>
              <a:r>
                <a:rPr lang="en-US" sz="1400" dirty="0">
                  <a:solidFill>
                    <a:srgbClr val="1A1A1A"/>
                  </a:solidFill>
                  <a:latin typeface="신세계 Bold" panose="02000300000000000000" pitchFamily="50" charset="-127"/>
                  <a:ea typeface="신세계 Bold" panose="02000300000000000000" pitchFamily="50" charset="-127"/>
                  <a:cs typeface="Arial" pitchFamily="34" charset="-120"/>
                </a:rPr>
                <a:t>100,000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2504</Words>
  <Application>Microsoft Office PowerPoint</Application>
  <PresentationFormat>사용자 지정</PresentationFormat>
  <Paragraphs>639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신세계 SemiBold</vt:lpstr>
      <vt:lpstr>신세계 Medium</vt:lpstr>
      <vt:lpstr>신세계 Bold</vt:lpstr>
      <vt:lpstr>신세계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Eunseon Kim</cp:lastModifiedBy>
  <cp:revision>83</cp:revision>
  <cp:lastPrinted>2026-07-22T06:48:58Z</cp:lastPrinted>
  <dcterms:created xsi:type="dcterms:W3CDTF">2026-07-20T01:44:47Z</dcterms:created>
  <dcterms:modified xsi:type="dcterms:W3CDTF">2026-10-20T03:14:36Z</dcterms:modified>
</cp:coreProperties>
</file>