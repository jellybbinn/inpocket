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7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4"/>
  </p:notesMasterIdLst>
  <p:sldIdLst>
    <p:sldId id="270" r:id="rId8"/>
    <p:sldId id="999" r:id="rId999"/>
    <p:sldId id="264" r:id="rId12"/>
  </p:sldIdLst>
  <p:sldSz cx="10287000" cy="14544675"/>
  <p:notesSz cx="9928225" cy="6797675"/>
  <p:embeddedFontLst>
    <p:embeddedFont>
      <p:font typeface="신세계 Bold" panose="02000300000000000000" pitchFamily="50" charset="-127"/>
      <p:bold r:id="rId15"/>
    </p:embeddedFont>
    <p:embeddedFont>
      <p:font typeface="신세계 Medium" panose="02000300000000000000" pitchFamily="50" charset="-127"/>
      <p:regular r:id="rId16"/>
    </p:embeddedFont>
    <p:embeddedFont>
      <p:font typeface="신세계 Regular" panose="02000300000000000000" pitchFamily="50" charset="-127"/>
      <p:regular r:id="rId17"/>
    </p:embeddedFont>
    <p:embeddedFont>
      <p:font typeface="신세계 SemiBold" panose="02000300000000000000" pitchFamily="50" charset="-127"/>
      <p:bold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67" userDrawn="1">
          <p15:clr>
            <a:srgbClr val="A4A3A4"/>
          </p15:clr>
        </p15:guide>
        <p15:guide id="2" pos="3240" userDrawn="1">
          <p15:clr>
            <a:srgbClr val="A4A3A4"/>
          </p15:clr>
        </p15:guide>
        <p15:guide id="3" orient="horz" pos="1723" userDrawn="1">
          <p15:clr>
            <a:srgbClr val="A4A3A4"/>
          </p15:clr>
        </p15:guide>
        <p15:guide id="4" pos="655" userDrawn="1">
          <p15:clr>
            <a:srgbClr val="A4A3A4"/>
          </p15:clr>
        </p15:guide>
        <p15:guide id="5" pos="5825" userDrawn="1">
          <p15:clr>
            <a:srgbClr val="A4A3A4"/>
          </p15:clr>
        </p15:guide>
        <p15:guide id="6" orient="horz" pos="85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98BD"/>
    <a:srgbClr val="555555"/>
    <a:srgbClr val="CCCCCC"/>
    <a:srgbClr val="A5D4E4"/>
    <a:srgbClr val="FBFDFE"/>
    <a:srgbClr val="D37249"/>
    <a:srgbClr val="76BE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3" autoAdjust="0"/>
    <p:restoredTop sz="94610"/>
  </p:normalViewPr>
  <p:slideViewPr>
    <p:cSldViewPr snapToGrid="0" snapToObjects="1">
      <p:cViewPr varScale="1">
        <p:scale>
          <a:sx n="52" d="100"/>
          <a:sy n="52" d="100"/>
        </p:scale>
        <p:origin x="2524" y="88"/>
      </p:cViewPr>
      <p:guideLst>
        <p:guide orient="horz" pos="567"/>
        <p:guide pos="3240"/>
        <p:guide orient="horz" pos="1723"/>
        <p:guide pos="655"/>
        <p:guide pos="5825"/>
        <p:guide orient="horz" pos="850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font" Target="fonts/font4.fntdata"/><Relationship Id="rId21" Type="http://schemas.openxmlformats.org/officeDocument/2006/relationships/theme" Target="theme/theme1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15" Type="http://schemas.openxmlformats.org/officeDocument/2006/relationships/font" Target="fonts/font1.fntdata"/><Relationship Id="rId19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Relationship Id="rId999" Type="http://schemas.openxmlformats.org/officeDocument/2006/relationships/slide" Target="slides/slide9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2759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2E9E5E3-D0DA-8EEA-ADDE-A19F273AD9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2367"/>
            <a:ext cx="10285326" cy="1454704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78D4F5C-5968-895D-FA10-0EEB633C7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176" y="4842000"/>
            <a:ext cx="1908000" cy="1908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59560" y="4726800"/>
            <a:ext cx="8367881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3696259" y="2880000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en-US" altLang="en-US" sz="996" kern="0" spc="219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PICOLITE BLACK</a:t>
            </a:r>
            <a:endParaRPr lang="en-US" alt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696259" y="3114000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altLang="en-US" sz="2116" b="1" dirty="0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PicoLite Black</a:t>
            </a:r>
            <a:endParaRPr lang="en-US" altLang="en-US" sz="211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696259" y="3491999"/>
            <a:ext cx="5525013" cy="79041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pPr>
              <a:lnSpc>
                <a:spcPct val="149333"/>
              </a:lnSpc>
            </a:pPr>
            <a:r>
              <a:rPr lang="en-US" altLang="en-US" sz="1245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A pico laser delivering ultra-short pulses of energy in trillionths of a second. </a:t>
            </a:r>
          </a:p>
          <a:p>
            <a:pPr>
              <a:lnSpc>
                <a:spcPct val="149333"/>
              </a:lnSpc>
            </a:pPr>
            <a:r>
              <a:rPr lang="en-US" altLang="en-US" sz="1245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Improves pigmentation, pores, scars and skin tone with less irritation </a:t>
            </a:r>
          </a:p>
          <a:p>
            <a:pPr>
              <a:lnSpc>
                <a:spcPct val="149333"/>
              </a:lnSpc>
            </a:pPr>
            <a:r>
              <a:rPr lang="en-US" altLang="en-US" sz="1245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than conventional nano lasers, precisely and safely.</a:t>
            </a:r>
            <a:endParaRPr lang="en-US" altLang="en-US" sz="124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696258" y="4384800"/>
            <a:ext cx="902855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3828380" y="4429970"/>
            <a:ext cx="721877" cy="14158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r>
              <a:rPr lang="en-US" altLang="en-US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Pico Toning</a:t>
            </a:r>
            <a:endParaRPr lang="en-US" alt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662352" y="4384800"/>
            <a:ext cx="915601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4794473" y="4429970"/>
            <a:ext cx="783480" cy="154551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r>
              <a:rPr lang="en-US" altLang="en-US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Pigmentation</a:t>
            </a:r>
            <a:endParaRPr lang="en-US" alt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641192" y="4384800"/>
            <a:ext cx="962910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5773314" y="4429970"/>
            <a:ext cx="962910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r>
              <a:rPr lang="en-US" altLang="en-US" sz="996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Mole Removal</a:t>
            </a:r>
            <a:endParaRPr lang="en-US" alt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959560" y="6868799"/>
            <a:ext cx="8367881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3696259" y="5022000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en-US" altLang="en-US" sz="996" kern="0" spc="219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CO2</a:t>
            </a:r>
            <a:endParaRPr lang="en-US" alt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3696259" y="5256000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altLang="en-US" sz="2116" dirty="0">
                <a:latin typeface="신세계 Regular" panose="02000300000000000000" pitchFamily="50" charset="-127"/>
                <a:ea typeface="신세계 Regular" panose="02000300000000000000" pitchFamily="50" charset="-127"/>
              </a:rPr>
              <a:t>CO2</a:t>
            </a:r>
          </a:p>
        </p:txBody>
      </p:sp>
      <p:sp>
        <p:nvSpPr>
          <p:cNvPr id="23" name="Text 20"/>
          <p:cNvSpPr/>
          <p:nvPr/>
        </p:nvSpPr>
        <p:spPr>
          <a:xfrm>
            <a:off x="3696259" y="5633999"/>
            <a:ext cx="5525013" cy="537485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>
              <a:lnSpc>
                <a:spcPct val="149333"/>
              </a:lnSpc>
            </a:pPr>
            <a:r>
              <a:rPr lang="en-US" altLang="en-US" sz="12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A laser that precisely vaporizes lesion tissue. Used to remove moles, milia, age spots, flat warts and other superficial lesions, and for skin resurfacing.</a:t>
            </a:r>
            <a:endParaRPr lang="en-US" altLang="en-US" sz="12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703417" y="6526800"/>
            <a:ext cx="921045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3745523" y="6550569"/>
            <a:ext cx="836832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 algn="ctr"/>
            <a:r>
              <a:rPr lang="en-US" altLang="en-US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Moles · Milia </a:t>
            </a:r>
            <a:endParaRPr lang="en-US" alt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4715141" y="6526800"/>
            <a:ext cx="1200968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4517278" y="6550569"/>
            <a:ext cx="1596694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 algn="ctr"/>
            <a:r>
              <a:rPr lang="en-US" altLang="en-US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Age Spots · Warts</a:t>
            </a:r>
            <a:endParaRPr lang="en-US" alt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6006788" y="6526800"/>
            <a:ext cx="1146201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6153117" y="6550569"/>
            <a:ext cx="853543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 algn="ctr"/>
            <a:r>
              <a:rPr lang="en-US" altLang="en-US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Lesion Removal</a:t>
            </a:r>
            <a:endParaRPr lang="en-US" alt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3692212" y="7163999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en-US" altLang="en-US" sz="996" kern="0" spc="219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POTENZA</a:t>
            </a:r>
            <a:endParaRPr lang="en-US" alt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3692212" y="7397999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altLang="en-US" sz="2116" b="1" dirty="0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Potenza</a:t>
            </a:r>
            <a:endParaRPr lang="en-US" altLang="en-US" sz="211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3692212" y="7775999"/>
            <a:ext cx="5525013" cy="133216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>
              <a:lnSpc>
                <a:spcPct val="149333"/>
              </a:lnSpc>
            </a:pPr>
            <a:r>
              <a:rPr lang="en-US" altLang="en-US" sz="12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Microneedles penetrate the skin to deliver RF energy at the target depth. </a:t>
            </a:r>
          </a:p>
          <a:p>
            <a:pPr>
              <a:lnSpc>
                <a:spcPct val="149333"/>
              </a:lnSpc>
            </a:pPr>
            <a:r>
              <a:rPr lang="en-US" altLang="en-US" sz="12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Various tips and modes help improve pores, scars, texture and</a:t>
            </a:r>
          </a:p>
          <a:p>
            <a:pPr>
              <a:lnSpc>
                <a:spcPct val="149333"/>
              </a:lnSpc>
            </a:pPr>
            <a:r>
              <a:rPr lang="en-US" altLang="en-US" sz="12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elasticity, and it can be combined with skin booster treatments.</a:t>
            </a:r>
            <a:endParaRPr lang="en-US" altLang="en-US" sz="12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3692213" y="8668800"/>
            <a:ext cx="807956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3758225" y="8713970"/>
            <a:ext cx="675835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pPr algn="ctr"/>
            <a:r>
              <a:rPr lang="en-US" altLang="en-US" sz="996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Pores · Scars</a:t>
            </a:r>
            <a:endParaRPr lang="en-US" alt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4599114" y="8668800"/>
            <a:ext cx="1208415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4631825" y="8694977"/>
            <a:ext cx="1155008" cy="21229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/>
          </a:bodyPr>
          <a:lstStyle/>
          <a:p>
            <a:pPr algn="ctr"/>
            <a:r>
              <a:rPr lang="en-US" altLang="en-US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Texture · Elasticity</a:t>
            </a:r>
            <a:endParaRPr lang="en-US" alt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5903047" y="8668800"/>
            <a:ext cx="1139933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5969108" y="8694977"/>
            <a:ext cx="1007810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 algn="ctr"/>
            <a:r>
              <a:rPr lang="en-US" altLang="en-US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Booster Delivery</a:t>
            </a:r>
            <a:endParaRPr lang="en-US" alt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42" name="Text 3">
            <a:extLst>
              <a:ext uri="{FF2B5EF4-FFF2-40B4-BE49-F238E27FC236}">
                <a16:creationId xmlns:a16="http://schemas.microsoft.com/office/drawing/2014/main" id="{400A6657-6F48-ADE3-DB13-1E62AC0C71C0}"/>
              </a:ext>
            </a:extLst>
          </p:cNvPr>
          <p:cNvSpPr/>
          <p:nvPr/>
        </p:nvSpPr>
        <p:spPr>
          <a:xfrm>
            <a:off x="-514350" y="870569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alt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LASER DEVICE</a:t>
            </a:r>
            <a:endParaRPr lang="en-US" alt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A663DAAC-9F0E-D76E-F04A-1CA202856152}"/>
              </a:ext>
            </a:extLst>
          </p:cNvPr>
          <p:cNvSpPr/>
          <p:nvPr/>
        </p:nvSpPr>
        <p:spPr>
          <a:xfrm>
            <a:off x="-514350" y="1071912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altLang="en-US" sz="3150" b="1" kern="0" spc="-63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Laser Devices</a:t>
            </a:r>
            <a:endParaRPr lang="en-US" alt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7E90CE31-A7BE-6A9D-AF73-C05029D04989}"/>
              </a:ext>
            </a:extLst>
          </p:cNvPr>
          <p:cNvSpPr/>
          <p:nvPr/>
        </p:nvSpPr>
        <p:spPr>
          <a:xfrm>
            <a:off x="-514350" y="1545398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en-US" altLang="en-US" sz="127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Pigmentation · Redness · Pores / Scars · Hair Removal</a:t>
            </a:r>
            <a:endParaRPr lang="en-US" alt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D2E024A-8258-FA04-99BC-D067A9E87B7D}"/>
              </a:ext>
            </a:extLst>
          </p:cNvPr>
          <p:cNvSpPr/>
          <p:nvPr/>
        </p:nvSpPr>
        <p:spPr>
          <a:xfrm>
            <a:off x="1016176" y="2700000"/>
            <a:ext cx="1908000" cy="19080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D500FF6-2B65-31BF-F85E-6A79A6A3FD6A}"/>
              </a:ext>
            </a:extLst>
          </p:cNvPr>
          <p:cNvSpPr/>
          <p:nvPr/>
        </p:nvSpPr>
        <p:spPr>
          <a:xfrm>
            <a:off x="1016176" y="6983999"/>
            <a:ext cx="1908000" cy="190800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/>
          </a:p>
        </p:txBody>
      </p:sp>
      <p:sp>
        <p:nvSpPr>
          <p:cNvPr id="101" name="BBL Divider"/>
          <p:cNvSpPr/>
          <p:nvPr/>
        </p:nvSpPr>
        <p:spPr>
          <a:xfrm>
            <a:off x="959560" y="9010800"/>
            <a:ext cx="8367881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" name="BBL Label"/>
          <p:cNvSpPr/>
          <p:nvPr/>
        </p:nvSpPr>
        <p:spPr>
          <a:xfrm>
            <a:off x="3696259" y="9306000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en-US" altLang="en-US" sz="996" kern="0" spc="219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BROADBAND LIGHT</a:t>
            </a:r>
            <a:endParaRPr lang="en-US" alt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3" name="BBL Name"/>
          <p:cNvSpPr/>
          <p:nvPr/>
        </p:nvSpPr>
        <p:spPr>
          <a:xfrm>
            <a:off x="3696259" y="9540000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altLang="en-US" sz="2116" b="1" dirty="0">
                <a:latin typeface="신세계 Regular" panose="02000300000000000000" pitchFamily="50" charset="-127"/>
                <a:ea typeface="신세계 Regular" panose="02000300000000000000" pitchFamily="50" charset="-127"/>
              </a:rPr>
              <a:t>BBL</a:t>
            </a:r>
          </a:p>
        </p:txBody>
      </p:sp>
      <p:sp>
        <p:nvSpPr>
          <p:cNvPr id="104" name="BBL Desc"/>
          <p:cNvSpPr/>
          <p:nvPr/>
        </p:nvSpPr>
        <p:spPr>
          <a:xfrm>
            <a:off x="3696259" y="9918000"/>
            <a:ext cx="5525013" cy="537485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>
              <a:lnSpc>
                <a:spcPct val="149333"/>
              </a:lnSpc>
            </a:pPr>
            <a:r>
              <a:rPr lang="en-US" altLang="en-US" sz="12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A phototherapy device delivering BroadBand Light to different skin depths. Improves pigmentation such as melasma and blemishes together with redness and vascular lesions, leaving tone and texture clear and even.</a:t>
            </a:r>
            <a:endParaRPr lang="en-US" altLang="en-US" sz="12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5" name="BBL Tag 1"/>
          <p:cNvSpPr/>
          <p:nvPr/>
        </p:nvSpPr>
        <p:spPr>
          <a:xfrm>
            <a:off x="3703417" y="10810800"/>
            <a:ext cx="1011724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6" name="BBL TagText 1"/>
          <p:cNvSpPr/>
          <p:nvPr/>
        </p:nvSpPr>
        <p:spPr>
          <a:xfrm>
            <a:off x="3800858" y="10834570"/>
            <a:ext cx="816841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 algn="ctr"/>
            <a:r>
              <a:rPr lang="en-US" altLang="en-US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Pigmentation</a:t>
            </a:r>
            <a:endParaRPr lang="en-US" alt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7" name="BBL Tag 2"/>
          <p:cNvSpPr/>
          <p:nvPr/>
        </p:nvSpPr>
        <p:spPr>
          <a:xfrm>
            <a:off x="4794473" y="10810800"/>
            <a:ext cx="1156526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BBL TagText 2"/>
          <p:cNvSpPr/>
          <p:nvPr/>
        </p:nvSpPr>
        <p:spPr>
          <a:xfrm>
            <a:off x="4824473" y="10834570"/>
            <a:ext cx="1098297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 algn="ctr"/>
            <a:r>
              <a:rPr lang="en-US" altLang="en-US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Redness · Vessels</a:t>
            </a:r>
            <a:endParaRPr lang="en-US" alt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9" name="BBL Tag 3"/>
          <p:cNvSpPr/>
          <p:nvPr/>
        </p:nvSpPr>
        <p:spPr>
          <a:xfrm>
            <a:off x="6014224" y="10810800"/>
            <a:ext cx="900000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BBL TagText 3"/>
          <p:cNvSpPr/>
          <p:nvPr/>
        </p:nvSpPr>
        <p:spPr>
          <a:xfrm>
            <a:off x="6044224" y="10834570"/>
            <a:ext cx="840000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 algn="ctr"/>
            <a:r>
              <a:rPr lang="en-US" altLang="en-US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Skin Tone</a:t>
            </a:r>
            <a:endParaRPr lang="en-US" alt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11" name="BBL 이미지"/>
          <p:cNvSpPr/>
          <p:nvPr/>
        </p:nvSpPr>
        <p:spPr>
          <a:xfrm>
            <a:off x="1016176" y="9126000"/>
            <a:ext cx="1908000" cy="1908000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/>
          </a:p>
        </p:txBody>
      </p:sp>
      <p:sp>
        <p:nvSpPr>
          <p:cNvPr id="301" name="BBL Label"/>
          <p:cNvSpPr/>
          <p:nvPr/>
        </p:nvSpPr>
        <p:spPr>
          <a:xfrm>
            <a:off x="3696259" y="11448000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en-US" sz="996" kern="0" spc="219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AVALANCHE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02" name="BBL Name"/>
          <p:cNvSpPr/>
          <p:nvPr/>
        </p:nvSpPr>
        <p:spPr>
          <a:xfrm>
            <a:off x="3696259" y="11682000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2008" b="1" dirty="0">
                <a:latin typeface="신세계 Regular" panose="02000300000000000000" pitchFamily="50" charset="-127"/>
                <a:ea typeface="신세계 Regular" panose="02000300000000000000" pitchFamily="50" charset="-127"/>
              </a:rPr>
              <a:t>Avalanche</a:t>
            </a:r>
          </a:p>
        </p:txBody>
      </p:sp>
      <p:sp>
        <p:nvSpPr>
          <p:cNvPr id="303" name="BBL Desc"/>
          <p:cNvSpPr/>
          <p:nvPr/>
        </p:nvSpPr>
        <p:spPr>
          <a:xfrm>
            <a:off x="3696259" y="12060000"/>
            <a:ext cx="5525013" cy="537485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>
              <a:lnSpc>
                <a:spcPct val="149333"/>
              </a:lnSpc>
            </a:pPr>
            <a:r>
              <a:rPr lang="en-US" sz="12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A laser hair-removal device that tunes energy to hair and skin type. Powerful cooling eases pain for fast, even hair removal from face to body.</a:t>
            </a:r>
            <a:endParaRPr lang="en-US" sz="12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04" name="BBL Tag 1"/>
          <p:cNvSpPr/>
          <p:nvPr/>
        </p:nvSpPr>
        <p:spPr>
          <a:xfrm>
            <a:off x="3703417" y="12952800"/>
            <a:ext cx="1412747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305" name="BBL TagText 1"/>
          <p:cNvSpPr/>
          <p:nvPr/>
        </p:nvSpPr>
        <p:spPr>
          <a:xfrm>
            <a:off x="3703417" y="12952800"/>
            <a:ext cx="1412747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Women’s Hair Removal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06" name="BBL Tag 2"/>
          <p:cNvSpPr/>
          <p:nvPr/>
        </p:nvSpPr>
        <p:spPr>
          <a:xfrm>
            <a:off x="5198460" y="12952800"/>
            <a:ext cx="1293875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307" name="BBL TagText 2"/>
          <p:cNvSpPr/>
          <p:nvPr/>
        </p:nvSpPr>
        <p:spPr>
          <a:xfrm>
            <a:off x="5198460" y="12952800"/>
            <a:ext cx="1293875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Men’s Hair Removal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08" name="BBL Tag 3"/>
          <p:cNvSpPr/>
          <p:nvPr/>
        </p:nvSpPr>
        <p:spPr>
          <a:xfrm>
            <a:off x="6574631" y="12952800"/>
            <a:ext cx="838962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309" name="BBL TagText 3"/>
          <p:cNvSpPr/>
          <p:nvPr/>
        </p:nvSpPr>
        <p:spPr>
          <a:xfrm>
            <a:off x="6574631" y="12952800"/>
            <a:ext cx="838962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Face · Body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10" name="BBL 이미지"/>
          <p:cNvSpPr/>
          <p:nvPr/>
        </p:nvSpPr>
        <p:spPr>
          <a:xfrm>
            <a:off x="1016176" y="11268000"/>
            <a:ext cx="1908000" cy="1908000"/>
          </a:xfrm>
          <a:prstGeom prst="rect">
            <a:avLst/>
          </a:prstGeom>
          <a:solidFill>
            <a:srgbClr val="EAF3F7"/>
          </a:solidFill>
          <a:ln w="9525">
            <a:solidFill>
              <a:srgbClr val="2498BD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/>
          </a:p>
        </p:txBody>
      </p:sp>
      <p:sp>
        <p:nvSpPr>
          <p:cNvPr id="311" name="AVALANCHE 이미지 자리"/>
          <p:cNvSpPr/>
          <p:nvPr/>
        </p:nvSpPr>
        <p:spPr>
          <a:xfrm>
            <a:off x="1015200" y="12114000"/>
            <a:ext cx="1908000" cy="216000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pPr algn="ctr"/>
            <a:r>
              <a:rPr lang="en-US" sz="996" kern="0" spc="219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Device image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-514350" y="863193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alt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MEDICAL SKINCARE</a:t>
            </a:r>
            <a:endParaRPr lang="en-US" alt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-514350" y="1064536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altLang="en-US" sz="3150" b="1" kern="0" spc="-63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Medical Skincare</a:t>
            </a:r>
            <a:endParaRPr lang="en-US" alt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-514350" y="1538022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altLang="en-US" sz="127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Medical skin care curated by Céramique</a:t>
            </a:r>
            <a:endParaRPr lang="en-US" alt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9" name="Text 96">
            <a:extLst>
              <a:ext uri="{FF2B5EF4-FFF2-40B4-BE49-F238E27FC236}">
                <a16:creationId xmlns:a16="http://schemas.microsoft.com/office/drawing/2014/main" id="{9FBF630D-5C4D-0E3A-FE6B-8DFD553C0E1D}"/>
              </a:ext>
            </a:extLst>
          </p:cNvPr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altLang="en-US" sz="1013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* 10% VAT not included</a:t>
            </a:r>
            <a:endParaRPr lang="en-US" altLang="en-US" sz="101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252" name="그룹 251">
            <a:extLst>
              <a:ext uri="{FF2B5EF4-FFF2-40B4-BE49-F238E27FC236}">
                <a16:creationId xmlns:a16="http://schemas.microsoft.com/office/drawing/2014/main" id="{27FEB013-83EA-3243-3708-082B8D83AEE1}"/>
              </a:ext>
            </a:extLst>
          </p:cNvPr>
          <p:cNvGrpSpPr/>
          <p:nvPr/>
        </p:nvGrpSpPr>
        <p:grpSpPr>
          <a:xfrm>
            <a:off x="930580" y="2720019"/>
            <a:ext cx="8316077" cy="4124371"/>
            <a:chOff x="930580" y="2720019"/>
            <a:chExt cx="8316077" cy="4124371"/>
          </a:xfrm>
        </p:grpSpPr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19A0ECF7-C560-E851-FD4C-E224DF0F46DE}"/>
                </a:ext>
              </a:extLst>
            </p:cNvPr>
            <p:cNvSpPr txBox="1"/>
            <p:nvPr/>
          </p:nvSpPr>
          <p:spPr>
            <a:xfrm>
              <a:off x="930580" y="2720019"/>
              <a:ext cx="2637810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alt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Cleansing &amp; Daily Care</a:t>
              </a:r>
            </a:p>
          </p:txBody>
        </p:sp>
        <p:sp>
          <p:nvSpPr>
            <p:cNvPr id="155" name="Text 11">
              <a:extLst>
                <a:ext uri="{FF2B5EF4-FFF2-40B4-BE49-F238E27FC236}">
                  <a16:creationId xmlns:a16="http://schemas.microsoft.com/office/drawing/2014/main" id="{1CE06990-7F3E-7D9F-B2EB-8E2E6C46FDD3}"/>
                </a:ext>
              </a:extLst>
            </p:cNvPr>
            <p:cNvSpPr/>
            <p:nvPr/>
          </p:nvSpPr>
          <p:spPr>
            <a:xfrm>
              <a:off x="1044691" y="3057438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Aqua Peel (Stage 1/2/3)</a:t>
              </a:r>
            </a:p>
            <a:p>
              <a:r>
                <a:rPr lang="en-US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Removes impurities and sebum from pores + hydration and nutrition</a:t>
              </a:r>
            </a:p>
          </p:txBody>
        </p:sp>
        <p:sp>
          <p:nvSpPr>
            <p:cNvPr id="157" name="Text 15">
              <a:extLst>
                <a:ext uri="{FF2B5EF4-FFF2-40B4-BE49-F238E27FC236}">
                  <a16:creationId xmlns:a16="http://schemas.microsoft.com/office/drawing/2014/main" id="{D9F2D14D-B5FF-FA6A-ADCE-C94714205D86}"/>
                </a:ext>
              </a:extLst>
            </p:cNvPr>
            <p:cNvSpPr/>
            <p:nvPr/>
          </p:nvSpPr>
          <p:spPr>
            <a:xfrm>
              <a:off x="7596416" y="3058909"/>
              <a:ext cx="1650240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 Session </a:t>
              </a:r>
              <a:r>
                <a:rPr lang="en-US" alt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69,000</a:t>
              </a:r>
              <a:endParaRPr lang="en-US" alt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en-US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 Sessions</a:t>
              </a:r>
              <a:r>
                <a:rPr lang="en-US" altLang="en-US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299,000</a:t>
              </a:r>
              <a:endParaRPr lang="en-US" alt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151" name="Text 11">
              <a:extLst>
                <a:ext uri="{FF2B5EF4-FFF2-40B4-BE49-F238E27FC236}">
                  <a16:creationId xmlns:a16="http://schemas.microsoft.com/office/drawing/2014/main" id="{777ACBC6-E80F-3D93-2C66-9978C9601491}"/>
                </a:ext>
              </a:extLst>
            </p:cNvPr>
            <p:cNvSpPr/>
            <p:nvPr/>
          </p:nvSpPr>
          <p:spPr>
            <a:xfrm>
              <a:off x="1044691" y="3642204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Cryo Soothing Care</a:t>
              </a:r>
            </a:p>
            <a:p>
              <a:r>
                <a:rPr lang="en-US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Rapid cooling — calms redness and swelling</a:t>
              </a:r>
            </a:p>
          </p:txBody>
        </p:sp>
        <p:sp>
          <p:nvSpPr>
            <p:cNvPr id="147" name="Shape 7">
              <a:extLst>
                <a:ext uri="{FF2B5EF4-FFF2-40B4-BE49-F238E27FC236}">
                  <a16:creationId xmlns:a16="http://schemas.microsoft.com/office/drawing/2014/main" id="{071FB9FE-C029-C79B-79AD-1C09B4193E3A}"/>
                </a:ext>
              </a:extLst>
            </p:cNvPr>
            <p:cNvSpPr/>
            <p:nvPr/>
          </p:nvSpPr>
          <p:spPr>
            <a:xfrm>
              <a:off x="1041515" y="3046774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8" name="Shape 7">
              <a:extLst>
                <a:ext uri="{FF2B5EF4-FFF2-40B4-BE49-F238E27FC236}">
                  <a16:creationId xmlns:a16="http://schemas.microsoft.com/office/drawing/2014/main" id="{EAAF6A05-5BF7-F5F9-A179-6F498F75EBD1}"/>
                </a:ext>
              </a:extLst>
            </p:cNvPr>
            <p:cNvSpPr/>
            <p:nvPr/>
          </p:nvSpPr>
          <p:spPr>
            <a:xfrm>
              <a:off x="1041515" y="3630790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9" name="Shape 7">
              <a:extLst>
                <a:ext uri="{FF2B5EF4-FFF2-40B4-BE49-F238E27FC236}">
                  <a16:creationId xmlns:a16="http://schemas.microsoft.com/office/drawing/2014/main" id="{8FAE98C2-1F8A-B8C7-60BF-0E9C4744BE31}"/>
                </a:ext>
              </a:extLst>
            </p:cNvPr>
            <p:cNvSpPr/>
            <p:nvPr/>
          </p:nvSpPr>
          <p:spPr>
            <a:xfrm>
              <a:off x="1041515" y="4213673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0" name="Shape 7">
              <a:extLst>
                <a:ext uri="{FF2B5EF4-FFF2-40B4-BE49-F238E27FC236}">
                  <a16:creationId xmlns:a16="http://schemas.microsoft.com/office/drawing/2014/main" id="{398D9EF1-9BB9-71B8-58B0-4697BB5AF3F4}"/>
                </a:ext>
              </a:extLst>
            </p:cNvPr>
            <p:cNvSpPr/>
            <p:nvPr/>
          </p:nvSpPr>
          <p:spPr>
            <a:xfrm>
              <a:off x="1041515" y="4798096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3" name="Text 11">
              <a:extLst>
                <a:ext uri="{FF2B5EF4-FFF2-40B4-BE49-F238E27FC236}">
                  <a16:creationId xmlns:a16="http://schemas.microsoft.com/office/drawing/2014/main" id="{97411113-E4D2-34A6-F7ED-123889FA2BAD}"/>
                </a:ext>
              </a:extLst>
            </p:cNvPr>
            <p:cNvSpPr/>
            <p:nvPr/>
          </p:nvSpPr>
          <p:spPr>
            <a:xfrm>
              <a:off x="1044691" y="4225527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Ion Vitamin Whitening Care</a:t>
              </a:r>
            </a:p>
            <a:p>
              <a:r>
                <a:rPr lang="en-US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Delivers concentrated ionized vitamin C deep into the skin</a:t>
              </a:r>
            </a:p>
          </p:txBody>
        </p:sp>
        <p:sp>
          <p:nvSpPr>
            <p:cNvPr id="176" name="Text 11">
              <a:extLst>
                <a:ext uri="{FF2B5EF4-FFF2-40B4-BE49-F238E27FC236}">
                  <a16:creationId xmlns:a16="http://schemas.microsoft.com/office/drawing/2014/main" id="{564FA673-C753-1ABC-158F-839D55DED2F6}"/>
                </a:ext>
              </a:extLst>
            </p:cNvPr>
            <p:cNvSpPr/>
            <p:nvPr/>
          </p:nvSpPr>
          <p:spPr>
            <a:xfrm>
              <a:off x="1044691" y="4809325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SONO Ultrasound Care</a:t>
              </a:r>
            </a:p>
            <a:p>
              <a:r>
                <a:rPr lang="en-US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Ultrasonic vibration stabilizes skin condition</a:t>
              </a:r>
            </a:p>
          </p:txBody>
        </p:sp>
        <p:sp>
          <p:nvSpPr>
            <p:cNvPr id="172" name="Text 11">
              <a:extLst>
                <a:ext uri="{FF2B5EF4-FFF2-40B4-BE49-F238E27FC236}">
                  <a16:creationId xmlns:a16="http://schemas.microsoft.com/office/drawing/2014/main" id="{ED566BC8-7587-3D1D-C231-2D9D3CD288F5}"/>
                </a:ext>
              </a:extLst>
            </p:cNvPr>
            <p:cNvSpPr/>
            <p:nvPr/>
          </p:nvSpPr>
          <p:spPr>
            <a:xfrm>
              <a:off x="1044691" y="5392208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Ionzyme Whitening Care</a:t>
              </a:r>
            </a:p>
            <a:p>
              <a:r>
                <a:rPr lang="en-US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Microcurrent hydration · soothing · texture improvement</a:t>
              </a:r>
            </a:p>
          </p:txBody>
        </p:sp>
        <p:sp>
          <p:nvSpPr>
            <p:cNvPr id="169" name="Shape 7">
              <a:extLst>
                <a:ext uri="{FF2B5EF4-FFF2-40B4-BE49-F238E27FC236}">
                  <a16:creationId xmlns:a16="http://schemas.microsoft.com/office/drawing/2014/main" id="{1E76A880-25A0-80E3-1F09-BF61725554BB}"/>
                </a:ext>
              </a:extLst>
            </p:cNvPr>
            <p:cNvSpPr/>
            <p:nvPr/>
          </p:nvSpPr>
          <p:spPr>
            <a:xfrm>
              <a:off x="1041515" y="5382677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0" name="Shape 7">
              <a:extLst>
                <a:ext uri="{FF2B5EF4-FFF2-40B4-BE49-F238E27FC236}">
                  <a16:creationId xmlns:a16="http://schemas.microsoft.com/office/drawing/2014/main" id="{AC3FD692-FD84-6F02-64E2-258EB9C981FB}"/>
                </a:ext>
              </a:extLst>
            </p:cNvPr>
            <p:cNvSpPr/>
            <p:nvPr/>
          </p:nvSpPr>
          <p:spPr>
            <a:xfrm>
              <a:off x="1041515" y="5965560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1" name="Shape 7">
              <a:extLst>
                <a:ext uri="{FF2B5EF4-FFF2-40B4-BE49-F238E27FC236}">
                  <a16:creationId xmlns:a16="http://schemas.microsoft.com/office/drawing/2014/main" id="{3822DEB2-4E6E-B3A1-975F-41D1FEB87A7A}"/>
                </a:ext>
              </a:extLst>
            </p:cNvPr>
            <p:cNvSpPr/>
            <p:nvPr/>
          </p:nvSpPr>
          <p:spPr>
            <a:xfrm>
              <a:off x="1041515" y="6549983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" name="Text 11">
              <a:extLst>
                <a:ext uri="{FF2B5EF4-FFF2-40B4-BE49-F238E27FC236}">
                  <a16:creationId xmlns:a16="http://schemas.microsoft.com/office/drawing/2014/main" id="{07DD6227-3C12-67FB-C815-078F8F4DB919}"/>
                </a:ext>
              </a:extLst>
            </p:cNvPr>
            <p:cNvSpPr/>
            <p:nvPr/>
          </p:nvSpPr>
          <p:spPr>
            <a:xfrm>
              <a:off x="1044691" y="5976276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Ionzyme + SONO Care</a:t>
              </a:r>
            </a:p>
            <a:p>
              <a:r>
                <a:rPr lang="en-US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Stabilizes skin condition · improves texture</a:t>
              </a:r>
            </a:p>
          </p:txBody>
        </p:sp>
        <p:sp>
          <p:nvSpPr>
            <p:cNvPr id="180" name="Text 15">
              <a:extLst>
                <a:ext uri="{FF2B5EF4-FFF2-40B4-BE49-F238E27FC236}">
                  <a16:creationId xmlns:a16="http://schemas.microsoft.com/office/drawing/2014/main" id="{483A027F-54CC-D211-BCF4-61BB49AEAB5B}"/>
                </a:ext>
              </a:extLst>
            </p:cNvPr>
            <p:cNvSpPr/>
            <p:nvPr/>
          </p:nvSpPr>
          <p:spPr>
            <a:xfrm>
              <a:off x="7596416" y="3643675"/>
              <a:ext cx="1650240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 Session </a:t>
              </a:r>
              <a:r>
                <a:rPr lang="en-US" alt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69,000</a:t>
              </a:r>
              <a:endParaRPr lang="en-US" alt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en-US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 Sessions</a:t>
              </a:r>
              <a:r>
                <a:rPr lang="en-US" altLang="en-US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299,000</a:t>
              </a:r>
              <a:endParaRPr lang="en-US" alt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181" name="Text 15">
              <a:extLst>
                <a:ext uri="{FF2B5EF4-FFF2-40B4-BE49-F238E27FC236}">
                  <a16:creationId xmlns:a16="http://schemas.microsoft.com/office/drawing/2014/main" id="{9582DA14-1B83-9AA1-3BBA-34BF3E638D78}"/>
                </a:ext>
              </a:extLst>
            </p:cNvPr>
            <p:cNvSpPr/>
            <p:nvPr/>
          </p:nvSpPr>
          <p:spPr>
            <a:xfrm>
              <a:off x="7596416" y="4226998"/>
              <a:ext cx="1650240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 Session </a:t>
              </a:r>
              <a:r>
                <a:rPr lang="en-US" alt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69,000</a:t>
              </a:r>
              <a:endParaRPr lang="en-US" alt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en-US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 Sessions</a:t>
              </a:r>
              <a:r>
                <a:rPr lang="en-US" altLang="en-US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299,000</a:t>
              </a:r>
              <a:endParaRPr lang="en-US" alt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182" name="Text 15">
              <a:extLst>
                <a:ext uri="{FF2B5EF4-FFF2-40B4-BE49-F238E27FC236}">
                  <a16:creationId xmlns:a16="http://schemas.microsoft.com/office/drawing/2014/main" id="{FEA22D18-AD1A-DB29-403F-1E6DC18C7B40}"/>
                </a:ext>
              </a:extLst>
            </p:cNvPr>
            <p:cNvSpPr/>
            <p:nvPr/>
          </p:nvSpPr>
          <p:spPr>
            <a:xfrm>
              <a:off x="7596416" y="4810796"/>
              <a:ext cx="1650240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 Session </a:t>
              </a:r>
              <a:r>
                <a:rPr lang="en-US" alt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69,000</a:t>
              </a:r>
              <a:endParaRPr lang="en-US" alt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en-US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 Sessions</a:t>
              </a:r>
              <a:r>
                <a:rPr lang="en-US" altLang="en-US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299,000</a:t>
              </a:r>
              <a:endParaRPr lang="en-US" alt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183" name="Text 15">
              <a:extLst>
                <a:ext uri="{FF2B5EF4-FFF2-40B4-BE49-F238E27FC236}">
                  <a16:creationId xmlns:a16="http://schemas.microsoft.com/office/drawing/2014/main" id="{4E1526F8-0A06-842F-FAF5-14929F2AC46D}"/>
                </a:ext>
              </a:extLst>
            </p:cNvPr>
            <p:cNvSpPr/>
            <p:nvPr/>
          </p:nvSpPr>
          <p:spPr>
            <a:xfrm>
              <a:off x="7596416" y="5393679"/>
              <a:ext cx="1650240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 Session </a:t>
              </a:r>
              <a:r>
                <a:rPr lang="en-US" alt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69,000</a:t>
              </a:r>
              <a:endParaRPr lang="en-US" alt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en-US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 Sessions</a:t>
              </a:r>
              <a:r>
                <a:rPr lang="en-US" altLang="en-US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299,000</a:t>
              </a:r>
              <a:endParaRPr lang="en-US" alt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184" name="Text 15">
              <a:extLst>
                <a:ext uri="{FF2B5EF4-FFF2-40B4-BE49-F238E27FC236}">
                  <a16:creationId xmlns:a16="http://schemas.microsoft.com/office/drawing/2014/main" id="{D2E5B1CD-9394-BBF1-A55E-D74FB9924E71}"/>
                </a:ext>
              </a:extLst>
            </p:cNvPr>
            <p:cNvSpPr/>
            <p:nvPr/>
          </p:nvSpPr>
          <p:spPr>
            <a:xfrm>
              <a:off x="7596416" y="5977747"/>
              <a:ext cx="1650240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 Session </a:t>
              </a:r>
              <a:r>
                <a:rPr lang="en-US" alt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99,000</a:t>
              </a:r>
              <a:endParaRPr lang="en-US" alt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en-US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 Sessions</a:t>
              </a:r>
              <a:r>
                <a:rPr lang="en-US" altLang="en-US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450,000</a:t>
              </a:r>
              <a:endParaRPr lang="en-US" alt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</p:grpSp>
      <p:grpSp>
        <p:nvGrpSpPr>
          <p:cNvPr id="253" name="그룹 252">
            <a:extLst>
              <a:ext uri="{FF2B5EF4-FFF2-40B4-BE49-F238E27FC236}">
                <a16:creationId xmlns:a16="http://schemas.microsoft.com/office/drawing/2014/main" id="{CE35FB12-CC6A-8F3C-F14D-45852AA4FD64}"/>
              </a:ext>
            </a:extLst>
          </p:cNvPr>
          <p:cNvGrpSpPr/>
          <p:nvPr/>
        </p:nvGrpSpPr>
        <p:grpSpPr>
          <a:xfrm>
            <a:off x="930580" y="6745232"/>
            <a:ext cx="8316077" cy="1358521"/>
            <a:chOff x="930580" y="7115471"/>
            <a:chExt cx="8316077" cy="1358521"/>
          </a:xfrm>
        </p:grpSpPr>
        <p:sp>
          <p:nvSpPr>
            <p:cNvPr id="186" name="Shape 7">
              <a:extLst>
                <a:ext uri="{FF2B5EF4-FFF2-40B4-BE49-F238E27FC236}">
                  <a16:creationId xmlns:a16="http://schemas.microsoft.com/office/drawing/2014/main" id="{5739B7E3-69BB-9F99-DCB2-DD14468D178A}"/>
                </a:ext>
              </a:extLst>
            </p:cNvPr>
            <p:cNvSpPr/>
            <p:nvPr/>
          </p:nvSpPr>
          <p:spPr>
            <a:xfrm>
              <a:off x="1041515" y="7443052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0" name="Text 11">
              <a:extLst>
                <a:ext uri="{FF2B5EF4-FFF2-40B4-BE49-F238E27FC236}">
                  <a16:creationId xmlns:a16="http://schemas.microsoft.com/office/drawing/2014/main" id="{7136E984-437D-FEC8-858A-25C555567D65}"/>
                </a:ext>
              </a:extLst>
            </p:cNvPr>
            <p:cNvSpPr/>
            <p:nvPr/>
          </p:nvSpPr>
          <p:spPr>
            <a:xfrm>
              <a:off x="1044692" y="7453338"/>
              <a:ext cx="5171958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LDM (Ulkin) </a:t>
              </a:r>
            </a:p>
            <a:p>
              <a:r>
                <a:rPr lang="en-US" altLang="en-US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Triple ultrasound — cell activation · remodeling · for sensitive, bruised, swollen or red skin</a:t>
              </a:r>
            </a:p>
          </p:txBody>
        </p:sp>
        <p:sp>
          <p:nvSpPr>
            <p:cNvPr id="192" name="Text 15">
              <a:extLst>
                <a:ext uri="{FF2B5EF4-FFF2-40B4-BE49-F238E27FC236}">
                  <a16:creationId xmlns:a16="http://schemas.microsoft.com/office/drawing/2014/main" id="{78F74B78-2BE0-247C-8897-66C6F18F3542}"/>
                </a:ext>
              </a:extLst>
            </p:cNvPr>
            <p:cNvSpPr/>
            <p:nvPr/>
          </p:nvSpPr>
          <p:spPr>
            <a:xfrm>
              <a:off x="7973216" y="7547970"/>
              <a:ext cx="1273440" cy="430887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6 min </a:t>
              </a:r>
              <a:r>
                <a:rPr lang="en-US" alt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100,000</a:t>
              </a:r>
              <a:endParaRPr lang="en-US" alt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en-US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12 min</a:t>
              </a:r>
              <a:r>
                <a:rPr lang="en-US" altLang="en-US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200,000</a:t>
              </a:r>
              <a:endParaRPr lang="en-US" alt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6D2E6D09-FEAF-0998-4498-5874F81B0386}"/>
                </a:ext>
              </a:extLst>
            </p:cNvPr>
            <p:cNvSpPr txBox="1"/>
            <p:nvPr/>
          </p:nvSpPr>
          <p:spPr>
            <a:xfrm>
              <a:off x="930580" y="7115471"/>
              <a:ext cx="1581678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alt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Special Care</a:t>
              </a:r>
            </a:p>
          </p:txBody>
        </p:sp>
        <p:sp>
          <p:nvSpPr>
            <p:cNvPr id="198" name="Shape 7">
              <a:extLst>
                <a:ext uri="{FF2B5EF4-FFF2-40B4-BE49-F238E27FC236}">
                  <a16:creationId xmlns:a16="http://schemas.microsoft.com/office/drawing/2014/main" id="{5161B7A2-8B18-C769-1ED3-5320F029655D}"/>
                </a:ext>
              </a:extLst>
            </p:cNvPr>
            <p:cNvSpPr/>
            <p:nvPr/>
          </p:nvSpPr>
          <p:spPr>
            <a:xfrm>
              <a:off x="1041515" y="8074691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0" name="Shape 7">
              <a:extLst>
                <a:ext uri="{FF2B5EF4-FFF2-40B4-BE49-F238E27FC236}">
                  <a16:creationId xmlns:a16="http://schemas.microsoft.com/office/drawing/2014/main" id="{33A3A469-8D4F-42BA-B3F5-DD9215ED028B}"/>
                </a:ext>
              </a:extLst>
            </p:cNvPr>
            <p:cNvSpPr/>
            <p:nvPr/>
          </p:nvSpPr>
          <p:spPr>
            <a:xfrm>
              <a:off x="1041515" y="7442226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2" name="Text 11">
              <a:extLst>
                <a:ext uri="{FF2B5EF4-FFF2-40B4-BE49-F238E27FC236}">
                  <a16:creationId xmlns:a16="http://schemas.microsoft.com/office/drawing/2014/main" id="{F0E39CDE-8BF5-284E-028F-001921E2591B}"/>
                </a:ext>
              </a:extLst>
            </p:cNvPr>
            <p:cNvSpPr/>
            <p:nvPr/>
          </p:nvSpPr>
          <p:spPr>
            <a:xfrm>
              <a:off x="1044691" y="8081962"/>
              <a:ext cx="517195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OtoDerm  </a:t>
              </a:r>
              <a:r>
                <a:rPr lang="en-US" altLang="en-US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High-concentration oxygen · anions — regeneration and soothing</a:t>
              </a:r>
            </a:p>
          </p:txBody>
        </p:sp>
        <p:sp>
          <p:nvSpPr>
            <p:cNvPr id="204" name="Text 15">
              <a:extLst>
                <a:ext uri="{FF2B5EF4-FFF2-40B4-BE49-F238E27FC236}">
                  <a16:creationId xmlns:a16="http://schemas.microsoft.com/office/drawing/2014/main" id="{B2F4676D-AE5B-2735-D1EF-1352BE2D48D5}"/>
                </a:ext>
              </a:extLst>
            </p:cNvPr>
            <p:cNvSpPr/>
            <p:nvPr/>
          </p:nvSpPr>
          <p:spPr>
            <a:xfrm>
              <a:off x="8286484" y="8161980"/>
              <a:ext cx="960172" cy="215444"/>
            </a:xfrm>
            <a:prstGeom prst="rect">
              <a:avLst/>
            </a:prstGeom>
            <a:noFill/>
            <a:ln/>
          </p:spPr>
          <p:txBody>
            <a:bodyPr wrap="none" lIns="180000" tIns="0" rIns="72000" bIns="0" rtlCol="0" anchor="ctr" anchorCtr="0">
              <a:spAutoFit/>
            </a:bodyPr>
            <a:lstStyle/>
            <a:p>
              <a:pPr algn="r"/>
              <a:r>
                <a:rPr lang="en-US" alt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100,000</a:t>
              </a:r>
            </a:p>
          </p:txBody>
        </p:sp>
        <p:sp>
          <p:nvSpPr>
            <p:cNvPr id="206" name="Shape 7">
              <a:extLst>
                <a:ext uri="{FF2B5EF4-FFF2-40B4-BE49-F238E27FC236}">
                  <a16:creationId xmlns:a16="http://schemas.microsoft.com/office/drawing/2014/main" id="{28453F4D-ADB2-29D3-227B-BA898B16E5D3}"/>
                </a:ext>
              </a:extLst>
            </p:cNvPr>
            <p:cNvSpPr/>
            <p:nvPr/>
          </p:nvSpPr>
          <p:spPr>
            <a:xfrm>
              <a:off x="1041515" y="8460385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54" name="그룹 253">
            <a:extLst>
              <a:ext uri="{FF2B5EF4-FFF2-40B4-BE49-F238E27FC236}">
                <a16:creationId xmlns:a16="http://schemas.microsoft.com/office/drawing/2014/main" id="{1ACD641D-236A-FC2F-A14A-2049A3627DBF}"/>
              </a:ext>
            </a:extLst>
          </p:cNvPr>
          <p:cNvGrpSpPr/>
          <p:nvPr/>
        </p:nvGrpSpPr>
        <p:grpSpPr>
          <a:xfrm>
            <a:off x="930580" y="8285395"/>
            <a:ext cx="8316077" cy="1496252"/>
            <a:chOff x="930580" y="8746283"/>
            <a:chExt cx="8316077" cy="1496252"/>
          </a:xfrm>
        </p:grpSpPr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41DA1AA6-66B3-A72B-229D-CF6210CA5756}"/>
                </a:ext>
              </a:extLst>
            </p:cNvPr>
            <p:cNvSpPr txBox="1"/>
            <p:nvPr/>
          </p:nvSpPr>
          <p:spPr>
            <a:xfrm>
              <a:off x="930580" y="8746283"/>
              <a:ext cx="1039896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alt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Peeling</a:t>
              </a:r>
            </a:p>
          </p:txBody>
        </p:sp>
        <p:sp>
          <p:nvSpPr>
            <p:cNvPr id="221" name="Shape 7">
              <a:extLst>
                <a:ext uri="{FF2B5EF4-FFF2-40B4-BE49-F238E27FC236}">
                  <a16:creationId xmlns:a16="http://schemas.microsoft.com/office/drawing/2014/main" id="{9C6D7527-C3D2-59E3-D4B6-6FA35205287E}"/>
                </a:ext>
              </a:extLst>
            </p:cNvPr>
            <p:cNvSpPr/>
            <p:nvPr/>
          </p:nvSpPr>
          <p:spPr>
            <a:xfrm>
              <a:off x="1041515" y="9461006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2" name="Shape 7">
              <a:extLst>
                <a:ext uri="{FF2B5EF4-FFF2-40B4-BE49-F238E27FC236}">
                  <a16:creationId xmlns:a16="http://schemas.microsoft.com/office/drawing/2014/main" id="{9793C565-E5CE-40CB-B6DF-1276451C0616}"/>
                </a:ext>
              </a:extLst>
            </p:cNvPr>
            <p:cNvSpPr/>
            <p:nvPr/>
          </p:nvSpPr>
          <p:spPr>
            <a:xfrm>
              <a:off x="1041515" y="9073038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3" name="Shape 7">
              <a:extLst>
                <a:ext uri="{FF2B5EF4-FFF2-40B4-BE49-F238E27FC236}">
                  <a16:creationId xmlns:a16="http://schemas.microsoft.com/office/drawing/2014/main" id="{6CB910F4-E364-5AEB-0CEA-FCEE0CA93AE9}"/>
                </a:ext>
              </a:extLst>
            </p:cNvPr>
            <p:cNvSpPr/>
            <p:nvPr/>
          </p:nvSpPr>
          <p:spPr>
            <a:xfrm>
              <a:off x="1041515" y="9846700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4" name="Shape 7">
              <a:extLst>
                <a:ext uri="{FF2B5EF4-FFF2-40B4-BE49-F238E27FC236}">
                  <a16:creationId xmlns:a16="http://schemas.microsoft.com/office/drawing/2014/main" id="{F7371FDF-066E-EB9B-5437-78F091AACD0A}"/>
                </a:ext>
              </a:extLst>
            </p:cNvPr>
            <p:cNvSpPr/>
            <p:nvPr/>
          </p:nvSpPr>
          <p:spPr>
            <a:xfrm>
              <a:off x="1041515" y="10228928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5" name="Text 11">
              <a:extLst>
                <a:ext uri="{FF2B5EF4-FFF2-40B4-BE49-F238E27FC236}">
                  <a16:creationId xmlns:a16="http://schemas.microsoft.com/office/drawing/2014/main" id="{47D8CA1E-1CE0-4701-20D3-C4D2E5C7E96C}"/>
                </a:ext>
              </a:extLst>
            </p:cNvPr>
            <p:cNvSpPr/>
            <p:nvPr/>
          </p:nvSpPr>
          <p:spPr>
            <a:xfrm>
              <a:off x="1044691" y="9074912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Pumpkin Peel  </a:t>
              </a:r>
              <a:r>
                <a:rPr lang="en-US" altLang="en-US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Natural pumpkin enzyme — exfoliation · tone · texture</a:t>
              </a:r>
            </a:p>
          </p:txBody>
        </p:sp>
        <p:sp>
          <p:nvSpPr>
            <p:cNvPr id="226" name="Text 11">
              <a:extLst>
                <a:ext uri="{FF2B5EF4-FFF2-40B4-BE49-F238E27FC236}">
                  <a16:creationId xmlns:a16="http://schemas.microsoft.com/office/drawing/2014/main" id="{20A4C911-ACED-A90B-7C52-85E3C3D70932}"/>
                </a:ext>
              </a:extLst>
            </p:cNvPr>
            <p:cNvSpPr/>
            <p:nvPr/>
          </p:nvSpPr>
          <p:spPr>
            <a:xfrm>
              <a:off x="1044691" y="9468277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Black Peel  </a:t>
              </a:r>
              <a:r>
                <a:rPr lang="en-US" altLang="en-US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Removes excess sebum and impurities, refines pores</a:t>
              </a:r>
            </a:p>
          </p:txBody>
        </p:sp>
        <p:sp>
          <p:nvSpPr>
            <p:cNvPr id="227" name="Text 11">
              <a:extLst>
                <a:ext uri="{FF2B5EF4-FFF2-40B4-BE49-F238E27FC236}">
                  <a16:creationId xmlns:a16="http://schemas.microsoft.com/office/drawing/2014/main" id="{4A9F0CA8-7C4B-8312-1982-B9E14DC7E619}"/>
                </a:ext>
              </a:extLst>
            </p:cNvPr>
            <p:cNvSpPr/>
            <p:nvPr/>
          </p:nvSpPr>
          <p:spPr>
            <a:xfrm>
              <a:off x="1044691" y="9850353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PLA Peel  </a:t>
              </a:r>
              <a:r>
                <a:rPr lang="en-US" altLang="en-US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Gentle peel that protects the skin barrier</a:t>
              </a:r>
            </a:p>
          </p:txBody>
        </p:sp>
        <p:sp>
          <p:nvSpPr>
            <p:cNvPr id="228" name="Text 15">
              <a:extLst>
                <a:ext uri="{FF2B5EF4-FFF2-40B4-BE49-F238E27FC236}">
                  <a16:creationId xmlns:a16="http://schemas.microsoft.com/office/drawing/2014/main" id="{7BEE7F56-6008-0391-ED49-A93C862DF40F}"/>
                </a:ext>
              </a:extLst>
            </p:cNvPr>
            <p:cNvSpPr/>
            <p:nvPr/>
          </p:nvSpPr>
          <p:spPr>
            <a:xfrm>
              <a:off x="8466485" y="9154930"/>
              <a:ext cx="780171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150,000</a:t>
              </a:r>
            </a:p>
          </p:txBody>
        </p:sp>
        <p:sp>
          <p:nvSpPr>
            <p:cNvPr id="229" name="Text 15">
              <a:extLst>
                <a:ext uri="{FF2B5EF4-FFF2-40B4-BE49-F238E27FC236}">
                  <a16:creationId xmlns:a16="http://schemas.microsoft.com/office/drawing/2014/main" id="{16C43AAE-0AD0-0921-448A-13C4429ECA94}"/>
                </a:ext>
              </a:extLst>
            </p:cNvPr>
            <p:cNvSpPr/>
            <p:nvPr/>
          </p:nvSpPr>
          <p:spPr>
            <a:xfrm>
              <a:off x="8466484" y="9548295"/>
              <a:ext cx="780172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150,000</a:t>
              </a:r>
            </a:p>
          </p:txBody>
        </p:sp>
        <p:sp>
          <p:nvSpPr>
            <p:cNvPr id="231" name="Text 15">
              <a:extLst>
                <a:ext uri="{FF2B5EF4-FFF2-40B4-BE49-F238E27FC236}">
                  <a16:creationId xmlns:a16="http://schemas.microsoft.com/office/drawing/2014/main" id="{CE976CBD-50F1-9384-8413-89D9B087256F}"/>
                </a:ext>
              </a:extLst>
            </p:cNvPr>
            <p:cNvSpPr/>
            <p:nvPr/>
          </p:nvSpPr>
          <p:spPr>
            <a:xfrm>
              <a:off x="8466484" y="9930371"/>
              <a:ext cx="780172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150,000</a:t>
              </a:r>
            </a:p>
          </p:txBody>
        </p:sp>
      </p:grpSp>
      <p:grpSp>
        <p:nvGrpSpPr>
          <p:cNvPr id="255" name="그룹 254">
            <a:extLst>
              <a:ext uri="{FF2B5EF4-FFF2-40B4-BE49-F238E27FC236}">
                <a16:creationId xmlns:a16="http://schemas.microsoft.com/office/drawing/2014/main" id="{94FB0D59-50C2-4E9E-6D81-6DEEEAA2FAA1}"/>
              </a:ext>
            </a:extLst>
          </p:cNvPr>
          <p:cNvGrpSpPr/>
          <p:nvPr/>
        </p:nvGrpSpPr>
        <p:grpSpPr>
          <a:xfrm>
            <a:off x="930580" y="11533446"/>
            <a:ext cx="8316077" cy="1600861"/>
            <a:chOff x="930580" y="10514090"/>
            <a:chExt cx="8316077" cy="1600861"/>
          </a:xfrm>
        </p:grpSpPr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A48100B5-3CC0-6B22-46A6-CBD0172F0BB2}"/>
                </a:ext>
              </a:extLst>
            </p:cNvPr>
            <p:cNvSpPr txBox="1"/>
            <p:nvPr/>
          </p:nvSpPr>
          <p:spPr>
            <a:xfrm>
              <a:off x="930580" y="10514090"/>
              <a:ext cx="4622058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alt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Extraction · Anti-Inflammatory Injection</a:t>
              </a:r>
            </a:p>
          </p:txBody>
        </p:sp>
        <p:sp>
          <p:nvSpPr>
            <p:cNvPr id="247" name="Text 11">
              <a:extLst>
                <a:ext uri="{FF2B5EF4-FFF2-40B4-BE49-F238E27FC236}">
                  <a16:creationId xmlns:a16="http://schemas.microsoft.com/office/drawing/2014/main" id="{9F37C046-027B-6DA5-3337-53FED31B45FD}"/>
                </a:ext>
              </a:extLst>
            </p:cNvPr>
            <p:cNvSpPr/>
            <p:nvPr/>
          </p:nvSpPr>
          <p:spPr>
            <a:xfrm>
              <a:off x="1044691" y="10851509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Extraction</a:t>
              </a:r>
            </a:p>
            <a:p>
              <a:r>
                <a:rPr lang="en-US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Professional removal of sebum, blackheads, whiteheads, comedones and pustular acne</a:t>
              </a:r>
            </a:p>
          </p:txBody>
        </p:sp>
        <p:sp>
          <p:nvSpPr>
            <p:cNvPr id="248" name="Text 15">
              <a:extLst>
                <a:ext uri="{FF2B5EF4-FFF2-40B4-BE49-F238E27FC236}">
                  <a16:creationId xmlns:a16="http://schemas.microsoft.com/office/drawing/2014/main" id="{ADA01967-5B9B-AFC4-04BC-CB70EE693C53}"/>
                </a:ext>
              </a:extLst>
            </p:cNvPr>
            <p:cNvSpPr/>
            <p:nvPr/>
          </p:nvSpPr>
          <p:spPr>
            <a:xfrm>
              <a:off x="7736841" y="10852980"/>
              <a:ext cx="150981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 ea </a:t>
              </a:r>
              <a:r>
                <a:rPr lang="en-US" alt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10,000</a:t>
              </a:r>
              <a:endParaRPr lang="en-US" alt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en-US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Full-Face</a:t>
              </a:r>
              <a:r>
                <a:rPr lang="en-US" altLang="en-US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80,000</a:t>
              </a:r>
              <a:endParaRPr lang="en-US" alt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251" name="Text 15">
              <a:extLst>
                <a:ext uri="{FF2B5EF4-FFF2-40B4-BE49-F238E27FC236}">
                  <a16:creationId xmlns:a16="http://schemas.microsoft.com/office/drawing/2014/main" id="{5F479F4F-9772-9116-7275-A929B133CA97}"/>
                </a:ext>
              </a:extLst>
            </p:cNvPr>
            <p:cNvSpPr/>
            <p:nvPr/>
          </p:nvSpPr>
          <p:spPr>
            <a:xfrm>
              <a:off x="7736841" y="11477161"/>
              <a:ext cx="150981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 ea </a:t>
              </a:r>
              <a:r>
                <a:rPr lang="en-US" alt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10,000</a:t>
              </a:r>
              <a:endParaRPr lang="en-US" alt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en-US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Full-Face</a:t>
              </a:r>
              <a:r>
                <a:rPr lang="en-US" altLang="en-US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50,000</a:t>
              </a:r>
              <a:endParaRPr lang="en-US" alt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242" name="Text 11">
              <a:extLst>
                <a:ext uri="{FF2B5EF4-FFF2-40B4-BE49-F238E27FC236}">
                  <a16:creationId xmlns:a16="http://schemas.microsoft.com/office/drawing/2014/main" id="{D1EE07DC-DAF2-593C-AB6D-B3527F32E7C8}"/>
                </a:ext>
              </a:extLst>
            </p:cNvPr>
            <p:cNvSpPr/>
            <p:nvPr/>
          </p:nvSpPr>
          <p:spPr>
            <a:xfrm>
              <a:off x="1044691" y="11475690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Anti-Inflammatory Injection</a:t>
              </a:r>
            </a:p>
            <a:p>
              <a:r>
                <a:rPr lang="en-US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Anti-inflammatory medication injected directly into inflamed acne</a:t>
              </a:r>
            </a:p>
          </p:txBody>
        </p:sp>
        <p:sp>
          <p:nvSpPr>
            <p:cNvPr id="244" name="Shape 7">
              <a:extLst>
                <a:ext uri="{FF2B5EF4-FFF2-40B4-BE49-F238E27FC236}">
                  <a16:creationId xmlns:a16="http://schemas.microsoft.com/office/drawing/2014/main" id="{BA3A2FB9-4761-88D5-9C32-AA21F51346D7}"/>
                </a:ext>
              </a:extLst>
            </p:cNvPr>
            <p:cNvSpPr/>
            <p:nvPr/>
          </p:nvSpPr>
          <p:spPr>
            <a:xfrm>
              <a:off x="1041515" y="10840845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5" name="Shape 7">
              <a:extLst>
                <a:ext uri="{FF2B5EF4-FFF2-40B4-BE49-F238E27FC236}">
                  <a16:creationId xmlns:a16="http://schemas.microsoft.com/office/drawing/2014/main" id="{DD789A59-7C1C-DC4A-1C40-3525DB9219F1}"/>
                </a:ext>
              </a:extLst>
            </p:cNvPr>
            <p:cNvSpPr/>
            <p:nvPr/>
          </p:nvSpPr>
          <p:spPr>
            <a:xfrm>
              <a:off x="1041515" y="11471661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6" name="Shape 7">
              <a:extLst>
                <a:ext uri="{FF2B5EF4-FFF2-40B4-BE49-F238E27FC236}">
                  <a16:creationId xmlns:a16="http://schemas.microsoft.com/office/drawing/2014/main" id="{A8BDEEC1-9998-4418-5BB8-5D147C88E30B}"/>
                </a:ext>
              </a:extLst>
            </p:cNvPr>
            <p:cNvSpPr/>
            <p:nvPr/>
          </p:nvSpPr>
          <p:spPr>
            <a:xfrm>
              <a:off x="1041515" y="12101344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" name="Shape 7">
            <a:extLst>
              <a:ext uri="{FF2B5EF4-FFF2-40B4-BE49-F238E27FC236}">
                <a16:creationId xmlns:a16="http://schemas.microsoft.com/office/drawing/2014/main" id="{38B0C460-21BF-76C3-D621-E04DB80060B9}"/>
              </a:ext>
            </a:extLst>
          </p:cNvPr>
          <p:cNvSpPr/>
          <p:nvPr/>
        </p:nvSpPr>
        <p:spPr>
          <a:xfrm>
            <a:off x="1044692" y="10175205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FC4C5FFA-75B2-1975-8ADB-F325A40134B4}"/>
              </a:ext>
            </a:extLst>
          </p:cNvPr>
          <p:cNvSpPr/>
          <p:nvPr/>
        </p:nvSpPr>
        <p:spPr>
          <a:xfrm>
            <a:off x="1044692" y="10946099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FA1DE965-013A-0D8B-0A14-246120802500}"/>
              </a:ext>
            </a:extLst>
          </p:cNvPr>
          <p:cNvSpPr/>
          <p:nvPr/>
        </p:nvSpPr>
        <p:spPr>
          <a:xfrm>
            <a:off x="1044692" y="11328327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099A6BA-B960-2AAB-8F87-8684BC3CE20F}"/>
              </a:ext>
            </a:extLst>
          </p:cNvPr>
          <p:cNvSpPr/>
          <p:nvPr/>
        </p:nvSpPr>
        <p:spPr>
          <a:xfrm>
            <a:off x="1047868" y="9789111"/>
            <a:ext cx="5328709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alt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Lala Peel  </a:t>
            </a:r>
            <a:r>
              <a:rPr lang="en-US" altLang="en-US" sz="100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LHA-based gentle peel — exfoliation · sebum control · texture</a:t>
            </a: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29117810-E7B9-39AA-9C84-57065433D0D7}"/>
              </a:ext>
            </a:extLst>
          </p:cNvPr>
          <p:cNvSpPr/>
          <p:nvPr/>
        </p:nvSpPr>
        <p:spPr>
          <a:xfrm>
            <a:off x="1047868" y="10567676"/>
            <a:ext cx="4792318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alt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Pink Peel  </a:t>
            </a:r>
            <a:r>
              <a:rPr lang="en-US" altLang="en-US" sz="100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Gentle peel with brightening and firming actives — clears impurities · tone · elasticity</a:t>
            </a: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23443B8F-3ECF-809D-9A7A-CC9C749ECC5C}"/>
              </a:ext>
            </a:extLst>
          </p:cNvPr>
          <p:cNvSpPr/>
          <p:nvPr/>
        </p:nvSpPr>
        <p:spPr>
          <a:xfrm>
            <a:off x="1047868" y="10949752"/>
            <a:ext cx="4955603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alt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Yes Peel  </a:t>
            </a:r>
            <a:r>
              <a:rPr lang="en-US" altLang="en-US" sz="100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Recovery peel that restores skin condition — exfoliation · texture · hydration</a:t>
            </a: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2B82777E-AAC7-0A9D-65DF-2AFBD2CC237D}"/>
              </a:ext>
            </a:extLst>
          </p:cNvPr>
          <p:cNvSpPr/>
          <p:nvPr/>
        </p:nvSpPr>
        <p:spPr>
          <a:xfrm>
            <a:off x="8469662" y="9869129"/>
            <a:ext cx="780171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en-US" alt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150,000</a:t>
            </a: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495700E0-0105-01F4-C4C1-D002FEFE9604}"/>
              </a:ext>
            </a:extLst>
          </p:cNvPr>
          <p:cNvSpPr/>
          <p:nvPr/>
        </p:nvSpPr>
        <p:spPr>
          <a:xfrm>
            <a:off x="8469661" y="10647694"/>
            <a:ext cx="780172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en-US" alt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170,000</a:t>
            </a:r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ACBAC6AD-9F28-EEB5-B7B2-8F3466D2F2B9}"/>
              </a:ext>
            </a:extLst>
          </p:cNvPr>
          <p:cNvSpPr/>
          <p:nvPr/>
        </p:nvSpPr>
        <p:spPr>
          <a:xfrm>
            <a:off x="8469661" y="11029770"/>
            <a:ext cx="780172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en-US" alt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170,000</a:t>
            </a:r>
          </a:p>
        </p:txBody>
      </p:sp>
      <p:sp>
        <p:nvSpPr>
          <p:cNvPr id="9001" name="Text 11"/>
          <p:cNvSpPr/>
          <p:nvPr/>
        </p:nvSpPr>
        <p:spPr>
          <a:xfrm>
            <a:off x="1047868" y="10182476"/>
            <a:ext cx="5328709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alt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LaLa Jet  </a:t>
            </a:r>
            <a:r>
              <a:rPr lang="en-US" altLang="en-US" sz="100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Hydro-jet system — ultra-fine water jets clear pore impurities · sebum · clear, radiant skin</a:t>
            </a:r>
          </a:p>
        </p:txBody>
      </p:sp>
      <p:sp>
        <p:nvSpPr>
          <p:cNvPr id="9002" name="Text 15"/>
          <p:cNvSpPr/>
          <p:nvPr/>
        </p:nvSpPr>
        <p:spPr>
          <a:xfrm>
            <a:off x="8469662" y="10262494"/>
            <a:ext cx="780171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en-US" alt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200,000</a:t>
            </a:r>
          </a:p>
        </p:txBody>
      </p:sp>
      <p:sp>
        <p:nvSpPr>
          <p:cNvPr id="9003" name="Shape 7">
            <a:extLst>
              <a:ext uri="{FF2B5EF4-FFF2-40B4-BE49-F238E27FC236}">
                <a16:creationId xmlns:a16="http://schemas.microsoft.com/office/drawing/2014/main" id="{FC4C5FFA-75B2-1975-8ADB-F325A40134B4}"/>
              </a:ext>
            </a:extLst>
          </p:cNvPr>
          <p:cNvSpPr/>
          <p:nvPr/>
        </p:nvSpPr>
        <p:spPr>
          <a:xfrm>
            <a:off x="1044692" y="10560899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3">
            <a:extLst>
              <a:ext uri="{FF2B5EF4-FFF2-40B4-BE49-F238E27FC236}">
                <a16:creationId xmlns:a16="http://schemas.microsoft.com/office/drawing/2014/main" id="{07D082F0-96DE-92BB-5CED-DD202590AC4A}"/>
              </a:ext>
            </a:extLst>
          </p:cNvPr>
          <p:cNvSpPr/>
          <p:nvPr/>
        </p:nvSpPr>
        <p:spPr>
          <a:xfrm>
            <a:off x="-514350" y="856844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LASER HAIR REMOVAL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2" name="Text 4">
            <a:extLst>
              <a:ext uri="{FF2B5EF4-FFF2-40B4-BE49-F238E27FC236}">
                <a16:creationId xmlns:a16="http://schemas.microsoft.com/office/drawing/2014/main" id="{0A1EE3F0-805B-61D7-B34E-9ACD158894FB}"/>
              </a:ext>
            </a:extLst>
          </p:cNvPr>
          <p:cNvSpPr/>
          <p:nvPr/>
        </p:nvSpPr>
        <p:spPr>
          <a:xfrm>
            <a:off x="-514350" y="1058187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471" b="1" kern="0" spc="-63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Laser Hair Removal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3" name="Text 5">
            <a:extLst>
              <a:ext uri="{FF2B5EF4-FFF2-40B4-BE49-F238E27FC236}">
                <a16:creationId xmlns:a16="http://schemas.microsoft.com/office/drawing/2014/main" id="{0CD7E084-7678-E826-00CF-B3CE4F6288A5}"/>
              </a:ext>
            </a:extLst>
          </p:cNvPr>
          <p:cNvSpPr/>
          <p:nvPr/>
        </p:nvSpPr>
        <p:spPr>
          <a:xfrm>
            <a:off x="-514350" y="1531673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Avalanche — Women’s · Men’s Hair Removal</a:t>
            </a:r>
            <a:endParaRPr 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4" name="Text 96">
            <a:extLst>
              <a:ext uri="{FF2B5EF4-FFF2-40B4-BE49-F238E27FC236}">
                <a16:creationId xmlns:a16="http://schemas.microsoft.com/office/drawing/2014/main" id="{1213A560-35D6-A4E7-B37C-B4B2473A1C73}"/>
              </a:ext>
            </a:extLst>
          </p:cNvPr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88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* 10% VAT not included</a:t>
            </a:r>
            <a:endParaRPr lang="en-US" sz="101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5" name="TextBox 251">
            <a:extLst>
              <a:ext uri="{FF2B5EF4-FFF2-40B4-BE49-F238E27FC236}">
                <a16:creationId xmlns:a16="http://schemas.microsoft.com/office/drawing/2014/main" id="{8DA01E9F-A1B4-868E-FBDF-592F835229C2}"/>
              </a:ext>
            </a:extLst>
          </p:cNvPr>
          <p:cNvSpPr txBox="1"/>
          <p:nvPr/>
        </p:nvSpPr>
        <p:spPr>
          <a:xfrm>
            <a:off x="928800" y="2721600"/>
            <a:ext cx="3607307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rPr>
              <a:t>Avalanche Women’s Hair Removal</a:t>
            </a:r>
            <a:endParaRPr lang="en-US" altLang="en-US" dirty="0">
              <a:latin typeface="신세계 SemiBold" panose="02000300000000000000" pitchFamily="50" charset="-127"/>
              <a:ea typeface="신세계 SemiBold" panose="02000300000000000000" pitchFamily="50" charset="-127"/>
              <a:cs typeface="Sinsegye" pitchFamily="34" charset="-120"/>
            </a:endParaRPr>
          </a:p>
        </p:txBody>
      </p:sp>
      <p:sp>
        <p:nvSpPr>
          <p:cNvPr id="106" name="Shape 7">
            <a:extLst>
              <a:ext uri="{FF2B5EF4-FFF2-40B4-BE49-F238E27FC236}">
                <a16:creationId xmlns:a16="http://schemas.microsoft.com/office/drawing/2014/main" id="{EDF12578-D341-D8EB-43DD-F6BCDBA41D68}"/>
              </a:ext>
            </a:extLst>
          </p:cNvPr>
          <p:cNvSpPr/>
          <p:nvPr/>
        </p:nvSpPr>
        <p:spPr>
          <a:xfrm>
            <a:off x="1040400" y="3045599"/>
            <a:ext cx="8204400" cy="13607"/>
          </a:xfrm>
          <a:prstGeom prst="rect">
            <a:avLst/>
          </a:prstGeom>
          <a:solidFill>
            <a:srgbClr val="2498BD"/>
          </a:solidFill>
          <a:ln/>
        </p:spPr>
      </p:sp>
      <p:sp>
        <p:nvSpPr>
          <p:cNvPr id="107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3056399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Underarms or Upper Lip or Sideburns</a:t>
            </a:r>
            <a:endParaRPr lang="en-US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08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203188" y="3113999"/>
            <a:ext cx="1284071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50,000</a:t>
            </a:r>
          </a:p>
        </p:txBody>
      </p:sp>
      <p:sp>
        <p:nvSpPr>
          <p:cNvPr id="109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3113999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150,000</a:t>
            </a:r>
          </a:p>
        </p:txBody>
      </p:sp>
      <p:sp>
        <p:nvSpPr>
          <p:cNvPr id="110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33984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1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3409199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Underarms + Upper Lip</a:t>
            </a:r>
            <a:endParaRPr lang="en-US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12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203188" y="3466799"/>
            <a:ext cx="1284071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80,000</a:t>
            </a:r>
          </a:p>
        </p:txBody>
      </p:sp>
      <p:sp>
        <p:nvSpPr>
          <p:cNvPr id="11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3466799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250,000</a:t>
            </a:r>
          </a:p>
        </p:txBody>
      </p:sp>
      <p:sp>
        <p:nvSpPr>
          <p:cNvPr id="114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37512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5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3761999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Forehead (incl. Hairline) or Back of Neck</a:t>
            </a:r>
            <a:endParaRPr lang="en-US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16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203188" y="3819600"/>
            <a:ext cx="1284071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90,000</a:t>
            </a:r>
          </a:p>
        </p:txBody>
      </p:sp>
      <p:sp>
        <p:nvSpPr>
          <p:cNvPr id="117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3819600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300,000</a:t>
            </a:r>
          </a:p>
        </p:txBody>
      </p:sp>
      <p:sp>
        <p:nvSpPr>
          <p:cNvPr id="118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41040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9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41148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Full-Face (incl. Forehead · Glabella)</a:t>
            </a:r>
            <a:endParaRPr lang="en-US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20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092952" y="4172400"/>
            <a:ext cx="139430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120,000</a:t>
            </a:r>
          </a:p>
        </p:txBody>
      </p:sp>
      <p:sp>
        <p:nvSpPr>
          <p:cNvPr id="121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4172400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390,000</a:t>
            </a:r>
          </a:p>
        </p:txBody>
      </p:sp>
      <p:sp>
        <p:nvSpPr>
          <p:cNvPr id="122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44568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3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44676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Fingers + Back of Hands or Toes + Tops of Feet</a:t>
            </a:r>
            <a:endParaRPr lang="en-US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24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203188" y="4525200"/>
            <a:ext cx="1284071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70,000</a:t>
            </a:r>
          </a:p>
        </p:txBody>
      </p:sp>
      <p:sp>
        <p:nvSpPr>
          <p:cNvPr id="125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4525200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200,000</a:t>
            </a:r>
          </a:p>
        </p:txBody>
      </p:sp>
      <p:sp>
        <p:nvSpPr>
          <p:cNvPr id="126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48096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7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48204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Lower or Upper Arm (incl. Elbow)</a:t>
            </a:r>
            <a:endParaRPr lang="en-US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28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092952" y="4878000"/>
            <a:ext cx="139430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120,000</a:t>
            </a:r>
          </a:p>
        </p:txBody>
      </p:sp>
      <p:sp>
        <p:nvSpPr>
          <p:cNvPr id="129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4878000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390,000</a:t>
            </a:r>
          </a:p>
        </p:txBody>
      </p:sp>
      <p:sp>
        <p:nvSpPr>
          <p:cNvPr id="130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51624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1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51732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Full Arms (to Wrists)</a:t>
            </a:r>
            <a:endParaRPr lang="en-US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32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092952" y="5230800"/>
            <a:ext cx="139430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200,000</a:t>
            </a:r>
          </a:p>
        </p:txBody>
      </p:sp>
      <p:sp>
        <p:nvSpPr>
          <p:cNvPr id="13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5230800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600,000</a:t>
            </a:r>
          </a:p>
        </p:txBody>
      </p:sp>
      <p:sp>
        <p:nvSpPr>
          <p:cNvPr id="134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55152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5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55260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Calves (incl. Knees)</a:t>
            </a:r>
            <a:endParaRPr lang="en-US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36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092952" y="5583600"/>
            <a:ext cx="139430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120,000</a:t>
            </a:r>
          </a:p>
        </p:txBody>
      </p:sp>
      <p:sp>
        <p:nvSpPr>
          <p:cNvPr id="137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5583600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390,000</a:t>
            </a:r>
          </a:p>
        </p:txBody>
      </p:sp>
      <p:sp>
        <p:nvSpPr>
          <p:cNvPr id="138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58680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9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58788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Thighs (incl. Knees)</a:t>
            </a:r>
            <a:endParaRPr lang="en-US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40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092952" y="5936400"/>
            <a:ext cx="139430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160,000</a:t>
            </a:r>
          </a:p>
        </p:txBody>
      </p:sp>
      <p:sp>
        <p:nvSpPr>
          <p:cNvPr id="141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5936400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500,000</a:t>
            </a:r>
          </a:p>
        </p:txBody>
      </p:sp>
      <p:sp>
        <p:nvSpPr>
          <p:cNvPr id="142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62208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43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62316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Full Legs (to Ankles)</a:t>
            </a:r>
            <a:endParaRPr lang="en-US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44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092952" y="6289200"/>
            <a:ext cx="139430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230,000</a:t>
            </a:r>
          </a:p>
        </p:txBody>
      </p:sp>
      <p:sp>
        <p:nvSpPr>
          <p:cNvPr id="145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6289200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700,000</a:t>
            </a:r>
          </a:p>
        </p:txBody>
      </p:sp>
      <p:sp>
        <p:nvSpPr>
          <p:cNvPr id="146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65736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47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65844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Abdomen (incl. Happy Trail)</a:t>
            </a:r>
            <a:endParaRPr lang="en-US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48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092952" y="6642000"/>
            <a:ext cx="139430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120,000</a:t>
            </a:r>
          </a:p>
        </p:txBody>
      </p:sp>
      <p:sp>
        <p:nvSpPr>
          <p:cNvPr id="149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6642000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390,000</a:t>
            </a:r>
          </a:p>
        </p:txBody>
      </p:sp>
      <p:sp>
        <p:nvSpPr>
          <p:cNvPr id="150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69264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1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69372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Full Back</a:t>
            </a:r>
            <a:endParaRPr lang="en-US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52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092952" y="6994800"/>
            <a:ext cx="139430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200,000</a:t>
            </a:r>
          </a:p>
        </p:txBody>
      </p:sp>
      <p:sp>
        <p:nvSpPr>
          <p:cNvPr id="15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6994800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600,000</a:t>
            </a:r>
          </a:p>
        </p:txBody>
      </p:sp>
      <p:sp>
        <p:nvSpPr>
          <p:cNvPr id="154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72792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5" name="TextBox 251">
            <a:extLst>
              <a:ext uri="{FF2B5EF4-FFF2-40B4-BE49-F238E27FC236}">
                <a16:creationId xmlns:a16="http://schemas.microsoft.com/office/drawing/2014/main" id="{8DA01E9F-A1B4-868E-FBDF-592F835229C2}"/>
              </a:ext>
            </a:extLst>
          </p:cNvPr>
          <p:cNvSpPr txBox="1"/>
          <p:nvPr/>
        </p:nvSpPr>
        <p:spPr>
          <a:xfrm>
            <a:off x="928800" y="7556400"/>
            <a:ext cx="3378707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rPr>
              <a:t>Avalanche Men’s Hair Removal</a:t>
            </a:r>
            <a:endParaRPr lang="en-US" altLang="en-US" dirty="0">
              <a:latin typeface="신세계 SemiBold" panose="02000300000000000000" pitchFamily="50" charset="-127"/>
              <a:ea typeface="신세계 SemiBold" panose="02000300000000000000" pitchFamily="50" charset="-127"/>
              <a:cs typeface="Sinsegye" pitchFamily="34" charset="-120"/>
            </a:endParaRPr>
          </a:p>
        </p:txBody>
      </p:sp>
      <p:sp>
        <p:nvSpPr>
          <p:cNvPr id="156" name="Shape 7">
            <a:extLst>
              <a:ext uri="{FF2B5EF4-FFF2-40B4-BE49-F238E27FC236}">
                <a16:creationId xmlns:a16="http://schemas.microsoft.com/office/drawing/2014/main" id="{EDF12578-D341-D8EB-43DD-F6BCDBA41D68}"/>
              </a:ext>
            </a:extLst>
          </p:cNvPr>
          <p:cNvSpPr/>
          <p:nvPr/>
        </p:nvSpPr>
        <p:spPr>
          <a:xfrm>
            <a:off x="1040400" y="7880400"/>
            <a:ext cx="8204400" cy="13607"/>
          </a:xfrm>
          <a:prstGeom prst="rect">
            <a:avLst/>
          </a:prstGeom>
          <a:solidFill>
            <a:srgbClr val="2498BD"/>
          </a:solidFill>
          <a:ln/>
        </p:spPr>
      </p:sp>
      <p:sp>
        <p:nvSpPr>
          <p:cNvPr id="157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78912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Upper Lip + Chin + Under-Chin</a:t>
            </a:r>
            <a:endParaRPr lang="en-US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58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203188" y="7948800"/>
            <a:ext cx="1284071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80,000</a:t>
            </a:r>
          </a:p>
        </p:txBody>
      </p:sp>
      <p:sp>
        <p:nvSpPr>
          <p:cNvPr id="159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7948800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300,000</a:t>
            </a:r>
          </a:p>
        </p:txBody>
      </p:sp>
      <p:sp>
        <p:nvSpPr>
          <p:cNvPr id="160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82332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61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8244000"/>
            <a:ext cx="511603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065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Full Lower Face (Upper Lip · Chin · Jawline · Sideburns · Cheeks · Under-Chin)</a:t>
            </a:r>
            <a:endParaRPr lang="en-US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62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092952" y="8301600"/>
            <a:ext cx="139430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120,000</a:t>
            </a:r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8301600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450,000</a:t>
            </a:r>
          </a:p>
        </p:txBody>
      </p:sp>
      <p:sp>
        <p:nvSpPr>
          <p:cNvPr id="164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85860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65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8596800"/>
            <a:ext cx="5045431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315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Full-Face (incl. Forehead · Hairline · Glabella · Under-Chin)</a:t>
            </a:r>
            <a:endParaRPr lang="en-US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66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092952" y="8654400"/>
            <a:ext cx="139430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170,000</a:t>
            </a:r>
          </a:p>
        </p:txBody>
      </p:sp>
      <p:sp>
        <p:nvSpPr>
          <p:cNvPr id="167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8654400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650,000</a:t>
            </a:r>
          </a:p>
        </p:txBody>
      </p:sp>
      <p:sp>
        <p:nvSpPr>
          <p:cNvPr id="168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89388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69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89496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Add-on) Neck</a:t>
            </a:r>
            <a:endParaRPr lang="en-US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70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203188" y="9007200"/>
            <a:ext cx="1284071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70,000</a:t>
            </a:r>
          </a:p>
        </p:txBody>
      </p:sp>
      <p:sp>
        <p:nvSpPr>
          <p:cNvPr id="171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9007200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250,000</a:t>
            </a:r>
          </a:p>
        </p:txBody>
      </p:sp>
      <p:sp>
        <p:nvSpPr>
          <p:cNvPr id="172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92916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73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93024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Forehead (incl. Hairline)</a:t>
            </a:r>
            <a:endParaRPr lang="en-US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74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203188" y="9360000"/>
            <a:ext cx="1284071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70,000</a:t>
            </a:r>
          </a:p>
        </p:txBody>
      </p:sp>
      <p:sp>
        <p:nvSpPr>
          <p:cNvPr id="175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9360000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250,000</a:t>
            </a:r>
          </a:p>
        </p:txBody>
      </p:sp>
      <p:sp>
        <p:nvSpPr>
          <p:cNvPr id="176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96444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77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96552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Back of Neck</a:t>
            </a:r>
            <a:endParaRPr lang="en-US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78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092952" y="9712800"/>
            <a:ext cx="139430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120,000</a:t>
            </a:r>
          </a:p>
        </p:txBody>
      </p:sp>
      <p:sp>
        <p:nvSpPr>
          <p:cNvPr id="179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9712800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390,000</a:t>
            </a:r>
          </a:p>
        </p:txBody>
      </p:sp>
      <p:sp>
        <p:nvSpPr>
          <p:cNvPr id="180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99972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81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00080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Underarms</a:t>
            </a:r>
            <a:endParaRPr lang="en-US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82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203188" y="10065600"/>
            <a:ext cx="1284071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70,000</a:t>
            </a:r>
          </a:p>
        </p:txBody>
      </p:sp>
      <p:sp>
        <p:nvSpPr>
          <p:cNvPr id="18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10065600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200,000</a:t>
            </a:r>
          </a:p>
        </p:txBody>
      </p:sp>
      <p:sp>
        <p:nvSpPr>
          <p:cNvPr id="184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03500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85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03608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Fingers + Back of Hands or Toes + Tops of Feet</a:t>
            </a:r>
            <a:endParaRPr lang="en-US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86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203188" y="10418400"/>
            <a:ext cx="1284071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70,000</a:t>
            </a:r>
          </a:p>
        </p:txBody>
      </p:sp>
      <p:sp>
        <p:nvSpPr>
          <p:cNvPr id="187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10418400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200,000</a:t>
            </a:r>
          </a:p>
        </p:txBody>
      </p:sp>
      <p:sp>
        <p:nvSpPr>
          <p:cNvPr id="188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07028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89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07136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Lower or Upper Arm (incl. Elbow)</a:t>
            </a:r>
            <a:endParaRPr lang="en-US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90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092952" y="10771200"/>
            <a:ext cx="139430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150,000</a:t>
            </a:r>
          </a:p>
        </p:txBody>
      </p:sp>
      <p:sp>
        <p:nvSpPr>
          <p:cNvPr id="191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10771200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450,000</a:t>
            </a:r>
          </a:p>
        </p:txBody>
      </p:sp>
      <p:sp>
        <p:nvSpPr>
          <p:cNvPr id="192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10556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93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10664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Full Arms (to Wrists)</a:t>
            </a:r>
            <a:endParaRPr lang="en-US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94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092952" y="11124000"/>
            <a:ext cx="139430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230,000</a:t>
            </a:r>
          </a:p>
        </p:txBody>
      </p:sp>
      <p:sp>
        <p:nvSpPr>
          <p:cNvPr id="195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11124000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700,000</a:t>
            </a:r>
          </a:p>
        </p:txBody>
      </p:sp>
      <p:sp>
        <p:nvSpPr>
          <p:cNvPr id="196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14084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97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14192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Calves (incl. Knees)</a:t>
            </a:r>
            <a:endParaRPr lang="en-US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98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092952" y="11476800"/>
            <a:ext cx="139430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150,000</a:t>
            </a:r>
          </a:p>
        </p:txBody>
      </p:sp>
      <p:sp>
        <p:nvSpPr>
          <p:cNvPr id="199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11476800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450,000</a:t>
            </a:r>
          </a:p>
        </p:txBody>
      </p:sp>
      <p:sp>
        <p:nvSpPr>
          <p:cNvPr id="200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17612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01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17720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Thighs (incl. Knees)</a:t>
            </a:r>
            <a:endParaRPr lang="en-US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202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092952" y="11829600"/>
            <a:ext cx="139430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200,000</a:t>
            </a:r>
          </a:p>
        </p:txBody>
      </p:sp>
      <p:sp>
        <p:nvSpPr>
          <p:cNvPr id="20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11829600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600,000</a:t>
            </a:r>
          </a:p>
        </p:txBody>
      </p:sp>
      <p:sp>
        <p:nvSpPr>
          <p:cNvPr id="204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21140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05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21248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Full Legs (to Ankles)</a:t>
            </a:r>
            <a:endParaRPr lang="en-US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206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092952" y="12182399"/>
            <a:ext cx="139430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250,000</a:t>
            </a:r>
          </a:p>
        </p:txBody>
      </p:sp>
      <p:sp>
        <p:nvSpPr>
          <p:cNvPr id="207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12182399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750,000</a:t>
            </a:r>
          </a:p>
        </p:txBody>
      </p:sp>
      <p:sp>
        <p:nvSpPr>
          <p:cNvPr id="208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2466799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09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2477599"/>
            <a:ext cx="5139306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992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Chest (incl. Areola) or Abdomen (incl. Happy Trail) *Based on the solar plexus line</a:t>
            </a:r>
            <a:endParaRPr lang="en-US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210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092952" y="12535199"/>
            <a:ext cx="139430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160,000</a:t>
            </a:r>
          </a:p>
        </p:txBody>
      </p:sp>
      <p:sp>
        <p:nvSpPr>
          <p:cNvPr id="211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12535199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500,000</a:t>
            </a:r>
          </a:p>
        </p:txBody>
      </p:sp>
      <p:sp>
        <p:nvSpPr>
          <p:cNvPr id="212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2819599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13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2830399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Full Back</a:t>
            </a:r>
            <a:endParaRPr lang="en-US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214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092952" y="12887999"/>
            <a:ext cx="139430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250,000</a:t>
            </a:r>
          </a:p>
        </p:txBody>
      </p:sp>
      <p:sp>
        <p:nvSpPr>
          <p:cNvPr id="215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12887999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750,000</a:t>
            </a:r>
          </a:p>
        </p:txBody>
      </p:sp>
      <p:sp>
        <p:nvSpPr>
          <p:cNvPr id="216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3172399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13" row="0">
    <wetp:webextensionref xmlns:r="http://schemas.openxmlformats.org/officeDocument/2006/relationships" r:id="rId1"/>
  </wetp:taskpane>
  <wetp:taskpane dockstate="right" visibility="0" width="613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C6EA11EE-D77F-4A04-B1C8-08FBA8B6870C}">
  <we:reference id="wa200007130" version="1.0.0.1" store="ko-KR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82F30BB-FF99-4E57-A1D1-210899C0DE76}">
  <we:reference id="wa200005669" version="2.0.0.0" store="ko-KR" storeType="OMEX"/>
  <we:alternateReferences>
    <we:reference id="wa200005669" version="2.0.0.0" store="wa20000566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2836</TotalTime>
  <Words>2182</Words>
  <Application>Microsoft Office PowerPoint</Application>
  <PresentationFormat>사용자 지정</PresentationFormat>
  <Paragraphs>543</Paragraphs>
  <Slides>3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신세계 SemiBold</vt:lpstr>
      <vt:lpstr>신세계 Medium</vt:lpstr>
      <vt:lpstr>신세계 Bold</vt:lpstr>
      <vt:lpstr>신세계 Regular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종진 이</cp:lastModifiedBy>
  <cp:revision>86</cp:revision>
  <cp:lastPrinted>2026-07-22T06:48:58Z</cp:lastPrinted>
  <dcterms:created xsi:type="dcterms:W3CDTF">2026-07-20T01:44:47Z</dcterms:created>
  <dcterms:modified xsi:type="dcterms:W3CDTF">2026-10-19T02:42:29Z</dcterms:modified>
</cp:coreProperties>
</file>