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70" r:id="rId8"/>
    <p:sldId id="999" r:id="rId999"/>
    <p:sldId id="264" r:id="rId12"/>
  </p:sldIdLst>
  <p:sldSz cx="10287000" cy="14544675"/>
  <p:notesSz cx="9928225" cy="6797675"/>
  <p:embeddedFontLst>
    <p:embeddedFont>
      <p:font typeface="Noto Serif JP Medium" panose="02020200000000000000" pitchFamily="18" charset="-128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864" y="92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9" Type="http://schemas.openxmlformats.org/officeDocument/2006/relationships/tableStyles" Target="tableStyles.xml"/><Relationship Id="rId14" Type="http://schemas.openxmlformats.org/officeDocument/2006/relationships/notesMaster" Target="notesMasters/notesMaster1.xml"/><Relationship Id="rId999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4842000"/>
            <a:ext cx="1908000" cy="19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4726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96259" y="2880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ja-JP" altLang="en-US" sz="996" kern="0" spc="219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PICOLITE BLACK</a:t>
            </a:r>
            <a:endParaRPr lang="ja-JP" altLang="en-US" sz="99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114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ja-JP" altLang="en-US" sz="2116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ピコライトブラック</a:t>
            </a:r>
            <a:endParaRPr lang="ja-JP" altLang="en-US" sz="211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491999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10000"/>
          </a:bodyPr>
          <a:lstStyle/>
          <a:p>
            <a:pPr>
              <a:lnSpc>
                <a:spcPct val="149333"/>
              </a:lnSpc>
            </a:pPr>
            <a:r>
              <a:rPr lang="ja-JP" altLang="en-US" sz="1245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1兆分の1秒単位の超短時間でエネルギーを照射するピコレーザー。 </a:t>
            </a:r>
          </a:p>
          <a:p>
            <a:pPr>
              <a:lnSpc>
                <a:spcPct val="149333"/>
              </a:lnSpc>
            </a:pPr>
            <a:r>
              <a:rPr lang="ja-JP" altLang="en-US" sz="1245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従来のナノレーザーより少ない刺激で、色素疾患・毛穴・ニキビ痕・肌トーンまで </a:t>
            </a:r>
          </a:p>
          <a:p>
            <a:pPr>
              <a:lnSpc>
                <a:spcPct val="149333"/>
              </a:lnSpc>
            </a:pPr>
            <a:r>
              <a:rPr lang="ja-JP" altLang="en-US" sz="1245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精密かつ安全に改善します。</a:t>
            </a:r>
            <a:endParaRPr lang="ja-JP" altLang="en-US" sz="1245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9" y="4384800"/>
            <a:ext cx="111794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28380" y="4429970"/>
            <a:ext cx="1235851" cy="180679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ピコトーニング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882243" y="4384800"/>
            <a:ext cx="109401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08029" y="4429970"/>
            <a:ext cx="1467671" cy="180679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シミ・そばかす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044289" y="4384800"/>
            <a:ext cx="156442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64129" y="4429970"/>
            <a:ext cx="2091095" cy="180679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ホクロ・老人性イボ除去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6868799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696259" y="5022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ja-JP" altLang="en-US" sz="996" kern="0" spc="219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CO2</a:t>
            </a:r>
            <a:endParaRPr lang="ja-JP" altLang="en-US" sz="99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256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ja-JP" altLang="en-US" sz="2116" dirty="0">
                <a:latin typeface="Noto Serif JP Medium" panose="02020200000000000000" pitchFamily="18" charset="-128"/>
                <a:ea typeface="Noto Serif JP Medium" panose="02020200000000000000" pitchFamily="18" charset="-128"/>
              </a:rPr>
              <a:t>Co2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5633999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ja-JP" altLang="en-US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病変組織を精密に蒸散・切除するレーザーです。ホクロ、稗粒腫、老人性イボ</a:t>
            </a:r>
            <a:br>
              <a:rPr lang="en-US" altLang="ja-JP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</a:br>
            <a:r>
              <a:rPr lang="ja-JP" altLang="en-US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などの表在性病変の除去や肌表面の再生施術に用いられます。</a:t>
            </a:r>
            <a:endParaRPr lang="ja-JP" altLang="en-US" sz="12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6526800"/>
            <a:ext cx="113012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745523" y="6550569"/>
            <a:ext cx="1088022" cy="1790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ホクロ・稗粒腫 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909206" y="6526800"/>
            <a:ext cx="120096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11343" y="6550569"/>
            <a:ext cx="1596694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老人性イボ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187791" y="6526800"/>
            <a:ext cx="114620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34120" y="6550569"/>
            <a:ext cx="853543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皮膚病変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7163999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ja-JP" altLang="en-US" sz="996" kern="0" spc="219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POTENZA</a:t>
            </a:r>
            <a:endParaRPr lang="ja-JP" altLang="en-US" sz="99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7397999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ja-JP" altLang="en-US" sz="2116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ポテンツァ</a:t>
            </a:r>
            <a:endParaRPr lang="ja-JP" altLang="en-US" sz="211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7775999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ja-JP" altLang="en-US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マイクロニードルが肌に入り、目標の深さに高周波（RF）エネルギーを </a:t>
            </a:r>
          </a:p>
          <a:p>
            <a:pPr>
              <a:lnSpc>
                <a:spcPct val="149333"/>
              </a:lnSpc>
            </a:pPr>
            <a:r>
              <a:rPr lang="ja-JP" altLang="en-US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届ける機器です。多彩なチップとモードで毛穴・ニキビ痕・キメ・</a:t>
            </a:r>
          </a:p>
          <a:p>
            <a:pPr>
              <a:lnSpc>
                <a:spcPct val="149333"/>
              </a:lnSpc>
            </a:pPr>
            <a:r>
              <a:rPr lang="ja-JP" altLang="en-US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弾力の改善をサポートし、スキンブースター施術との併用も可能です。</a:t>
            </a:r>
            <a:endParaRPr lang="ja-JP" altLang="en-US" sz="12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2" y="8668800"/>
            <a:ext cx="114133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828381" y="8713970"/>
            <a:ext cx="876670" cy="163601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pPr algn="ctr"/>
            <a:r>
              <a:rPr lang="ja-JP" altLang="en-US" sz="996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毛穴・ニキビ痕</a:t>
            </a:r>
            <a:endParaRPr lang="ja-JP" altLang="en-US" sz="99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928220" y="8668800"/>
            <a:ext cx="94007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960931" y="8694977"/>
            <a:ext cx="876841" cy="21229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キメ・弾力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962973" y="8668800"/>
            <a:ext cx="149299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012238" y="8694977"/>
            <a:ext cx="1362102" cy="1980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スキンブースター注入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ja-JP" altLang="en-US" sz="1050" kern="0" spc="168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LASER DEVICE</a:t>
            </a:r>
            <a:endParaRPr lang="ja-JP" altLang="en-US" sz="105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ja-JP" altLang="en-US" sz="3150" kern="0" spc="-63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レーザー機器</a:t>
            </a:r>
            <a:endParaRPr lang="ja-JP" altLang="en-US" sz="315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ja-JP" altLang="en-US" sz="1275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シミ・そばかす・赤ら顔・毛穴・ニキビ痕・脱毛</a:t>
            </a:r>
            <a:endParaRPr lang="ja-JP" altLang="en-US" sz="1275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1908000" cy="190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6983999"/>
            <a:ext cx="1908000" cy="190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1" name="BBL Divider"/>
          <p:cNvSpPr/>
          <p:nvPr/>
        </p:nvSpPr>
        <p:spPr>
          <a:xfrm>
            <a:off x="959560" y="9010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02" name="BBL Label"/>
          <p:cNvSpPr/>
          <p:nvPr/>
        </p:nvSpPr>
        <p:spPr>
          <a:xfrm>
            <a:off x="3696259" y="9306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ja-JP" altLang="en-US" sz="996" kern="0" spc="219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BROADBAND LIGHT</a:t>
            </a:r>
            <a:endParaRPr lang="ja-JP" altLang="en-US" sz="99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9540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ja-JP" altLang="en-US" sz="2116" dirty="0">
                <a:latin typeface="Noto Serif JP Medium" panose="02020200000000000000" pitchFamily="18" charset="-128"/>
                <a:ea typeface="Noto Serif JP Medium" panose="02020200000000000000" pitchFamily="18" charset="-128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9918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ja-JP" altLang="en-US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広い波長帯の光エネルギー（BroadBand Light）を肌の深さ別に届ける光治療機器です。シミ・そばかすなどの色素と赤ら顔・血管病変を同時に改善し、肌トーンとキメを明るく均一に整えます。</a:t>
            </a:r>
            <a:endParaRPr lang="ja-JP" altLang="en-US" sz="12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0810800"/>
            <a:ext cx="106452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06" name="BBL TagText 1"/>
          <p:cNvSpPr/>
          <p:nvPr/>
        </p:nvSpPr>
        <p:spPr>
          <a:xfrm>
            <a:off x="3733417" y="10834570"/>
            <a:ext cx="1005497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シミ・そばかす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833545" y="10810800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08" name="BBL TagText 2"/>
          <p:cNvSpPr/>
          <p:nvPr/>
        </p:nvSpPr>
        <p:spPr>
          <a:xfrm>
            <a:off x="4863545" y="10834570"/>
            <a:ext cx="81684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赤ら顔・血管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788003" y="10810800"/>
            <a:ext cx="900000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10" name="BBL TagText 3"/>
          <p:cNvSpPr/>
          <p:nvPr/>
        </p:nvSpPr>
        <p:spPr>
          <a:xfrm>
            <a:off x="5818003" y="10834570"/>
            <a:ext cx="84000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ja-JP" altLang="en-US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肌トーン改善</a:t>
            </a:r>
            <a:endParaRPr lang="ja-JP" altLang="en-US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9126000"/>
            <a:ext cx="1908000" cy="190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01" name="BBL Label"/>
          <p:cNvSpPr/>
          <p:nvPr/>
        </p:nvSpPr>
        <p:spPr>
          <a:xfrm>
            <a:off x="3696259" y="11448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ja-JP" sz="996" kern="0" spc="219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AVALANCHE</a:t>
            </a:r>
            <a:endParaRPr lang="ja-JP" sz="99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02" name="BBL Name"/>
          <p:cNvSpPr/>
          <p:nvPr/>
        </p:nvSpPr>
        <p:spPr>
          <a:xfrm>
            <a:off x="3696259" y="11682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ja-JP" sz="1930" b="1" dirty="0">
                <a:latin typeface="Noto Serif JP Medium" panose="02020200000000000000" pitchFamily="18" charset="-128"/>
                <a:ea typeface="Noto Serif JP Medium" panose="02020200000000000000" pitchFamily="18" charset="-128"/>
              </a:rPr>
              <a:t>アバランチ</a:t>
            </a:r>
          </a:p>
        </p:txBody>
      </p:sp>
      <p:sp>
        <p:nvSpPr>
          <p:cNvPr id="303" name="BBL Desc"/>
          <p:cNvSpPr/>
          <p:nvPr/>
        </p:nvSpPr>
        <p:spPr>
          <a:xfrm>
            <a:off x="3696259" y="12060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ja-JP" sz="12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毛質と肌タイプに合わせてエネルギーを調整するレーザー脱毛機器。強力なクーリングで痛みを抑え、顔からボディまで広範囲を素早く均一に脱毛します。</a:t>
            </a:r>
            <a:endParaRPr lang="ja-JP" sz="12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04" name="BBL Tag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5" name="BBL TagText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ja-JP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女性脱毛</a:t>
            </a:r>
            <a:endParaRPr lang="ja-JP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06" name="BBL Tag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7" name="BBL TagText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ja-JP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男性脱毛</a:t>
            </a:r>
            <a:endParaRPr lang="ja-JP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08" name="BBL Tag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9" name="BBL TagText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ja-JP" sz="9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顔・ボディ</a:t>
            </a:r>
            <a:endParaRPr lang="ja-JP" sz="90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310" name="BBL 이미지"/>
          <p:cNvSpPr/>
          <p:nvPr/>
        </p:nvSpPr>
        <p:spPr>
          <a:xfrm>
            <a:off x="1016176" y="11268000"/>
            <a:ext cx="1908000" cy="1908000"/>
          </a:xfrm>
          <a:prstGeom prst="rect">
            <a:avLst/>
          </a:prstGeom>
          <a:solidFill>
            <a:srgbClr val="EAF3F7"/>
          </a:solidFill>
          <a:ln w="9525">
            <a:solidFill>
              <a:srgbClr val="2498B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11" name="AVALANCHE 이미지 자리"/>
          <p:cNvSpPr/>
          <p:nvPr/>
        </p:nvSpPr>
        <p:spPr>
          <a:xfrm>
            <a:off x="1015200" y="12114000"/>
            <a:ext cx="1908000" cy="21600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pPr algn="ctr"/>
            <a:r>
              <a:rPr lang="ja-JP" sz="996" kern="0" spc="219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機器画像の位置</a:t>
            </a:r>
            <a:endParaRPr lang="ja-JP" sz="996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ja-JP" altLang="en-US" sz="1050" kern="0" spc="168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MEDICAL SKINCARE</a:t>
            </a:r>
            <a:endParaRPr lang="ja-JP" altLang="en-US" sz="105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ja-JP" altLang="en-US" sz="3150" kern="0" spc="-63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メディカルスキンケア</a:t>
            </a:r>
            <a:endParaRPr lang="ja-JP" altLang="en-US" sz="315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ja-JP" altLang="en-US" sz="1275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セラミークが提案するメディカル肌管理</a:t>
            </a:r>
            <a:endParaRPr lang="ja-JP" altLang="en-US" sz="1275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ja-JP" altLang="en-US" sz="1013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* 別途VAT 10%</a:t>
            </a:r>
            <a:endParaRPr lang="ja-JP" altLang="en-US" sz="1013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314541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ja-JP" altLang="en-US" dirty="0">
                  <a:latin typeface="Noto Serif JP Medium" panose="02020200000000000000" pitchFamily="18" charset="-128"/>
                  <a:ea typeface="Noto Serif JP Medium" panose="02020200000000000000" pitchFamily="18" charset="-128"/>
                  <a:cs typeface="Sinsegye" pitchFamily="34" charset="-120"/>
                </a:rPr>
                <a:t>クレンジング＆デイリーケア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アクアピール（1/2/3段階）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毛穴の汚れ・皮脂除去＋水分・栄養補給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69,000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5回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299,000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422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クライオ鎮静管理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急速クーリング — 赤み・むくみ鎮静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307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2136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7980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2255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イオンビタミン美白管理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高濃度イオン化ビタミンCを肌の深層へ浸透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8093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SONO超音波ケア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超音波振動で肌のコンディションを安定化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3922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イオンザイム美白ケア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微弱電流による保湿・鎮静・キメ改善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3826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5965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5499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5976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イオンザイム＋SONO超音波ケア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肌コンディション安定化・キメ改善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924510" y="3643675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69,000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5回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299,000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924510" y="4226998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69,000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5回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299,000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924510" y="4810796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69,000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5回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299,000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924510" y="539367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69,000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5回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299,000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924510" y="5977747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99,000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5回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450,000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67452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517195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LDM（ウルキン） </a:t>
              </a:r>
            </a:p>
            <a:p>
              <a:r>
                <a:rPr lang="ja-JP" altLang="en-US" sz="1000" dirty="0">
                  <a:solidFill>
                    <a:srgbClr val="6E6E6E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3重超音波 — 細胞活性化・肌リモデリング・敏感肌、あざ・むくみ、赤ら顔に効果的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609422" y="7547970"/>
              <a:ext cx="1637234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1回（6分）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100,000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1回（12分）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200,000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79087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ja-JP" altLang="en-US" dirty="0">
                  <a:latin typeface="Noto Serif JP Medium" panose="02020200000000000000" pitchFamily="18" charset="-128"/>
                  <a:ea typeface="Noto Serif JP Medium" panose="02020200000000000000" pitchFamily="18" charset="-128"/>
                  <a:cs typeface="Sinsegye" pitchFamily="34" charset="-120"/>
                </a:rPr>
                <a:t>スペシャルケア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O2ダーム  </a:t>
              </a:r>
              <a:r>
                <a:rPr lang="ja-JP" altLang="en-US" sz="1000" dirty="0">
                  <a:solidFill>
                    <a:srgbClr val="6E6E6E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高濃度酸素・マイナスイオン — 肌再生と鎮静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339772" y="8161980"/>
              <a:ext cx="906884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2853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132440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ja-JP" altLang="en-US" dirty="0">
                  <a:latin typeface="Noto Serif JP Medium" panose="02020200000000000000" pitchFamily="18" charset="-128"/>
                  <a:ea typeface="Noto Serif JP Medium" panose="02020200000000000000" pitchFamily="18" charset="-128"/>
                  <a:cs typeface="Sinsegye" pitchFamily="34" charset="-120"/>
                </a:rPr>
                <a:t>ピーリング</a:t>
              </a: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パンプキンピール  </a:t>
              </a:r>
              <a:r>
                <a:rPr lang="ja-JP" altLang="en-US" sz="1000" dirty="0">
                  <a:solidFill>
                    <a:srgbClr val="6E6E6E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天然パンプキン酵素 — 角質ケア・肌トーン・キメ改善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ブラックピール  </a:t>
              </a:r>
              <a:r>
                <a:rPr lang="ja-JP" altLang="en-US" sz="1000" dirty="0">
                  <a:solidFill>
                    <a:srgbClr val="6E6E6E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過剰皮脂・老廃物除去と毛穴ケア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プラピール  </a:t>
              </a:r>
              <a:r>
                <a:rPr lang="ja-JP" altLang="en-US" sz="1000" dirty="0">
                  <a:solidFill>
                    <a:srgbClr val="6E6E6E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肌バリアを守る低刺激ピーリング</a:t>
              </a: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518324" y="9154930"/>
              <a:ext cx="7283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518324" y="9548295"/>
              <a:ext cx="7283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518324" y="9930371"/>
              <a:ext cx="7283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5334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272382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ja-JP" altLang="en-US" dirty="0">
                  <a:latin typeface="Noto Serif JP Medium" panose="02020200000000000000" pitchFamily="18" charset="-128"/>
                  <a:ea typeface="Noto Serif JP Medium" panose="02020200000000000000" pitchFamily="18" charset="-128"/>
                  <a:cs typeface="Sinsegye" pitchFamily="34" charset="-120"/>
                </a:rPr>
                <a:t>ニキビ圧出・抗炎症注射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ニキビ圧出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皮脂、黒ニキビ、白ニキビ、面皰、膿疱性ニキビの専門的な除去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736841" y="10852980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1個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10,000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顔全体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80,000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736841" y="11477161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1個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10,000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  <a:p>
              <a:pPr algn="r"/>
              <a:r>
                <a:rPr lang="ja-JP" altLang="en-US" sz="12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顔全体</a:t>
              </a:r>
              <a:r>
                <a:rPr lang="ja-JP" altLang="en-US" sz="1400" dirty="0">
                  <a:solidFill>
                    <a:srgbClr val="2498BD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GC 16 Mono" pitchFamily="34" charset="-120"/>
                </a:rPr>
                <a:t> </a:t>
              </a:r>
              <a:r>
                <a:rPr lang="ja-JP" altLang="en-US" sz="1400" dirty="0">
                  <a:solidFill>
                    <a:srgbClr val="1A1A1A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50,000</a:t>
              </a:r>
              <a:endParaRPr lang="ja-JP" altLang="en-US" sz="1400" dirty="0">
                <a:latin typeface="Noto Serif JP Medium" panose="02020200000000000000" pitchFamily="18" charset="-128"/>
                <a:ea typeface="Noto Serif JP Medium" panose="02020200000000000000" pitchFamily="18" charset="-128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ja-JP" altLang="en-US" sz="14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抗炎症注射</a:t>
              </a:r>
            </a:p>
            <a:p>
              <a:r>
                <a:rPr lang="ja-JP" altLang="en-US" sz="1000" dirty="0">
                  <a:solidFill>
                    <a:srgbClr val="555555"/>
                  </a:solidFill>
                  <a:latin typeface="Noto Serif JP Medium" panose="02020200000000000000" pitchFamily="18" charset="-128"/>
                  <a:ea typeface="Noto Serif JP Medium" panose="02020200000000000000" pitchFamily="18" charset="-128"/>
                  <a:cs typeface="Arial" pitchFamily="34" charset="-120"/>
                </a:rPr>
                <a:t>炎症性ニキビに抗炎症薬を直接注入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>
                <a:latin typeface="Noto Serif JP Medium" panose="02020200000000000000" pitchFamily="18" charset="-128"/>
              </a:endParaRPr>
            </a:p>
          </p:txBody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1752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9460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3283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erif JP Medium" panose="02020200000000000000" pitchFamily="18" charset="-128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97891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altLang="en-US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ララピール  </a:t>
            </a:r>
            <a:r>
              <a:rPr lang="ja-JP" altLang="en-US" sz="1000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LHAベースの低刺激ピーリング — 角質・皮脂ケア・キメ改善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567676"/>
            <a:ext cx="47923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altLang="en-US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ピンクピール  </a:t>
            </a:r>
            <a:r>
              <a:rPr lang="ja-JP" altLang="en-US" sz="1000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美白・弾力成分を加えた低刺激ピーリング — 老廃物ケア・肌トーン・弾力改善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0949752"/>
            <a:ext cx="4955603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altLang="en-US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イエスピール  </a:t>
            </a:r>
            <a:r>
              <a:rPr lang="ja-JP" altLang="en-US" sz="1000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肌コンディションの回復を助けるリカバリーピーリング — 角質ケア・キメ・保湿改善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521501" y="9869129"/>
            <a:ext cx="72833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ja-JP" altLang="en-US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23105" y="10647694"/>
            <a:ext cx="726728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ja-JP" altLang="en-US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523105" y="11029770"/>
            <a:ext cx="726728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ja-JP" altLang="en-US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9001" name="Text 11"/>
          <p:cNvSpPr/>
          <p:nvPr/>
        </p:nvSpPr>
        <p:spPr>
          <a:xfrm>
            <a:off x="1047868" y="10182476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altLang="en-US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ララジェット  </a:t>
            </a:r>
            <a:r>
              <a:rPr lang="ja-JP" altLang="en-US" sz="1000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水流噴射システム — 超微細な水流で毛穴の汚れ・皮脂を除去・透明感のあるツヤ肌へ</a:t>
            </a:r>
          </a:p>
        </p:txBody>
      </p:sp>
      <p:sp>
        <p:nvSpPr>
          <p:cNvPr id="9002" name="Text 15"/>
          <p:cNvSpPr/>
          <p:nvPr/>
        </p:nvSpPr>
        <p:spPr>
          <a:xfrm>
            <a:off x="8521501" y="10262494"/>
            <a:ext cx="72833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ja-JP" altLang="en-US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9003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5608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ja-JP" sz="1050" kern="0" spc="168" dirty="0">
                <a:solidFill>
                  <a:srgbClr val="C99A1F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LASER HAIR REMOVAL</a:t>
            </a:r>
            <a:endParaRPr lang="ja-JP" sz="105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ja-JP" sz="3014" b="1" kern="0" spc="-63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レーザー脱毛</a:t>
            </a:r>
            <a:endParaRPr lang="ja-JP" sz="3150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ja-JP" sz="1219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アバランチ — 女性・男性脱毛</a:t>
            </a:r>
            <a:endParaRPr lang="ja-JP" sz="1275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ja-JP" sz="906" dirty="0">
                <a:solidFill>
                  <a:srgbClr val="6E6E6E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* 別途VAT 10%</a:t>
            </a:r>
            <a:endParaRPr lang="ja-JP" sz="1013" dirty="0"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2721600"/>
            <a:ext cx="234086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ja-JP" dirty="0"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アバランチ 女性脱毛</a:t>
            </a:r>
            <a:endParaRPr lang="ja-JP" altLang="en-US" dirty="0">
              <a:latin typeface="Noto Serif JP Medium" panose="02020200000000000000" pitchFamily="18" charset="-128"/>
              <a:ea typeface="Noto Serif JP Medium" panose="02020200000000000000" pitchFamily="18" charset="-128"/>
              <a:cs typeface="Sinsegye" pitchFamily="34" charset="-120"/>
            </a:endParaRPr>
          </a:p>
        </p:txBody>
      </p:sp>
      <p:sp>
        <p:nvSpPr>
          <p:cNvPr id="10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3045599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056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ワキ または 鼻下 または もみあげ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113999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50,000</a:t>
            </a:r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113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39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4091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ワキ＋鼻下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466799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80,000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4667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1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75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7619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額（生え際含む）または うなじ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819600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90,000</a:t>
            </a:r>
          </a:p>
        </p:txBody>
      </p:sp>
      <p:sp>
        <p:nvSpPr>
          <p:cNvPr id="11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81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300,000</a:t>
            </a:r>
          </a:p>
        </p:txBody>
      </p:sp>
      <p:sp>
        <p:nvSpPr>
          <p:cNvPr id="11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10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11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顔全体（額・眉間含む）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41724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456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467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手の指＋手の甲 または 足の指＋足の甲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4525200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2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525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809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820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ひじ下 または ひじ上（ひじ含む）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48780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162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173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腕全体（手首まで）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52308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3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515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526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ひざ下（ひざ含む）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55836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3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868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878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太もも（ひざ含む）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59364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160,000</a:t>
            </a: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500,000</a:t>
            </a:r>
          </a:p>
        </p:txBody>
      </p:sp>
      <p:sp>
        <p:nvSpPr>
          <p:cNvPr id="14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220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231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脚全体（足首まで）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62892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230,000</a:t>
            </a: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700,000</a:t>
            </a:r>
          </a:p>
        </p:txBody>
      </p:sp>
      <p:sp>
        <p:nvSpPr>
          <p:cNvPr id="14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573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584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お腹（へそ周り含む）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66420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926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937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背中全体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69948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7279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7556400"/>
            <a:ext cx="234086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ja-JP" dirty="0">
                <a:latin typeface="Noto Serif JP Medium" panose="02020200000000000000" pitchFamily="18" charset="-128"/>
                <a:ea typeface="Noto Serif JP Medium" panose="02020200000000000000" pitchFamily="18" charset="-128"/>
                <a:cs typeface="Sinsegye" pitchFamily="34" charset="-120"/>
              </a:rPr>
              <a:t>アバランチ 男性脱毛</a:t>
            </a:r>
            <a:endParaRPr lang="ja-JP" altLang="en-US" dirty="0">
              <a:latin typeface="Noto Serif JP Medium" panose="02020200000000000000" pitchFamily="18" charset="-128"/>
              <a:ea typeface="Noto Serif JP Medium" panose="02020200000000000000" pitchFamily="18" charset="-128"/>
              <a:cs typeface="Sinsegye" pitchFamily="34" charset="-120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7880400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7891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鼻下＋あご先＋あご下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7948800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80,000</a:t>
            </a: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7948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300,000</a:t>
            </a:r>
          </a:p>
        </p:txBody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233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244000"/>
            <a:ext cx="598793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314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顔下半分全体（鼻下・あご先・フェイスライン・もみあげ・頬・あご下）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83016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586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596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顔全体（額・生え際・眉間・あご下含む）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6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86544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16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650,000</a:t>
            </a:r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938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949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オプション）首追加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007200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7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007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291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302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額（生え際含む）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360000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360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7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644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655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うなじ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97128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997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008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ワキ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8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065600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8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065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8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350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360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手の指＋手の甲 または 足の指＋足の甲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418400"/>
            <a:ext cx="9534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8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418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8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702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713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ひじ下 または ひじ上（ひじ含む）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107712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19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055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066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腕全体（手首まで）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111240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230,000</a:t>
            </a:r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700,000</a:t>
            </a: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40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419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ひざ下（ひざ含む）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114768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9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20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76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772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太もも（ひざ含む）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11829600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20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11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12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脚全体（足首まで）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20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12182399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750,000</a:t>
            </a:r>
          </a:p>
        </p:txBody>
      </p:sp>
      <p:sp>
        <p:nvSpPr>
          <p:cNvPr id="20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4667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4775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胸（乳輪含む）または お腹（へそ周り含む）*みぞおち基準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21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12535199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160,000</a:t>
            </a:r>
          </a:p>
        </p:txBody>
      </p:sp>
      <p:sp>
        <p:nvSpPr>
          <p:cNvPr id="21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500,000</a:t>
            </a:r>
          </a:p>
        </p:txBody>
      </p:sp>
      <p:sp>
        <p:nvSpPr>
          <p:cNvPr id="21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8195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830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ja-JP" sz="1400" dirty="0">
                <a:solidFill>
                  <a:srgbClr val="555555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背中全体</a:t>
            </a:r>
            <a:endParaRPr lang="ja-JP" altLang="en-US" sz="1400" dirty="0">
              <a:solidFill>
                <a:srgbClr val="555555"/>
              </a:solidFill>
              <a:latin typeface="Noto Serif JP Medium" panose="02020200000000000000" pitchFamily="18" charset="-128"/>
              <a:ea typeface="Noto Serif JP Medium" panose="02020200000000000000" pitchFamily="18" charset="-128"/>
              <a:cs typeface="Arial" pitchFamily="34" charset="-120"/>
            </a:endParaRPr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053072" y="12887999"/>
            <a:ext cx="10636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155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1回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sz="12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5回</a:t>
            </a:r>
            <a:r>
              <a:rPr lang="ja-JP" altLang="ko-KR" sz="1100" dirty="0">
                <a:solidFill>
                  <a:srgbClr val="2498BD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GC 16 Mono" pitchFamily="34" charset="-120"/>
              </a:rPr>
              <a:t> </a:t>
            </a:r>
            <a:r>
              <a:rPr lang="ja-JP" altLang="ko-KR" sz="1400" dirty="0">
                <a:solidFill>
                  <a:srgbClr val="1A1A1A"/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  <a:cs typeface="Arial" pitchFamily="34" charset="-120"/>
              </a:rPr>
              <a:t>750,000</a:t>
            </a:r>
          </a:p>
        </p:txBody>
      </p:sp>
      <p:sp>
        <p:nvSpPr>
          <p:cNvPr id="21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31723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6794</Words>
  <Application>Microsoft Office PowerPoint</Application>
  <PresentationFormat>사용자 지정</PresentationFormat>
  <Paragraphs>546</Paragraphs>
  <Slides>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Serif JP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소항 송</cp:lastModifiedBy>
  <cp:revision>85</cp:revision>
  <cp:lastPrinted>2026-07-22T06:48:58Z</cp:lastPrinted>
  <dcterms:created xsi:type="dcterms:W3CDTF">2026-07-20T01:44:47Z</dcterms:created>
  <dcterms:modified xsi:type="dcterms:W3CDTF">2026-10-19T03:00:44Z</dcterms:modified>
</cp:coreProperties>
</file>