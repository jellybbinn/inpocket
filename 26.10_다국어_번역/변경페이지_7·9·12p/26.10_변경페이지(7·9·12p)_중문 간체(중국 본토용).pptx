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999" r:id="rId999"/>
    <p:sldId id="264" r:id="rId12"/>
  </p:sldIdLst>
  <p:sldSz cx="10287000" cy="14544675"/>
  <p:notesSz cx="9928225" cy="6797675"/>
  <p:embeddedFontLst>
    <p:embeddedFont>
      <p:font typeface="Noto Serif SC Medium" panose="02020200000000000000" pitchFamily="18" charset="-128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2264" y="-4396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9" Type="http://schemas.openxmlformats.org/officeDocument/2006/relationships/tableStyles" Target="tableStyles.xml"/><Relationship Id="rId14" Type="http://schemas.openxmlformats.org/officeDocument/2006/relationships/notesMaster" Target="notesMasters/notesMaster1.xml"/><Relationship Id="rId999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CN" altLang="en-US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PICOLITE BLACK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2116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皮秒激光 PicoLite Black</a:t>
            </a:r>
            <a:endParaRPr lang="zh-CN" altLang="en-US" sz="211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CN" altLang="en-US" sz="1245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以万亿分之一秒的超短脉冲释放能量的皮秒激光。 </a:t>
            </a:r>
          </a:p>
          <a:p>
            <a:pPr>
              <a:lnSpc>
                <a:spcPct val="149333"/>
              </a:lnSpc>
            </a:pPr>
            <a:r>
              <a:rPr lang="zh-CN" altLang="en-US" sz="1245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比传统纳秒激光刺激更小，对色素·毛孔·疤痕·肤色 </a:t>
            </a:r>
          </a:p>
          <a:p>
            <a:pPr>
              <a:lnSpc>
                <a:spcPct val="149333"/>
              </a:lnSpc>
            </a:pPr>
            <a:r>
              <a:rPr lang="zh-CN" altLang="en-US" sz="1245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进行精准安全的改善。</a:t>
            </a:r>
            <a:endParaRPr lang="zh-CN" altLang="en-US" sz="1245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77009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828381" y="4429970"/>
            <a:ext cx="569086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996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皮秒净肤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45399" y="4384800"/>
            <a:ext cx="100766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677520" y="4429970"/>
            <a:ext cx="831146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黄褐斑 · 色斑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32112" y="4384800"/>
            <a:ext cx="100766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764234" y="4429970"/>
            <a:ext cx="9629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996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去痣 · 老年斑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CN" altLang="en-US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CO2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2116" dirty="0">
                <a:latin typeface="Noto Serif SC Medium" panose="02020200000000000000" pitchFamily="18" charset="-128"/>
                <a:ea typeface="Noto Serif SC Medium" panose="02020200000000000000" pitchFamily="18" charset="-128"/>
              </a:rPr>
              <a:t>Co2 二氧化碳激光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altLang="en-US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精准汽化、切除病变组织的激光。用于去除痣、粟丘疹、老年斑、扁平疣等多种浅表皮肤病变及皮肤表面再生。</a:t>
            </a:r>
            <a:endParaRPr lang="zh-CN" altLang="en-US" sz="12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92104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3745523" y="6550569"/>
            <a:ext cx="836832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痣 · 粟丘疹 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02079" y="6526800"/>
            <a:ext cx="96046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4375565" y="6550569"/>
            <a:ext cx="1596694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老年斑 · 疣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740157" y="6526800"/>
            <a:ext cx="11462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5886486" y="6550569"/>
            <a:ext cx="853543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皮肤病变去除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CN" altLang="en-US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POTENZA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2116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黄金微针</a:t>
            </a:r>
            <a:endParaRPr lang="zh-CN" altLang="en-US" sz="211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altLang="en-US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微针刺入皮肤，在目标深度释放射频（RF）能量。 </a:t>
            </a:r>
          </a:p>
          <a:p>
            <a:pPr>
              <a:lnSpc>
                <a:spcPct val="149333"/>
              </a:lnSpc>
            </a:pPr>
            <a:r>
              <a:rPr lang="zh-CN" altLang="en-US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通过多种针头与模式改善毛孔·疤痕·肤质·</a:t>
            </a:r>
          </a:p>
          <a:p>
            <a:pPr>
              <a:lnSpc>
                <a:spcPct val="149333"/>
              </a:lnSpc>
            </a:pPr>
            <a:r>
              <a:rPr lang="zh-CN" altLang="en-US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弹性，并可与水光针疗程并行。</a:t>
            </a:r>
            <a:endParaRPr lang="zh-CN" altLang="en-US" sz="12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80795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3758225" y="8713970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 algn="ctr"/>
            <a:r>
              <a:rPr lang="zh-CN" altLang="en-US" sz="996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毛孔 · 疤痕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99114" y="8668800"/>
            <a:ext cx="94007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4631825" y="8694977"/>
            <a:ext cx="876841" cy="21229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肤质 · 弹性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633868" y="8668800"/>
            <a:ext cx="84846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5553064" y="8694977"/>
            <a:ext cx="10078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水光导入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1050" kern="0" spc="168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LASER DEVICE</a:t>
            </a:r>
            <a:endParaRPr lang="zh-CN" altLang="en-US" sz="10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altLang="en-US" sz="3150" b="1" kern="0" spc="-63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激光仪器</a:t>
            </a:r>
            <a:endParaRPr lang="zh-CN" altLang="en-US" sz="31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altLang="en-US" sz="1275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色斑 · 泛红 · 毛孔 / 疤痕 · 脱毛</a:t>
            </a:r>
            <a:endParaRPr lang="zh-CN" altLang="en-US" sz="1275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CN" altLang="en-US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BROADBAND LIGHT</a:t>
            </a:r>
            <a:endParaRPr lang="zh-CN" altLang="en-US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altLang="en-US" sz="2116" b="1" dirty="0">
                <a:latin typeface="Noto Serif SC Medium" panose="02020200000000000000" pitchFamily="18" charset="-128"/>
                <a:ea typeface="Noto Serif SC Medium" panose="02020200000000000000" pitchFamily="18" charset="-128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altLang="en-US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将宽光谱光能（BroadBand Light）按皮肤深度传递的光疗设备。同时改善黄褐斑·色斑等色素问题与泛红·血管病变，使肤色与肤质清透均匀。</a:t>
            </a:r>
            <a:endParaRPr lang="zh-CN" altLang="en-US" sz="12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95445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BBL TagText 1"/>
          <p:cNvSpPr/>
          <p:nvPr/>
        </p:nvSpPr>
        <p:spPr>
          <a:xfrm>
            <a:off x="3733417" y="10834570"/>
            <a:ext cx="898408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黄褐斑 · 色斑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735492" y="10810800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BBL TagText 2"/>
          <p:cNvSpPr/>
          <p:nvPr/>
        </p:nvSpPr>
        <p:spPr>
          <a:xfrm>
            <a:off x="4765492" y="10834570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泛红 · 血管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689950" y="10810800"/>
            <a:ext cx="73403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BBL TagText 3"/>
          <p:cNvSpPr/>
          <p:nvPr/>
        </p:nvSpPr>
        <p:spPr>
          <a:xfrm>
            <a:off x="5642333" y="10834570"/>
            <a:ext cx="84000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zh-CN" altLang="en-US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肤色改善</a:t>
            </a:r>
            <a:endParaRPr lang="zh-CN" altLang="en-US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zh-CN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AVALANCHE</a:t>
            </a:r>
            <a:endParaRPr lang="zh-CN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523" b="1" dirty="0">
                <a:latin typeface="Noto Serif SC Medium" panose="02020200000000000000" pitchFamily="18" charset="-128"/>
                <a:ea typeface="Noto Serif SC Medium" panose="02020200000000000000" pitchFamily="18" charset="-128"/>
              </a:rPr>
              <a:t>脱毛激光 Avalanche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根据毛质与肤质调节能量的激光脱毛设备。强效冷却减轻疼痛负担，从面部到身体，大面积快速、均匀脱毛。</a:t>
            </a:r>
            <a:endParaRPr lang="zh-CN" sz="12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女性脱毛</a:t>
            </a:r>
            <a:endParaRPr lang="zh-CN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男性脱毛</a:t>
            </a:r>
            <a:endParaRPr lang="zh-CN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面部 · 身体</a:t>
            </a:r>
            <a:endParaRPr lang="zh-CN" sz="90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zh-CN" sz="996" kern="0" spc="219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设备图片位置</a:t>
            </a:r>
            <a:endParaRPr lang="zh-CN" sz="996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1050" kern="0" spc="168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MEDICAL SKINCARE</a:t>
            </a:r>
            <a:endParaRPr lang="zh-CN" altLang="en-US" sz="10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altLang="en-US" sz="3150" b="1" kern="0" spc="-63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医学护肤</a:t>
            </a:r>
            <a:endParaRPr lang="zh-CN" altLang="en-US" sz="31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275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Céramique 提案的医学皮肤管理</a:t>
            </a:r>
            <a:endParaRPr lang="zh-CN" altLang="en-US" sz="1275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altLang="en-US" sz="1013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* 不含10%增值税</a:t>
            </a:r>
            <a:endParaRPr lang="zh-CN" altLang="en-US" sz="1013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192069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altLang="en-US" b="1" dirty="0">
                  <a:latin typeface="Noto Serif SC Medium" panose="02020200000000000000" pitchFamily="18" charset="-128"/>
                  <a:ea typeface="Noto Serif SC Medium" panose="02020200000000000000" pitchFamily="18" charset="-128"/>
                  <a:cs typeface="Sinsegye" pitchFamily="34" charset="-120"/>
                </a:rPr>
                <a:t>清洁 &amp; 日常护理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小气泡清洁 (1/2/3阶段)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清除毛孔污垢·皮脂 + 补水补养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69,000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Cryo 冷冻镇静护理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急速冷却 — 舒缓泛红·肿胀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离子维生素C美白护理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高浓缩离子化维生素C渗透至皮肤深层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SONO 超声波护理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超声波振动稳定肤况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Ionzyme 离子超声美白护理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微电流保湿 · 舒缓 · 改善肤质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Ionzyme 离子美白 + SONO 超声波联合护理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稳定肤况 · 改善肤质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436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69,000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2269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69,000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8107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69,000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3936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69,000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5977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99,000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5次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450,000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LDM (Ulkin) </a:t>
              </a:r>
            </a:p>
            <a:p>
              <a:r>
                <a:rPr lang="zh-CN" altLang="en-US" sz="1000" dirty="0">
                  <a:solidFill>
                    <a:srgbClr val="6E6E6E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三重超声波 — 激活细胞 · 皮肤重塑 · 对敏感肌、淤青肿胀、泛红有效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601406" y="7547970"/>
              <a:ext cx="1645250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(6分钟)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100,000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1次 (12分钟)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200,000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12723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altLang="en-US" b="1" dirty="0">
                  <a:latin typeface="Noto Serif SC Medium" panose="02020200000000000000" pitchFamily="18" charset="-128"/>
                  <a:ea typeface="Noto Serif SC Medium" panose="02020200000000000000" pitchFamily="18" charset="-128"/>
                  <a:cs typeface="Sinsegye" pitchFamily="34" charset="-120"/>
                </a:rPr>
                <a:t>特殊护理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O2 氧气罩  </a:t>
              </a:r>
              <a:r>
                <a:rPr lang="zh-CN" altLang="en-US" sz="1000" dirty="0">
                  <a:solidFill>
                    <a:srgbClr val="6E6E6E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高浓度氧气·负离子 — 皮肤再生与舒缓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14124" y="8161980"/>
              <a:ext cx="932532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65594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altLang="en-US" b="1" dirty="0">
                  <a:latin typeface="Noto Serif SC Medium" panose="02020200000000000000" pitchFamily="18" charset="-128"/>
                  <a:ea typeface="Noto Serif SC Medium" panose="02020200000000000000" pitchFamily="18" charset="-128"/>
                  <a:cs typeface="Sinsegye" pitchFamily="34" charset="-120"/>
                </a:rPr>
                <a:t>焕肤</a:t>
              </a: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南瓜焕肤  </a:t>
              </a:r>
              <a:r>
                <a:rPr lang="zh-CN" altLang="en-US" sz="1000" dirty="0">
                  <a:solidFill>
                    <a:srgbClr val="6E6E6E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天然南瓜酵素 — 去角质 · 改善肤色·肤质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黑钻焕肤  </a:t>
              </a:r>
              <a:r>
                <a:rPr lang="zh-CN" altLang="en-US" sz="1000" dirty="0">
                  <a:solidFill>
                    <a:srgbClr val="6E6E6E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清除多余皮脂·污垢，收敛毛孔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白金焕肤  </a:t>
              </a:r>
              <a:r>
                <a:rPr lang="zh-CN" altLang="en-US" sz="1000" dirty="0">
                  <a:solidFill>
                    <a:srgbClr val="6E6E6E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保护皮肤屏障的低刺激焕肤</a:t>
              </a: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495882" y="9154930"/>
              <a:ext cx="75077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495882" y="9548295"/>
              <a:ext cx="75077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495882" y="9930371"/>
              <a:ext cx="75077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180690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altLang="en-US" b="1" dirty="0">
                  <a:latin typeface="Noto Serif SC Medium" panose="02020200000000000000" pitchFamily="18" charset="-128"/>
                  <a:ea typeface="Noto Serif SC Medium" panose="02020200000000000000" pitchFamily="18" charset="-128"/>
                  <a:cs typeface="Sinsegye" pitchFamily="34" charset="-120"/>
                </a:rPr>
                <a:t>清粉刺 · 消炎针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手工清粉刺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专业清除皮脂、黑头、白头、粉刺及脓疱型痘痘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1个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全脸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80,000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1个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10,000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  <a:p>
              <a:pPr algn="r"/>
              <a:r>
                <a:rPr lang="zh-CN" altLang="en-US" sz="12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全脸</a:t>
              </a:r>
              <a:r>
                <a:rPr lang="zh-CN" altLang="en-US" sz="1400" dirty="0">
                  <a:solidFill>
                    <a:srgbClr val="2498BD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GC 16 Mono" pitchFamily="34" charset="-120"/>
                </a:rPr>
                <a:t> </a:t>
              </a:r>
              <a:r>
                <a:rPr lang="zh-CN" altLang="en-US" sz="1400" b="1" dirty="0">
                  <a:solidFill>
                    <a:srgbClr val="1A1A1A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50,000</a:t>
              </a:r>
              <a:endParaRPr lang="zh-CN" altLang="en-US" sz="1400" b="1" dirty="0">
                <a:latin typeface="Noto Serif SC Medium" panose="02020200000000000000" pitchFamily="18" charset="-128"/>
                <a:ea typeface="Noto Serif SC Medium" panose="02020200000000000000" pitchFamily="18" charset="-128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altLang="en-US" sz="14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痘痘消炎针</a:t>
              </a:r>
            </a:p>
            <a:p>
              <a:r>
                <a:rPr lang="zh-CN" altLang="en-US" sz="1000" dirty="0">
                  <a:solidFill>
                    <a:srgbClr val="555555"/>
                  </a:solidFill>
                  <a:latin typeface="Noto Serif SC Medium" panose="02020200000000000000" pitchFamily="18" charset="-128"/>
                  <a:ea typeface="Noto Serif SC Medium" panose="02020200000000000000" pitchFamily="18" charset="-128"/>
                  <a:cs typeface="Arial" pitchFamily="34" charset="-120"/>
                </a:rPr>
                <a:t>将抗炎药物直接注入炎症性痘痘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拉拉</a:t>
            </a:r>
            <a:r>
              <a:rPr lang="zh-CN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焕肤  </a:t>
            </a:r>
            <a:r>
              <a:rPr lang="zh-CN" altLang="en-US" sz="1000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LHA低刺激焕肤 — 调理角质·皮脂 · 改善肤质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粉钻焕肤  </a:t>
            </a:r>
            <a:r>
              <a:rPr lang="zh-CN" altLang="en-US" sz="1000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添加美白·紧致成分的低刺激焕肤 — 清理污垢 · 改善肤色·弹性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修护</a:t>
            </a:r>
            <a:r>
              <a:rPr lang="en-US" altLang="zh-TW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(Yes)</a:t>
            </a:r>
            <a:r>
              <a:rPr lang="zh-CN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焕肤  </a:t>
            </a:r>
            <a:r>
              <a:rPr lang="zh-CN" altLang="en-US" sz="1000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帮助恢复肤况的修护焕肤 — 去角质 · 改善肤质·保湿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499059" y="9869129"/>
            <a:ext cx="75077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499059" y="10647694"/>
            <a:ext cx="75077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499059" y="11029770"/>
            <a:ext cx="75077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9001" name="Text 11"/>
          <p:cNvSpPr/>
          <p:nvPr/>
        </p:nvSpPr>
        <p:spPr>
          <a:xfrm>
            <a:off x="1047868" y="10182476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拉拉喷射清洁  </a:t>
            </a:r>
            <a:r>
              <a:rPr lang="zh-CN" altLang="en-US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/>
            </a:r>
            <a:r>
              <a:rPr lang="zh-CN" altLang="en-US" sz="1000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水力喷射·导入系统 — 超微细水流清除毛孔废物·皮脂 · 再生透亮光泽肌</a:t>
            </a:r>
          </a:p>
        </p:txBody>
      </p:sp>
      <p:sp>
        <p:nvSpPr>
          <p:cNvPr id="9002" name="Text 15"/>
          <p:cNvSpPr/>
          <p:nvPr/>
        </p:nvSpPr>
        <p:spPr>
          <a:xfrm>
            <a:off x="8499059" y="10262494"/>
            <a:ext cx="75077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zh-CN" sz="1050" kern="0" spc="168" dirty="0">
                <a:solidFill>
                  <a:srgbClr val="C99A1F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LASER HAIR REMOVAL</a:t>
            </a:r>
            <a:endParaRPr lang="zh-CN" sz="10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激光脱毛</a:t>
            </a:r>
            <a:endParaRPr lang="zh-CN" sz="3150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Avalanche — 女性 · 男性脱毛</a:t>
            </a:r>
            <a:endParaRPr lang="zh-CN" sz="1275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* 不含10%增值税</a:t>
            </a:r>
            <a:endParaRPr lang="zh-CN" sz="1013" dirty="0">
              <a:latin typeface="Noto Serif SC Medium" panose="02020200000000000000" pitchFamily="18" charset="-128"/>
              <a:ea typeface="Noto Serif SC Medium" panose="02020200000000000000" pitchFamily="18" charset="-128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Avalanche 女性脱毛</a:t>
            </a:r>
            <a:endParaRPr lang="zh-CN" altLang="en-US" dirty="0">
              <a:latin typeface="Noto Serif SC Medium" panose="02020200000000000000" pitchFamily="18" charset="-128"/>
              <a:ea typeface="Noto Serif SC Medium" panose="02020200000000000000" pitchFamily="18" charset="-128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腋下 或 唇上 或 鬓角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1139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113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腋下 + 唇上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4667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4667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额头 (含发际线) 或 后颈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819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81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全脸 (含额头 · 眉间)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手指 + 手背 或 脚趾 + 脚背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4525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525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小臂 或 上臂 (含手肘)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全臂 (至手腕)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小腿 (含膝盖)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大腿 (含膝盖)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全腿 (至脚踝)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腹部 (含肚脐下毛发线)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全背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erif SC Medium" panose="02020200000000000000" pitchFamily="18" charset="-128"/>
                <a:ea typeface="Noto Serif SC Medium" panose="02020200000000000000" pitchFamily="18" charset="-128"/>
                <a:cs typeface="Sinsegye" pitchFamily="34" charset="-120"/>
              </a:rPr>
              <a:t>Avalanche 男性脱毛</a:t>
            </a:r>
            <a:endParaRPr lang="zh-CN" altLang="en-US" dirty="0">
              <a:latin typeface="Noto Serif SC Medium" panose="02020200000000000000" pitchFamily="18" charset="-128"/>
              <a:ea typeface="Noto Serif SC Medium" panose="02020200000000000000" pitchFamily="18" charset="-128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唇上 + 下巴尖 + 下巴下方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79488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7948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下半脸全部（唇上·下巴尖·下颌线·鬓角·脸颊·下巴下方）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全脸 (含额头 · 发际线 · 眉间 · 下巴下方)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选项）追加颈部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007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007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额头 (含发际线)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3600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360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后颈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腋下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065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065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手指 + 手背 或 脚趾 + 脚背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4184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418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小臂 或 上臂 (含手肘)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全臂 (至手腕)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小腿 (含膝盖)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大腿 (含膝盖)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全腿 (至脚踝)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胸部 (含乳晕) 或 腹部 (含肚脐下毛发线) *以心窝为界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全背</a:t>
            </a:r>
            <a:endParaRPr lang="zh-CN" altLang="en-US" sz="1400" dirty="0">
              <a:solidFill>
                <a:srgbClr val="555555"/>
              </a:solidFill>
              <a:latin typeface="Noto Serif SC Medium" panose="02020200000000000000" pitchFamily="18" charset="-128"/>
              <a:ea typeface="Noto Serif SC Medium" panose="02020200000000000000" pitchFamily="18" charset="-128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1次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5次</a:t>
            </a:r>
            <a:r>
              <a:rPr lang="zh-CN" altLang="ko-KR" sz="1100" dirty="0">
                <a:solidFill>
                  <a:srgbClr val="2498BD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GC 16 Mono" pitchFamily="34" charset="-120"/>
              </a:rPr>
              <a:t> </a:t>
            </a:r>
            <a:r>
              <a:rPr lang="zh-CN" altLang="ko-KR" sz="1400" dirty="0">
                <a:solidFill>
                  <a:srgbClr val="1A1A1A"/>
                </a:solidFill>
                <a:latin typeface="Noto Serif SC Medium" panose="02020200000000000000" pitchFamily="18" charset="-128"/>
                <a:ea typeface="Noto Serif SC Medium" panose="02020200000000000000" pitchFamily="18" charset="-128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5725</Words>
  <Application>Microsoft Office PowerPoint</Application>
  <PresentationFormat>사용자 지정</PresentationFormat>
  <Paragraphs>536</Paragraphs>
  <Slides>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Serif SC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종진 이</cp:lastModifiedBy>
  <cp:revision>84</cp:revision>
  <cp:lastPrinted>2026-07-22T06:48:58Z</cp:lastPrinted>
  <dcterms:created xsi:type="dcterms:W3CDTF">2026-07-20T01:44:47Z</dcterms:created>
  <dcterms:modified xsi:type="dcterms:W3CDTF">2026-10-19T03:05:17Z</dcterms:modified>
</cp:coreProperties>
</file>