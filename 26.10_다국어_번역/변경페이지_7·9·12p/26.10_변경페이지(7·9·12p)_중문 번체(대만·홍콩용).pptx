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70" r:id="rId8"/>
    <p:sldId id="999" r:id="rId999"/>
    <p:sldId id="264" r:id="rId12"/>
  </p:sldIdLst>
  <p:sldSz cx="10287000" cy="14544675"/>
  <p:notesSz cx="9928225" cy="6797675"/>
  <p:embeddedFontLst>
    <p:embeddedFont>
      <p:font typeface="Noto Serif TC Bold" panose="02020200000000000000" pitchFamily="18" charset="-128"/>
      <p:bold r:id="rId15"/>
    </p:embeddedFont>
    <p:embeddedFont>
      <p:font typeface="Noto Serif TC Medium" panose="02020200000000000000" pitchFamily="18" charset="-128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94" d="100"/>
          <a:sy n="94" d="100"/>
        </p:scale>
        <p:origin x="-1988" y="-24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9" Type="http://schemas.openxmlformats.org/officeDocument/2006/relationships/theme" Target="theme/theme1.xml"/><Relationship Id="rId14" Type="http://schemas.openxmlformats.org/officeDocument/2006/relationships/notesMaster" Target="notesMasters/notesMaster1.xml"/><Relationship Id="rId999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4842000"/>
            <a:ext cx="1908000" cy="19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4726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696259" y="2880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TW" altLang="en-US" sz="996" kern="0" spc="219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PICOLITE BLACK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114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altLang="en-US" sz="2116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Sinsegye" pitchFamily="34" charset="-120"/>
              </a:rPr>
              <a:t>皮秒雷射 PicoLite Black</a:t>
            </a:r>
            <a:endParaRPr lang="zh-TW" altLang="en-US" sz="211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491999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zh-TW" altLang="en-US" sz="1245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以兆分之一秒的超短脈衝釋放能量的皮秒雷射。 </a:t>
            </a:r>
          </a:p>
          <a:p>
            <a:pPr>
              <a:lnSpc>
                <a:spcPct val="149333"/>
              </a:lnSpc>
            </a:pPr>
            <a:r>
              <a:rPr lang="zh-TW" altLang="en-US" sz="1245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比傳統奈秒雷射刺激更小，對色素·毛孔·痘疤·膚色 </a:t>
            </a:r>
          </a:p>
          <a:p>
            <a:pPr>
              <a:lnSpc>
                <a:spcPct val="149333"/>
              </a:lnSpc>
            </a:pPr>
            <a:r>
              <a:rPr lang="zh-TW" altLang="en-US" sz="1245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進行精準安全的改善</a:t>
            </a:r>
            <a:endParaRPr lang="zh-TW" altLang="en-US" sz="1245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9" y="4384800"/>
            <a:ext cx="77009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828381" y="4429970"/>
            <a:ext cx="569086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altLang="en-US" sz="996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皮秒淨膚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45399" y="4384800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677520" y="4429970"/>
            <a:ext cx="675835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altLang="en-US" sz="996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肝斑 · 斑點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501286" y="4384800"/>
            <a:ext cx="101104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633408" y="4429970"/>
            <a:ext cx="96291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altLang="en-US" sz="996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除痣 · 老人斑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6868799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696259" y="5022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TW" altLang="en-US" sz="996" kern="0" spc="219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CO2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256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altLang="en-US" sz="2116" dirty="0">
                <a:latin typeface="Noto Serif TC Medium" panose="02020200000000000000" pitchFamily="18" charset="-128"/>
                <a:ea typeface="Noto Serif TC Medium" panose="02020200000000000000" pitchFamily="18" charset="-128"/>
              </a:rPr>
              <a:t>Co2 雷射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5633999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altLang="en-US" sz="12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精準汽化、切除病變組織的雷射。用於去除痣、粟粒腫、老人斑、扁平疣等多種淺表皮膚病變及皮膚表面再生</a:t>
            </a:r>
            <a:endParaRPr lang="zh-TW" altLang="en-US" sz="12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6526800"/>
            <a:ext cx="92104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745523" y="6550569"/>
            <a:ext cx="836832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痣 · 粟粒腫 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02079" y="6526800"/>
            <a:ext cx="103251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504216" y="6550569"/>
            <a:ext cx="139883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老人斑 · 疣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812211" y="6526800"/>
            <a:ext cx="114620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958540" y="6550569"/>
            <a:ext cx="853543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皮膚病變去除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7163999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TW" altLang="en-US" sz="996" kern="0" spc="219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POTENZA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7397999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altLang="en-US" sz="2116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Sinsegye" pitchFamily="34" charset="-120"/>
              </a:rPr>
              <a:t>黃金微針</a:t>
            </a:r>
            <a:endParaRPr lang="zh-TW" altLang="en-US" sz="211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7775999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altLang="en-US" sz="12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透過微針深入肌膚，在目標深度釋放射頻（RF）能量</a:t>
            </a:r>
          </a:p>
          <a:p>
            <a:pPr>
              <a:lnSpc>
                <a:spcPct val="149333"/>
              </a:lnSpc>
            </a:pPr>
            <a:r>
              <a:rPr lang="zh-TW" altLang="en-US" sz="12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透過多種針頭與模式改善毛孔·痘疤·膚質·</a:t>
            </a:r>
          </a:p>
          <a:p>
            <a:pPr>
              <a:lnSpc>
                <a:spcPct val="149333"/>
              </a:lnSpc>
            </a:pPr>
            <a:r>
              <a:rPr lang="zh-TW" altLang="en-US" sz="12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彈性，並可與水光療程併行</a:t>
            </a:r>
            <a:endParaRPr lang="zh-TW" altLang="en-US" sz="12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8668800"/>
            <a:ext cx="80795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3758225" y="8713970"/>
            <a:ext cx="675835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 algn="ctr"/>
            <a:r>
              <a:rPr lang="zh-TW" altLang="en-US" sz="996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毛孔 · 痘疤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99114" y="8668800"/>
            <a:ext cx="94007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631825" y="8694977"/>
            <a:ext cx="876841" cy="21229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膚質 · 彈性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633868" y="8668800"/>
            <a:ext cx="87846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683132" y="8694977"/>
            <a:ext cx="765147" cy="186121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水光導入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zh-TW" altLang="en-US" sz="1050" kern="0" spc="168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LASER DEVICE</a:t>
            </a:r>
            <a:endParaRPr lang="zh-TW" altLang="en-US" sz="105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altLang="en-US" sz="3150" kern="0" spc="-63" dirty="0">
                <a:solidFill>
                  <a:srgbClr val="2498BD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Sinsegye" pitchFamily="34" charset="-120"/>
              </a:rPr>
              <a:t>雷射儀器</a:t>
            </a:r>
            <a:endParaRPr lang="zh-TW" altLang="en-US" sz="315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altLang="en-US" sz="1275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斑點 · 泛紅 · 毛孔 / 痘疤 · 除毛</a:t>
            </a:r>
            <a:endParaRPr lang="zh-TW" altLang="en-US" sz="1275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1908000" cy="190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6983999"/>
            <a:ext cx="1908000" cy="190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1" name="BBL Divider"/>
          <p:cNvSpPr/>
          <p:nvPr/>
        </p:nvSpPr>
        <p:spPr>
          <a:xfrm>
            <a:off x="959560" y="9010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BBL Label"/>
          <p:cNvSpPr/>
          <p:nvPr/>
        </p:nvSpPr>
        <p:spPr>
          <a:xfrm>
            <a:off x="3696259" y="9306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TW" altLang="en-US" sz="996" kern="0" spc="219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BROADBAND LIGHT</a:t>
            </a:r>
            <a:endParaRPr lang="zh-TW" altLang="en-US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9540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altLang="en-US" sz="2116" dirty="0">
                <a:latin typeface="Noto Serif TC Bold" panose="02020200000000000000" pitchFamily="18" charset="-128"/>
                <a:ea typeface="Noto Serif TC Bold" panose="02020200000000000000" pitchFamily="18" charset="-128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9918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altLang="en-US" sz="12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將寬光譜光能（BroadBand Light）按皮膚深度傳遞的光療設備。同時改善肝斑·斑點等色素問題與泛紅·血管病變，使膚色與膚質清透均勻。</a:t>
            </a:r>
            <a:endParaRPr lang="zh-TW" altLang="en-US" sz="12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0810800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BBL TagText 1"/>
          <p:cNvSpPr/>
          <p:nvPr/>
        </p:nvSpPr>
        <p:spPr>
          <a:xfrm>
            <a:off x="3733417" y="10834570"/>
            <a:ext cx="81684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肝斑 · 斑點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657875" y="10810800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BBL TagText 2"/>
          <p:cNvSpPr/>
          <p:nvPr/>
        </p:nvSpPr>
        <p:spPr>
          <a:xfrm>
            <a:off x="4687875" y="10834570"/>
            <a:ext cx="81684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泛紅 · 血管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612333" y="10810800"/>
            <a:ext cx="900000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BBL TagText 3"/>
          <p:cNvSpPr/>
          <p:nvPr/>
        </p:nvSpPr>
        <p:spPr>
          <a:xfrm>
            <a:off x="5642333" y="10834570"/>
            <a:ext cx="84000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TW" altLang="en-US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膚色改善</a:t>
            </a:r>
            <a:endParaRPr lang="zh-TW" altLang="en-US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9126000"/>
            <a:ext cx="1908000" cy="190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01" name="BBL Label"/>
          <p:cNvSpPr/>
          <p:nvPr/>
        </p:nvSpPr>
        <p:spPr>
          <a:xfrm>
            <a:off x="3696259" y="11448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TW" sz="996" kern="0" spc="219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AVALANCHE</a:t>
            </a:r>
            <a:endParaRPr lang="zh-TW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02" name="BBL Name"/>
          <p:cNvSpPr/>
          <p:nvPr/>
        </p:nvSpPr>
        <p:spPr>
          <a:xfrm>
            <a:off x="3696259" y="11682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523" b="1" dirty="0">
                <a:latin typeface="Noto Serif TC Medium" panose="02020200000000000000" pitchFamily="18" charset="-128"/>
                <a:ea typeface="Noto Serif TC Medium" panose="02020200000000000000" pitchFamily="18" charset="-128"/>
              </a:rPr>
              <a:t>雷射除毛 Avalanche</a:t>
            </a:r>
          </a:p>
        </p:txBody>
      </p:sp>
      <p:sp>
        <p:nvSpPr>
          <p:cNvPr id="303" name="BBL Desc"/>
          <p:cNvSpPr/>
          <p:nvPr/>
        </p:nvSpPr>
        <p:spPr>
          <a:xfrm>
            <a:off x="3696259" y="12060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依毛質與膚質調整能量的雷射除毛儀器。搭配強效冷卻減輕疼痛感，從臉部到身體，大範圍快速且均勻地除毛。</a:t>
            </a:r>
            <a:endParaRPr lang="zh-TW" sz="12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04" name="BBL Tag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5" name="BBL TagText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女性除毛</a:t>
            </a:r>
            <a:endParaRPr lang="zh-TW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06" name="BBL Tag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7" name="BBL TagText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男性除毛</a:t>
            </a:r>
            <a:endParaRPr lang="zh-TW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08" name="BBL Tag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9" name="BBL TagText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臉部 · 身體</a:t>
            </a:r>
            <a:endParaRPr lang="zh-TW" sz="90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310" name="BBL 이미지"/>
          <p:cNvSpPr/>
          <p:nvPr/>
        </p:nvSpPr>
        <p:spPr>
          <a:xfrm>
            <a:off x="1016176" y="11268000"/>
            <a:ext cx="1908000" cy="1908000"/>
          </a:xfrm>
          <a:prstGeom prst="rect">
            <a:avLst/>
          </a:prstGeom>
          <a:solidFill>
            <a:srgbClr val="EAF3F7"/>
          </a:solidFill>
          <a:ln w="9525">
            <a:solidFill>
              <a:srgbClr val="2498B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1" name="AVALANCHE 이미지 자리"/>
          <p:cNvSpPr/>
          <p:nvPr/>
        </p:nvSpPr>
        <p:spPr>
          <a:xfrm>
            <a:off x="1015200" y="12114000"/>
            <a:ext cx="1908000" cy="21600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pPr algn="ctr"/>
            <a:r>
              <a:rPr lang="zh-TW" sz="996" kern="0" spc="219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儀器圖片位置</a:t>
            </a:r>
            <a:endParaRPr lang="zh-TW" sz="996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zh-TW" altLang="en-US" sz="1050" kern="0" spc="168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MEDICAL SKINCARE</a:t>
            </a:r>
            <a:endParaRPr lang="zh-TW" altLang="en-US" sz="105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altLang="en-US" sz="3150" kern="0" spc="-63" dirty="0">
                <a:solidFill>
                  <a:srgbClr val="2498BD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Sinsegye" pitchFamily="34" charset="-120"/>
              </a:rPr>
              <a:t>醫學護膚</a:t>
            </a:r>
            <a:endParaRPr lang="zh-TW" altLang="en-US" sz="315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altLang="en-US" sz="1275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Céramique 提案的醫學皮膚管理</a:t>
            </a:r>
            <a:endParaRPr lang="zh-TW" altLang="en-US" sz="1275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altLang="en-US" sz="1013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* 不含10%增值稅</a:t>
            </a:r>
            <a:endParaRPr lang="zh-TW" altLang="en-US" sz="1013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192069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altLang="en-US" dirty="0">
                  <a:latin typeface="Noto Serif TC Bold" panose="02020200000000000000" pitchFamily="18" charset="-128"/>
                  <a:ea typeface="Noto Serif TC Bold" panose="02020200000000000000" pitchFamily="18" charset="-128"/>
                  <a:cs typeface="Sinsegye" pitchFamily="34" charset="-120"/>
                </a:rPr>
                <a:t>清潔 &amp; 日常護理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AquaPeel 水飛梭 (1/2/3階段)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清除毛孔污垢·皮脂 + 補水補養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69,000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299,000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422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Cryo 冷凍鎮靜護理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急速冷卻 — 舒緩泛紅·腫脹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307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2136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7980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2255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IONZYME 離子美白管理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高濃縮離子化維生素C滲透至皮膚深層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8093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SONO 超音波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超音波振動穩定膚況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3922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Ionzyme 美白管理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微電流保濕 · 舒緩 · 改善膚質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3826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5965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5499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5976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Ionzyme + Sono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穩定膚況 · 改善膚質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924510" y="3643675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69,000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299,000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924510" y="4226998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69,000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299,000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924510" y="4810796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69,000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299,000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924510" y="539367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69,000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299,000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924510" y="5977747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99,000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450,000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67452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517195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LDM (Ulkin) </a:t>
              </a:r>
            </a:p>
            <a:p>
              <a:r>
                <a:rPr lang="zh-TW" altLang="en-US" sz="1000" dirty="0">
                  <a:solidFill>
                    <a:srgbClr val="6E6E6E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三重超音波 — 活化細胞 · 皮膚重塑 · 對敏感肌、瘀青腫脹、泛紅有效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609422" y="7547970"/>
              <a:ext cx="1637234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(6分鐘)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100,000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1次 (12分鐘)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200,000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10799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altLang="en-US" dirty="0">
                  <a:latin typeface="Noto Serif TC Bold" panose="02020200000000000000" pitchFamily="18" charset="-128"/>
                  <a:ea typeface="Noto Serif TC Bold" panose="02020200000000000000" pitchFamily="18" charset="-128"/>
                  <a:cs typeface="Sinsegye" pitchFamily="34" charset="-120"/>
                </a:rPr>
                <a:t>特殊護理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O2Derm 肌光太空氧罩  </a:t>
              </a:r>
              <a:r>
                <a:rPr lang="zh-TW" altLang="en-US" sz="1000" dirty="0">
                  <a:solidFill>
                    <a:srgbClr val="6E6E6E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高濃度氧氣·負離子 — 皮膚再生與舒緩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339772" y="8161980"/>
              <a:ext cx="906884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2853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altLang="en-US" dirty="0">
                  <a:latin typeface="Noto Serif TC Bold" panose="02020200000000000000" pitchFamily="18" charset="-128"/>
                  <a:ea typeface="Noto Serif TC Bold" panose="02020200000000000000" pitchFamily="18" charset="-128"/>
                  <a:cs typeface="Sinsegye" pitchFamily="34" charset="-120"/>
                </a:rPr>
                <a:t>煥膚</a:t>
              </a: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南瓜煥膚  </a:t>
              </a:r>
              <a:r>
                <a:rPr lang="zh-TW" altLang="en-US" sz="1000" dirty="0">
                  <a:solidFill>
                    <a:srgbClr val="6E6E6E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天然南瓜酵素 — 去角質 · 改善膚色·膚質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黑鑽煥膚  </a:t>
              </a:r>
              <a:r>
                <a:rPr lang="zh-TW" altLang="en-US" sz="1000" dirty="0">
                  <a:solidFill>
                    <a:srgbClr val="6E6E6E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清除多餘皮脂·污垢，收斂毛孔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PHA 水嫩煥膚  </a:t>
              </a:r>
              <a:r>
                <a:rPr lang="zh-TW" altLang="en-US" sz="1000" dirty="0">
                  <a:solidFill>
                    <a:srgbClr val="6E6E6E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保護皮膚屏障的低刺激煥膚</a:t>
              </a: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518324" y="9154930"/>
              <a:ext cx="7283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518324" y="9548295"/>
              <a:ext cx="7283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518324" y="9930371"/>
              <a:ext cx="7283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5334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199445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altLang="en-US" dirty="0">
                  <a:latin typeface="Noto Serif TC Bold" panose="02020200000000000000" pitchFamily="18" charset="-128"/>
                  <a:ea typeface="Noto Serif TC Bold" panose="02020200000000000000" pitchFamily="18" charset="-128"/>
                  <a:cs typeface="Sinsegye" pitchFamily="34" charset="-120"/>
                </a:rPr>
                <a:t>粉刺清除 · 消炎針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粉刺清除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專業清除皮脂、黑頭、白頭、粉刺及膿疱型痘痘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736841" y="10852980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1個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10,000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全臉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80,000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736841" y="11477161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1個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10,000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  <a:p>
              <a:pPr algn="r"/>
              <a:r>
                <a:rPr lang="zh-TW" altLang="en-US" sz="12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全臉</a:t>
              </a:r>
              <a:r>
                <a:rPr lang="zh-TW" altLang="en-US" sz="1400" dirty="0">
                  <a:solidFill>
                    <a:srgbClr val="2498BD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TW" altLang="en-US" sz="1400" dirty="0">
                  <a:solidFill>
                    <a:srgbClr val="1A1A1A"/>
                  </a:solidFill>
                  <a:latin typeface="Noto Serif TC Bold" panose="02020200000000000000" pitchFamily="18" charset="-128"/>
                  <a:ea typeface="Noto Serif TC Bold" panose="02020200000000000000" pitchFamily="18" charset="-128"/>
                  <a:cs typeface="Arial" pitchFamily="34" charset="-120"/>
                </a:rPr>
                <a:t>50,000</a:t>
              </a:r>
              <a:endParaRPr lang="zh-TW" altLang="en-US" sz="1400" dirty="0">
                <a:latin typeface="Noto Serif TC Bold" panose="02020200000000000000" pitchFamily="18" charset="-128"/>
                <a:ea typeface="Noto Serif TC Bold" panose="02020200000000000000" pitchFamily="18" charset="-128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altLang="en-US" sz="14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消炎針</a:t>
              </a:r>
            </a:p>
            <a:p>
              <a:r>
                <a:rPr lang="zh-TW" altLang="en-US" sz="1000" dirty="0">
                  <a:solidFill>
                    <a:srgbClr val="555555"/>
                  </a:solidFill>
                  <a:latin typeface="Noto Serif TC Medium" panose="02020200000000000000" pitchFamily="18" charset="-128"/>
                  <a:ea typeface="Noto Serif TC Medium" panose="02020200000000000000" pitchFamily="18" charset="-128"/>
                  <a:cs typeface="Arial" pitchFamily="34" charset="-120"/>
                </a:rPr>
                <a:t>將抗發炎藥物直接注入發炎性痘痘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1752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9460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3283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97891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altLang="en-US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LHA 煥膚  </a:t>
            </a:r>
            <a:r>
              <a:rPr lang="zh-TW" altLang="en-US" sz="1000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LHA低刺激煥膚 — 調理角質·皮脂 · 改善膚質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567676"/>
            <a:ext cx="47923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altLang="en-US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粉鑽煥膚  </a:t>
            </a:r>
            <a:r>
              <a:rPr lang="zh-TW" altLang="en-US" sz="1000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添加美白·緊緻成分的低刺激煥膚 — 清理污垢 · 改善膚色·彈性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0949752"/>
            <a:ext cx="4955603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alt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Yes</a:t>
            </a:r>
            <a:r>
              <a:rPr lang="zh-TW" altLang="en-US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煥膚  </a:t>
            </a:r>
            <a:r>
              <a:rPr lang="zh-TW" altLang="en-US" sz="1000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幫助恢復膚況的修護煥膚 — 去角質 · 改善膚質·保濕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521501" y="9869129"/>
            <a:ext cx="72833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altLang="en-US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23105" y="10647694"/>
            <a:ext cx="726728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altLang="en-US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523105" y="11029770"/>
            <a:ext cx="726728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altLang="en-US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9001" name="Text 11"/>
          <p:cNvSpPr/>
          <p:nvPr/>
        </p:nvSpPr>
        <p:spPr>
          <a:xfrm>
            <a:off x="1047868" y="10182476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altLang="en-US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LaLa Jet 水動力淨膚  </a:t>
            </a:r>
            <a:r>
              <a:rPr lang="zh-TW" altLang="en-US" sz="1000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水力噴射·導入系統 — 超細微水柱清除毛孔髒污·油脂 · 打造透亮光澤肌</a:t>
            </a:r>
          </a:p>
        </p:txBody>
      </p:sp>
      <p:sp>
        <p:nvSpPr>
          <p:cNvPr id="9002" name="Text 15"/>
          <p:cNvSpPr/>
          <p:nvPr/>
        </p:nvSpPr>
        <p:spPr>
          <a:xfrm>
            <a:off x="8521501" y="10262494"/>
            <a:ext cx="72833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altLang="en-US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9003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5608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zh-TW" sz="1050" kern="0" spc="168" dirty="0">
                <a:solidFill>
                  <a:srgbClr val="C99A1F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LASER HAIR REMOVAL</a:t>
            </a:r>
            <a:endParaRPr lang="zh-TW" sz="105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Sinsegye" pitchFamily="34" charset="-120"/>
              </a:rPr>
              <a:t>雷射除毛</a:t>
            </a:r>
            <a:endParaRPr lang="zh-TW" sz="3150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Avalanche — 女性 · 男性除毛</a:t>
            </a:r>
            <a:endParaRPr lang="zh-TW" sz="1275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* 不含10%增值稅</a:t>
            </a:r>
            <a:endParaRPr lang="zh-TW" sz="1013" dirty="0"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27216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TW" dirty="0">
                <a:latin typeface="Noto Serif TC Bold" panose="02020200000000000000" pitchFamily="18" charset="-128"/>
                <a:ea typeface="Noto Serif TC Bold" panose="02020200000000000000" pitchFamily="18" charset="-128"/>
                <a:cs typeface="Sinsegye" pitchFamily="34" charset="-120"/>
              </a:rPr>
              <a:t>Avalanche 女性除毛</a:t>
            </a:r>
            <a:endParaRPr lang="zh-TW" altLang="en-US" dirty="0">
              <a:latin typeface="Noto Serif TC Bold" panose="02020200000000000000" pitchFamily="18" charset="-128"/>
              <a:ea typeface="Noto Serif TC Bold" panose="02020200000000000000" pitchFamily="18" charset="-128"/>
              <a:cs typeface="Sinsegye" pitchFamily="34" charset="-120"/>
            </a:endParaRPr>
          </a:p>
        </p:txBody>
      </p:sp>
      <p:sp>
        <p:nvSpPr>
          <p:cNvPr id="10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3045599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056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腋下 或 人中(唇上) 或 鬢角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1139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50,000</a:t>
            </a:r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113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39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4091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腋下 + 人中(唇上)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4667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80,000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4667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1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75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7619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額頭 (含髮際線) 或 後頸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819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90,000</a:t>
            </a:r>
          </a:p>
        </p:txBody>
      </p:sp>
      <p:sp>
        <p:nvSpPr>
          <p:cNvPr id="11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81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300,000</a:t>
            </a:r>
          </a:p>
        </p:txBody>
      </p:sp>
      <p:sp>
        <p:nvSpPr>
          <p:cNvPr id="11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10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11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全臉 (含額頭 · 眉間)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456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467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手指 + 手背 或 腳趾 + 腳背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4525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2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525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809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820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前臂 或 上臂 (含手肘)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162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173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全手臂 (至手腕)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3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515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526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小腿 (含膝蓋)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3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868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878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大腿 (含膝蓋)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160,000</a:t>
            </a: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500,000</a:t>
            </a:r>
          </a:p>
        </p:txBody>
      </p:sp>
      <p:sp>
        <p:nvSpPr>
          <p:cNvPr id="14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220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231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全腿 (至腳踝)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230,000</a:t>
            </a: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700,000</a:t>
            </a:r>
          </a:p>
        </p:txBody>
      </p:sp>
      <p:sp>
        <p:nvSpPr>
          <p:cNvPr id="14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573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584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腹部 (含肚臍下毛髮線)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926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937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全背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7279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75564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TW" dirty="0">
                <a:latin typeface="Noto Serif TC Bold" panose="02020200000000000000" pitchFamily="18" charset="-128"/>
                <a:ea typeface="Noto Serif TC Bold" panose="02020200000000000000" pitchFamily="18" charset="-128"/>
                <a:cs typeface="Sinsegye" pitchFamily="34" charset="-120"/>
              </a:rPr>
              <a:t>Avalanche 男性除毛</a:t>
            </a:r>
            <a:endParaRPr lang="zh-TW" altLang="en-US" dirty="0">
              <a:latin typeface="Noto Serif TC Bold" panose="02020200000000000000" pitchFamily="18" charset="-128"/>
              <a:ea typeface="Noto Serif TC Bold" panose="02020200000000000000" pitchFamily="18" charset="-128"/>
              <a:cs typeface="Sinsegye" pitchFamily="34" charset="-120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7880400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7891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人中(唇上) + 下巴 + 下巴下方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79488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80,000</a:t>
            </a: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7948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300,000</a:t>
            </a:r>
          </a:p>
        </p:txBody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233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244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全下半臉 (人中 · 下巴 · 下顎線 · 鬢角 · 臉頰 · 下巴下方)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586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596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全臉 (含額頭 · 髮際線 · 眉間 · 下巴下方)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6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16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650,000</a:t>
            </a:r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938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949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加購）頸部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007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7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007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291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302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額頭 (含髮際線)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3600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360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7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644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655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後頸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997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008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腋下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8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065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8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065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8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350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360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手指 + 手背 或 腳趾 + 腳背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4184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8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418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8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702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713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前臂 或 上臂 (含手肘)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19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055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066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全手臂 (至手腕)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230,000</a:t>
            </a:r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700,000</a:t>
            </a: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40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419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小腿 (含膝蓋)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9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20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76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772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大腿 (含膝蓋)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20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11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12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全腿 (至腳踝)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0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750,000</a:t>
            </a:r>
          </a:p>
        </p:txBody>
      </p:sp>
      <p:sp>
        <p:nvSpPr>
          <p:cNvPr id="20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4667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4775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胸部 (含乳暈) 或 腹部 (含肚臍下毛髮線) *以心窩為界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1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160,000</a:t>
            </a:r>
          </a:p>
        </p:txBody>
      </p:sp>
      <p:sp>
        <p:nvSpPr>
          <p:cNvPr id="21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500,000</a:t>
            </a:r>
          </a:p>
        </p:txBody>
      </p:sp>
      <p:sp>
        <p:nvSpPr>
          <p:cNvPr id="21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8195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830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Arial" pitchFamily="34" charset="-120"/>
              </a:rPr>
              <a:t>全背</a:t>
            </a:r>
            <a:endParaRPr lang="zh-TW" altLang="en-US" sz="1400" dirty="0">
              <a:solidFill>
                <a:srgbClr val="555555"/>
              </a:solidFill>
              <a:latin typeface="Noto Serif TC Medium" panose="02020200000000000000" pitchFamily="18" charset="-128"/>
              <a:ea typeface="Noto Serif T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1次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5次</a:t>
            </a:r>
            <a:r>
              <a:rPr lang="zh-TW" altLang="ko-KR" sz="1100" dirty="0">
                <a:solidFill>
                  <a:srgbClr val="2498BD"/>
                </a:solidFill>
                <a:latin typeface="Noto Serif TC Medium" panose="02020200000000000000" pitchFamily="18" charset="-128"/>
                <a:ea typeface="Noto Serif TC Medium" panose="02020200000000000000" pitchFamily="18" charset="-128"/>
                <a:cs typeface="GC 16 Mono" pitchFamily="34" charset="-120"/>
              </a:rPr>
              <a:t> </a:t>
            </a:r>
            <a:r>
              <a:rPr lang="zh-TW" altLang="ko-KR" sz="1400" dirty="0">
                <a:solidFill>
                  <a:srgbClr val="1A1A1A"/>
                </a:solidFill>
                <a:latin typeface="Noto Serif TC Bold" panose="02020200000000000000" pitchFamily="18" charset="-128"/>
                <a:ea typeface="Noto Serif TC Bold" panose="02020200000000000000" pitchFamily="18" charset="-128"/>
                <a:cs typeface="Arial" pitchFamily="34" charset="-120"/>
              </a:rPr>
              <a:t>750,000</a:t>
            </a:r>
          </a:p>
        </p:txBody>
      </p:sp>
      <p:sp>
        <p:nvSpPr>
          <p:cNvPr id="21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31723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5799</Words>
  <Application>Microsoft Office PowerPoint</Application>
  <PresentationFormat>사용자 지정</PresentationFormat>
  <Paragraphs>545</Paragraphs>
  <Slides>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Noto Serif TC Medium</vt:lpstr>
      <vt:lpstr>Arial</vt:lpstr>
      <vt:lpstr>Noto Serif TC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종진 이</cp:lastModifiedBy>
  <cp:revision>89</cp:revision>
  <cp:lastPrinted>2026-07-22T06:48:58Z</cp:lastPrinted>
  <dcterms:created xsi:type="dcterms:W3CDTF">2026-07-20T01:44:47Z</dcterms:created>
  <dcterms:modified xsi:type="dcterms:W3CDTF">2026-10-19T03:07:19Z</dcterms:modified>
</cp:coreProperties>
</file>