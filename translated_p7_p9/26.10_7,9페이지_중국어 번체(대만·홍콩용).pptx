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70" r:id="rId8"/>
    <p:sldId id="269" r:id="rId10"/>
  </p:sldIdLst>
  <p:sldSz cx="10287000" cy="14544675"/>
  <p:notesSz cx="9928225" cy="6797675"/>
  <p:embeddedFontLst>
    <p:embeddedFont>
      <p:font typeface="신세계 Bold" panose="02000300000000000000" pitchFamily="50" charset="-127"/>
      <p:bold r:id="rId15"/>
    </p:embeddedFont>
    <p:embeddedFont>
      <p:font typeface="신세계 Medium" panose="02000300000000000000" pitchFamily="50" charset="-127"/>
      <p:regular r:id="rId16"/>
    </p:embeddedFont>
    <p:embeddedFont>
      <p:font typeface="신세계 Regular" panose="02000300000000000000" pitchFamily="50" charset="-127"/>
      <p:regular r:id="rId17"/>
    </p:embeddedFont>
    <p:embeddedFont>
      <p:font typeface="신세계 SemiBold" panose="02000300000000000000" pitchFamily="50" charset="-12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884" y="124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font" Target="fonts/font4.fntdata"/><Relationship Id="rId21" Type="http://schemas.openxmlformats.org/officeDocument/2006/relationships/theme" Target="theme/theme1.xml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13" Type="http://schemas.openxmlformats.org/officeDocument/2006/relationships/image" Target="../media/image23.jpg"/><Relationship Id="rId18" Type="http://schemas.openxmlformats.org/officeDocument/2006/relationships/image" Target="../media/image2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12" Type="http://schemas.openxmlformats.org/officeDocument/2006/relationships/image" Target="../media/image22.jpg"/><Relationship Id="rId17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5" Type="http://schemas.openxmlformats.org/officeDocument/2006/relationships/image" Target="../media/image15.jpg"/><Relationship Id="rId15" Type="http://schemas.openxmlformats.org/officeDocument/2006/relationships/image" Target="../media/image25.jpg"/><Relationship Id="rId10" Type="http://schemas.openxmlformats.org/officeDocument/2006/relationships/image" Target="../media/image20.jpg"/><Relationship Id="rId19" Type="http://schemas.openxmlformats.org/officeDocument/2006/relationships/image" Target="../media/image29.jpg"/><Relationship Id="rId4" Type="http://schemas.openxmlformats.org/officeDocument/2006/relationships/image" Target="../media/image14.jpg"/><Relationship Id="rId9" Type="http://schemas.openxmlformats.org/officeDocument/2006/relationships/image" Target="../media/image19.jpg"/><Relationship Id="rId14" Type="http://schemas.openxmlformats.org/officeDocument/2006/relationships/image" Target="../media/image24.jp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5500000"/>
            <a:ext cx="2350000" cy="2350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52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96259" y="31214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PICOLITE BLACK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3687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PicoLite Black 皮秒雷射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757208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zh-TW" sz="1245" dirty="0">
                <a:solidFill>
                  <a:srgbClr val="555555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以一兆分之一秒的超短時間瞬間釋放能量的皮秒雷射。相較於傳統奈秒雷射刺激更少，可精準且安全地改善色素問題、毛孔、疤痕及膚色。</a:t>
            </a:r>
          </a:p>
        </p:txBody>
      </p:sp>
      <p:sp>
        <p:nvSpPr>
          <p:cNvPr id="14" name="Shape 11"/>
          <p:cNvSpPr/>
          <p:nvPr/>
        </p:nvSpPr>
        <p:spPr>
          <a:xfrm>
            <a:off x="3696259" y="4694741"/>
            <a:ext cx="74371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96259" y="4694741"/>
            <a:ext cx="74371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96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皮秒淨膚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22267" y="4694741"/>
            <a:ext cx="85249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2267" y="4694741"/>
            <a:ext cx="85249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96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肝斑 · 斑點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457058" y="4694741"/>
            <a:ext cx="97898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57058" y="4694741"/>
            <a:ext cx="97898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96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除痣 · 老人斑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80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696259" y="56867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CO2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9340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2116" dirty="0">
                <a:latin typeface="신세계 Regular" panose="02000300000000000000" pitchFamily="50" charset="-127"/>
                <a:ea typeface="Microsoft JhengHei"/>
              </a:rPr>
              <a:t>CO2 雷射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6322507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精準汽化、切除病變組織的雷射。適用於痣、粟粒腫、老人斑、扁平疣等各種表淺性皮膚病變的去除，以及肌膚表層再生療程。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7330836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417" y="7330836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痣 · 粟粒腫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78955" y="7330836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8955" y="7330836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老人斑 · 疣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454493" y="7330836"/>
            <a:ext cx="9235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54493" y="7330836"/>
            <a:ext cx="9235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皮膚病變去除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8573236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POTENZA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8820523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Potenza 微針電波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9208967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以微針穿透肌膚，將電波（RF）能量傳導至目標深度的儀器。可運用多種探頭與模式，幫助改善毛孔、疤痕、膚質與緊緻度，並可與肌膚增強療程併用。</a:t>
            </a:r>
            <a:endParaRPr lang="en-US" altLang="ko-KR" sz="1200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10262357"/>
            <a:ext cx="85249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92213" y="10262357"/>
            <a:ext cx="85249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96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毛孔 · 疤痕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627004" y="10262357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27004" y="10262357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膚質 · 緊緻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502542" y="10262357"/>
            <a:ext cx="8092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02542" y="10262357"/>
            <a:ext cx="8092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增強劑導入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雷射儀器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TW" sz="1275" dirty="0">
                <a:solidFill>
                  <a:srgbClr val="6E6E6E"/>
                </a:solidFill>
                <a:latin typeface="신세계 Regular" panose="02000300000000000000" pitchFamily="50" charset="-127"/>
                <a:ea typeface="Microsoft JhengHei"/>
                <a:cs typeface="Arial" pitchFamily="34" charset="-120"/>
              </a:rPr>
              <a:t>肝斑/斑點 · 泛紅 · 毛孔/疤痕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2350000" cy="235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8300000"/>
            <a:ext cx="2350000" cy="235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BBL Divider"/>
          <p:cNvSpPr/>
          <p:nvPr/>
        </p:nvSpPr>
        <p:spPr>
          <a:xfrm>
            <a:off x="959560" y="108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02" name="BBL Label"/>
          <p:cNvSpPr/>
          <p:nvPr/>
        </p:nvSpPr>
        <p:spPr>
          <a:xfrm>
            <a:off x="3696259" y="112867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BROADBAND LIGHT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115340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11922507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將寬頻光（BroadBand Light）能量依肌膚深度傳導的光療儀器。可同時改善肝斑、斑點等色素問題與泛紅、血管性病變，讓膚色與膚質清透均勻。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2930836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6" name="BBL TagText 1"/>
          <p:cNvSpPr/>
          <p:nvPr/>
        </p:nvSpPr>
        <p:spPr>
          <a:xfrm>
            <a:off x="3703417" y="12930836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肝斑 · 斑點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578955" y="12930836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8" name="BBL TagText 2"/>
          <p:cNvSpPr/>
          <p:nvPr/>
        </p:nvSpPr>
        <p:spPr>
          <a:xfrm>
            <a:off x="4578955" y="12930836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泛紅 · 血管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5454493" y="12930836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10" name="BBL TagText 3"/>
          <p:cNvSpPr/>
          <p:nvPr/>
        </p:nvSpPr>
        <p:spPr>
          <a:xfrm>
            <a:off x="5454493" y="12930836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膚色改善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11100000"/>
            <a:ext cx="2350000" cy="2350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F374F5D5-A62C-4439-C792-C9D88D30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68" y="5174312"/>
            <a:ext cx="1830633" cy="104411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54" name="Text 3">
            <a:extLst>
              <a:ext uri="{FF2B5EF4-FFF2-40B4-BE49-F238E27FC236}">
                <a16:creationId xmlns:a16="http://schemas.microsoft.com/office/drawing/2014/main" id="{70B1DE5D-40DB-EE22-ECCD-C0972A197244}"/>
              </a:ext>
            </a:extLst>
          </p:cNvPr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2A98A99F-80A2-D258-DB15-5DF5F5E994F0}"/>
              </a:ext>
            </a:extLst>
          </p:cNvPr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肌膚增強療程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3F9F0950-79CD-71D1-D16C-D4F9BB36487D}"/>
              </a:ext>
            </a:extLst>
          </p:cNvPr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TW" sz="1275" dirty="0">
                <a:solidFill>
                  <a:srgbClr val="6E6E6E"/>
                </a:solidFill>
                <a:latin typeface="신세계 Regular" panose="02000300000000000000" pitchFamily="50" charset="-127"/>
                <a:ea typeface="Microsoft JhengHei"/>
                <a:cs typeface="Arial" pitchFamily="34" charset="-120"/>
              </a:rPr>
              <a:t>再生 · 膠原蛋白/豐盈 · ECM · 彈力/水光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183" name="그림 182">
            <a:extLst>
              <a:ext uri="{FF2B5EF4-FFF2-40B4-BE49-F238E27FC236}">
                <a16:creationId xmlns:a16="http://schemas.microsoft.com/office/drawing/2014/main" id="{05C60A78-E929-024F-11CE-12017848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20" y="11470631"/>
            <a:ext cx="1837632" cy="1048111"/>
          </a:xfrm>
          <a:prstGeom prst="rect">
            <a:avLst/>
          </a:prstGeom>
          <a:ln w="12700">
            <a:solidFill>
              <a:schemeClr val="bg1">
                <a:lumMod val="95000"/>
              </a:schemeClr>
            </a:solidFill>
          </a:ln>
        </p:spPr>
      </p:pic>
      <p:sp>
        <p:nvSpPr>
          <p:cNvPr id="11" name="Text 8"/>
          <p:cNvSpPr/>
          <p:nvPr/>
        </p:nvSpPr>
        <p:spPr>
          <a:xfrm>
            <a:off x="927339" y="2959124"/>
            <a:ext cx="9275470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再生</a:t>
            </a:r>
            <a:endParaRPr lang="en-US" altLang="ko-KR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2AB248D-F131-E8F2-0733-C64244F22B3D}"/>
              </a:ext>
            </a:extLst>
          </p:cNvPr>
          <p:cNvGrpSpPr/>
          <p:nvPr/>
        </p:nvGrpSpPr>
        <p:grpSpPr>
          <a:xfrm>
            <a:off x="927338" y="3369812"/>
            <a:ext cx="2175436" cy="1554999"/>
            <a:chOff x="927338" y="3292929"/>
            <a:chExt cx="2175436" cy="1554999"/>
          </a:xfrm>
        </p:grpSpPr>
        <p:sp>
          <p:nvSpPr>
            <p:cNvPr id="12" name="Text 9"/>
            <p:cNvSpPr/>
            <p:nvPr/>
          </p:nvSpPr>
          <p:spPr>
            <a:xfrm>
              <a:off x="927338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Rejuran Healer R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927338" y="4638766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鮭魚萃取 PN — 強化肌膚屏障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5BF1024-D103-4CF7-087A-3BC9F0A918A1}"/>
                </a:ext>
              </a:extLst>
            </p:cNvPr>
            <p:cNvSpPr/>
            <p:nvPr/>
          </p:nvSpPr>
          <p:spPr>
            <a:xfrm>
              <a:off x="927339" y="3292929"/>
              <a:ext cx="1837632" cy="1040862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629E457-9CAC-078C-E409-E48937729BBD}"/>
              </a:ext>
            </a:extLst>
          </p:cNvPr>
          <p:cNvGrpSpPr/>
          <p:nvPr/>
        </p:nvGrpSpPr>
        <p:grpSpPr>
          <a:xfrm>
            <a:off x="927338" y="5174312"/>
            <a:ext cx="2193623" cy="1554999"/>
            <a:chOff x="5212202" y="3292929"/>
            <a:chExt cx="2193623" cy="1554999"/>
          </a:xfrm>
        </p:grpSpPr>
        <p:sp>
          <p:nvSpPr>
            <p:cNvPr id="16" name="Text 13"/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Rejuran Healer I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230389" y="4638766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眼周專用 · 淡化細紋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1A01021-BD47-EBD4-6847-95ED29822700}"/>
                </a:ext>
              </a:extLst>
            </p:cNvPr>
            <p:cNvSpPr/>
            <p:nvPr/>
          </p:nvSpPr>
          <p:spPr>
            <a:xfrm>
              <a:off x="5212202" y="3292929"/>
              <a:ext cx="1837632" cy="1040862"/>
            </a:xfrm>
            <a:prstGeom prst="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6322D0-35FD-9B7B-82C4-C23F485DD1F6}"/>
              </a:ext>
            </a:extLst>
          </p:cNvPr>
          <p:cNvGrpSpPr/>
          <p:nvPr/>
        </p:nvGrpSpPr>
        <p:grpSpPr>
          <a:xfrm>
            <a:off x="3069771" y="3369812"/>
            <a:ext cx="2184529" cy="1732541"/>
            <a:chOff x="3069771" y="3292929"/>
            <a:chExt cx="2184529" cy="1732541"/>
          </a:xfrm>
        </p:grpSpPr>
        <p:sp>
          <p:nvSpPr>
            <p:cNvPr id="14" name="Text 11"/>
            <p:cNvSpPr/>
            <p:nvPr/>
          </p:nvSpPr>
          <p:spPr>
            <a:xfrm>
              <a:off x="3078864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Rejuran Healer HB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3078864" y="4638766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低疼痛 · 含玻尿酸兼具保濕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F669CEB-1944-DA80-6059-C5088AE6DDA2}"/>
                </a:ext>
              </a:extLst>
            </p:cNvPr>
            <p:cNvSpPr/>
            <p:nvPr/>
          </p:nvSpPr>
          <p:spPr>
            <a:xfrm>
              <a:off x="3069771" y="3292929"/>
              <a:ext cx="1837632" cy="1040862"/>
            </a:xfrm>
            <a:prstGeom prst="rect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E415609-DD49-C267-01F0-EA8DA016F142}"/>
              </a:ext>
            </a:extLst>
          </p:cNvPr>
          <p:cNvGrpSpPr/>
          <p:nvPr/>
        </p:nvGrpSpPr>
        <p:grpSpPr>
          <a:xfrm>
            <a:off x="927338" y="11470631"/>
            <a:ext cx="2202717" cy="1733009"/>
            <a:chOff x="7354634" y="5104272"/>
            <a:chExt cx="2202717" cy="1733009"/>
          </a:xfrm>
        </p:grpSpPr>
        <p:sp>
          <p:nvSpPr>
            <p:cNvPr id="26" name="Text 23"/>
            <p:cNvSpPr/>
            <p:nvPr/>
          </p:nvSpPr>
          <p:spPr>
            <a:xfrm>
              <a:off x="7381915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Sculptra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7381915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PLLA — 自然豐盈感與均衡輪廓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CD8F2FE-5D5E-8AC1-8B02-8005175B46E3}"/>
                </a:ext>
              </a:extLst>
            </p:cNvPr>
            <p:cNvSpPr/>
            <p:nvPr/>
          </p:nvSpPr>
          <p:spPr>
            <a:xfrm>
              <a:off x="7354634" y="5104272"/>
              <a:ext cx="1837632" cy="1040862"/>
            </a:xfrm>
            <a:prstGeom prst="rect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96F72D-9F51-4BEA-799D-655D1545DD4F}"/>
              </a:ext>
            </a:extLst>
          </p:cNvPr>
          <p:cNvGrpSpPr/>
          <p:nvPr/>
        </p:nvGrpSpPr>
        <p:grpSpPr>
          <a:xfrm>
            <a:off x="927338" y="9675648"/>
            <a:ext cx="2202716" cy="1685006"/>
            <a:chOff x="7354635" y="3300108"/>
            <a:chExt cx="2202716" cy="1685006"/>
          </a:xfrm>
        </p:grpSpPr>
        <p:sp>
          <p:nvSpPr>
            <p:cNvPr id="22" name="Text 19"/>
            <p:cNvSpPr/>
            <p:nvPr/>
          </p:nvSpPr>
          <p:spPr>
            <a:xfrm>
              <a:off x="7381915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 xml:space="preserve">Olidia </a:t>
              </a:r>
              <a:r>
                <a:rPr lang="zh-TW" sz="934">
                  <a:solidFill>
                    <a:srgbClr val="6E6E6E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 xml:space="preserve">120 · 365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7381915" y="4598410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PLLA — 刺激纖維母細胞，促進膠原蛋白生成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FCC2E1F-378F-2FA4-C71B-961B07F06797}"/>
                </a:ext>
              </a:extLst>
            </p:cNvPr>
            <p:cNvSpPr/>
            <p:nvPr/>
          </p:nvSpPr>
          <p:spPr>
            <a:xfrm>
              <a:off x="7354635" y="3300108"/>
              <a:ext cx="1837632" cy="1040862"/>
            </a:xfrm>
            <a:prstGeom prst="rect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A7581D-D363-162D-470A-28A79D76B2D1}"/>
              </a:ext>
            </a:extLst>
          </p:cNvPr>
          <p:cNvGrpSpPr/>
          <p:nvPr/>
        </p:nvGrpSpPr>
        <p:grpSpPr>
          <a:xfrm>
            <a:off x="3078864" y="9675648"/>
            <a:ext cx="2193623" cy="1733009"/>
            <a:chOff x="5212202" y="5104272"/>
            <a:chExt cx="2193623" cy="1733009"/>
          </a:xfrm>
        </p:grpSpPr>
        <p:sp>
          <p:nvSpPr>
            <p:cNvPr id="24" name="Text 21"/>
            <p:cNvSpPr/>
            <p:nvPr/>
          </p:nvSpPr>
          <p:spPr>
            <a:xfrm>
              <a:off x="523038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Radiesse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230390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CaHA — 即時豐盈與持久彈力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25357A3-24F0-10F9-3F57-01C1A0F34EAE}"/>
                </a:ext>
              </a:extLst>
            </p:cNvPr>
            <p:cNvSpPr/>
            <p:nvPr/>
          </p:nvSpPr>
          <p:spPr>
            <a:xfrm>
              <a:off x="5212202" y="5104272"/>
              <a:ext cx="1837632" cy="1040862"/>
            </a:xfrm>
            <a:prstGeom prst="rect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4C190F9-BDA6-D466-EC6D-0E6D9D573C8B}"/>
              </a:ext>
            </a:extLst>
          </p:cNvPr>
          <p:cNvGrpSpPr/>
          <p:nvPr/>
        </p:nvGrpSpPr>
        <p:grpSpPr>
          <a:xfrm>
            <a:off x="927338" y="7871484"/>
            <a:ext cx="2175437" cy="1562646"/>
            <a:chOff x="927338" y="5097093"/>
            <a:chExt cx="2175437" cy="1562646"/>
          </a:xfrm>
        </p:grpSpPr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B267F8B4-B4A0-BF67-6F01-F232C05EFE80}"/>
                </a:ext>
              </a:extLst>
            </p:cNvPr>
            <p:cNvSpPr/>
            <p:nvPr/>
          </p:nvSpPr>
          <p:spPr>
            <a:xfrm>
              <a:off x="92733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Juvelook Skin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1B32C0F2-7B72-51EC-8E75-6BE570894F8E}"/>
                </a:ext>
              </a:extLst>
            </p:cNvPr>
            <p:cNvSpPr/>
            <p:nvPr/>
          </p:nvSpPr>
          <p:spPr>
            <a:xfrm>
              <a:off x="927339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PDLLA — 改善膚質 · 收細毛孔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730483F-ED13-E0B0-94A9-17B6EBC20138}"/>
                </a:ext>
              </a:extLst>
            </p:cNvPr>
            <p:cNvSpPr/>
            <p:nvPr/>
          </p:nvSpPr>
          <p:spPr>
            <a:xfrm>
              <a:off x="927338" y="5097093"/>
              <a:ext cx="1837632" cy="1040862"/>
            </a:xfrm>
            <a:prstGeom prst="rect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0AAF7C7-7E88-959E-4B8F-1097235CB6AD}"/>
              </a:ext>
            </a:extLst>
          </p:cNvPr>
          <p:cNvGrpSpPr/>
          <p:nvPr/>
        </p:nvGrpSpPr>
        <p:grpSpPr>
          <a:xfrm>
            <a:off x="3069770" y="7871484"/>
            <a:ext cx="2184529" cy="1740188"/>
            <a:chOff x="3069770" y="5097093"/>
            <a:chExt cx="2184529" cy="1740188"/>
          </a:xfrm>
        </p:grpSpPr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B0BECB8D-00BB-52AA-0DCE-4B70AE925F25}"/>
                </a:ext>
              </a:extLst>
            </p:cNvPr>
            <p:cNvSpPr/>
            <p:nvPr/>
          </p:nvSpPr>
          <p:spPr>
            <a:xfrm>
              <a:off x="3078863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Juvelook Volume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37C54209-7E29-29E8-2B1C-C7DFCD7E6D68}"/>
                </a:ext>
              </a:extLst>
            </p:cNvPr>
            <p:cNvSpPr/>
            <p:nvPr/>
          </p:nvSpPr>
          <p:spPr>
            <a:xfrm>
              <a:off x="3078863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打造優雅輪廓的膠原蛋白增強劑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B2E1963-D386-0B1D-1573-EC480B2F2AFA}"/>
                </a:ext>
              </a:extLst>
            </p:cNvPr>
            <p:cNvSpPr/>
            <p:nvPr/>
          </p:nvSpPr>
          <p:spPr>
            <a:xfrm>
              <a:off x="3069770" y="5097093"/>
              <a:ext cx="1837632" cy="1040862"/>
            </a:xfrm>
            <a:prstGeom prst="rect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 26"/>
          <p:cNvSpPr/>
          <p:nvPr/>
        </p:nvSpPr>
        <p:spPr>
          <a:xfrm>
            <a:off x="927339" y="7460460"/>
            <a:ext cx="2904432" cy="22225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85000" lnSpcReduction="20000"/>
          </a:bodyPr>
          <a:lstStyle/>
          <a:p>
            <a:r>
              <a:rPr lang="zh-TW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膠原蛋白 / 豐盈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22D1372-66B1-421E-EC60-58B7C0D34C44}"/>
              </a:ext>
            </a:extLst>
          </p:cNvPr>
          <p:cNvGrpSpPr/>
          <p:nvPr/>
        </p:nvGrpSpPr>
        <p:grpSpPr>
          <a:xfrm>
            <a:off x="5379520" y="3338169"/>
            <a:ext cx="2175436" cy="1732206"/>
            <a:chOff x="927338" y="5508117"/>
            <a:chExt cx="2175436" cy="1732206"/>
          </a:xfrm>
        </p:grpSpPr>
        <p:sp>
          <p:nvSpPr>
            <p:cNvPr id="30" name="Text 27"/>
            <p:cNvSpPr/>
            <p:nvPr/>
          </p:nvSpPr>
          <p:spPr>
            <a:xfrm>
              <a:off x="927338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Celcore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927338" y="6853619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ECM 基底 — 肌膚結構性再生與修復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2976A93-3C2E-C979-685E-253010963591}"/>
                </a:ext>
              </a:extLst>
            </p:cNvPr>
            <p:cNvSpPr/>
            <p:nvPr/>
          </p:nvSpPr>
          <p:spPr>
            <a:xfrm>
              <a:off x="927338" y="5508117"/>
              <a:ext cx="1837632" cy="1040862"/>
            </a:xfrm>
            <a:prstGeom prst="rect">
              <a:avLst/>
            </a:prstGeom>
            <a:blipFill dpi="0" rotWithShape="1">
              <a:blip r:embed="rId13"/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A4B7FF-5B05-CC18-2AF5-6EE4C045689E}"/>
              </a:ext>
            </a:extLst>
          </p:cNvPr>
          <p:cNvGrpSpPr/>
          <p:nvPr/>
        </p:nvGrpSpPr>
        <p:grpSpPr>
          <a:xfrm>
            <a:off x="7521952" y="3338169"/>
            <a:ext cx="2184530" cy="1732206"/>
            <a:chOff x="3069770" y="5508117"/>
            <a:chExt cx="2184530" cy="1732206"/>
          </a:xfrm>
        </p:grpSpPr>
        <p:sp>
          <p:nvSpPr>
            <p:cNvPr id="32" name="Text 29"/>
            <p:cNvSpPr/>
            <p:nvPr/>
          </p:nvSpPr>
          <p:spPr>
            <a:xfrm>
              <a:off x="3078864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Elravie Re2O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3078864" y="6853619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同種真皮來源 — 即時肌膚重塑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FAA6388-BBFB-432C-0BD8-E98CD8943AF2}"/>
                </a:ext>
              </a:extLst>
            </p:cNvPr>
            <p:cNvSpPr/>
            <p:nvPr/>
          </p:nvSpPr>
          <p:spPr>
            <a:xfrm>
              <a:off x="3069770" y="5508117"/>
              <a:ext cx="1837632" cy="1040862"/>
            </a:xfrm>
            <a:prstGeom prst="rect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FC42B10-3699-9EEA-87F1-59402B3CC5BC}"/>
              </a:ext>
            </a:extLst>
          </p:cNvPr>
          <p:cNvGrpSpPr/>
          <p:nvPr/>
        </p:nvGrpSpPr>
        <p:grpSpPr>
          <a:xfrm>
            <a:off x="5379520" y="5174312"/>
            <a:ext cx="2193623" cy="1725027"/>
            <a:chOff x="5212202" y="5515296"/>
            <a:chExt cx="2193623" cy="1725027"/>
          </a:xfrm>
        </p:grpSpPr>
        <p:sp>
          <p:nvSpPr>
            <p:cNvPr id="34" name="Text 31"/>
            <p:cNvSpPr/>
            <p:nvPr/>
          </p:nvSpPr>
          <p:spPr>
            <a:xfrm>
              <a:off x="5230389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Elravie Re2O Fine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5230390" y="6853619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適用於細緻部位的同種真皮增強劑</a:t>
              </a: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677C29C-E50A-C685-B8A6-C022B8388B8D}"/>
                </a:ext>
              </a:extLst>
            </p:cNvPr>
            <p:cNvSpPr/>
            <p:nvPr/>
          </p:nvSpPr>
          <p:spPr>
            <a:xfrm>
              <a:off x="5212202" y="5515296"/>
              <a:ext cx="1837632" cy="1040862"/>
            </a:xfrm>
            <a:prstGeom prst="rect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 36"/>
          <p:cNvSpPr/>
          <p:nvPr/>
        </p:nvSpPr>
        <p:spPr>
          <a:xfrm>
            <a:off x="5379521" y="2959124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ECM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5C39862-A3A3-AB2E-CAC7-7A613C171073}"/>
              </a:ext>
            </a:extLst>
          </p:cNvPr>
          <p:cNvGrpSpPr/>
          <p:nvPr/>
        </p:nvGrpSpPr>
        <p:grpSpPr>
          <a:xfrm>
            <a:off x="5379520" y="7851915"/>
            <a:ext cx="2175436" cy="1586642"/>
            <a:chOff x="927338" y="7840652"/>
            <a:chExt cx="2175436" cy="1586642"/>
          </a:xfrm>
        </p:grpSpPr>
        <p:sp>
          <p:nvSpPr>
            <p:cNvPr id="40" name="Text 37"/>
            <p:cNvSpPr/>
            <p:nvPr/>
          </p:nvSpPr>
          <p:spPr>
            <a:xfrm>
              <a:off x="927338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Lilied M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927338" y="9218132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HA — 保濕並調節水油平衡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F8820AC2-0B7C-F3C3-C322-D7F474366210}"/>
                </a:ext>
              </a:extLst>
            </p:cNvPr>
            <p:cNvSpPr/>
            <p:nvPr/>
          </p:nvSpPr>
          <p:spPr>
            <a:xfrm>
              <a:off x="927338" y="7840652"/>
              <a:ext cx="1837632" cy="1040862"/>
            </a:xfrm>
            <a:prstGeom prst="rect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7983FEA-4D67-7A57-F534-1D009731D8B9}"/>
              </a:ext>
            </a:extLst>
          </p:cNvPr>
          <p:cNvGrpSpPr/>
          <p:nvPr/>
        </p:nvGrpSpPr>
        <p:grpSpPr>
          <a:xfrm>
            <a:off x="7521952" y="7851915"/>
            <a:ext cx="2184530" cy="1764184"/>
            <a:chOff x="3069770" y="7840652"/>
            <a:chExt cx="2184530" cy="1764184"/>
          </a:xfrm>
        </p:grpSpPr>
        <p:sp>
          <p:nvSpPr>
            <p:cNvPr id="42" name="Text 39"/>
            <p:cNvSpPr/>
            <p:nvPr/>
          </p:nvSpPr>
          <p:spPr>
            <a:xfrm>
              <a:off x="3078864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Hilowave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3078864" y="9218132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高純度 HA 膠原蛋白增強劑 — 水潤 · 彈力 · 膚質</a:t>
              </a:r>
              <a:endParaRPr lang="en-US" sz="96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07AC3AC3-F052-C230-853A-99FEF9369ACB}"/>
                </a:ext>
              </a:extLst>
            </p:cNvPr>
            <p:cNvSpPr/>
            <p:nvPr/>
          </p:nvSpPr>
          <p:spPr>
            <a:xfrm>
              <a:off x="3069770" y="7840652"/>
              <a:ext cx="1837632" cy="1040862"/>
            </a:xfrm>
            <a:prstGeom prst="rect">
              <a:avLst/>
            </a:prstGeom>
            <a:blipFill dpi="0"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C93FF9B0-2397-3227-5BB6-AC461D01FDA9}"/>
              </a:ext>
            </a:extLst>
          </p:cNvPr>
          <p:cNvGrpSpPr/>
          <p:nvPr/>
        </p:nvGrpSpPr>
        <p:grpSpPr>
          <a:xfrm>
            <a:off x="5379520" y="9675648"/>
            <a:ext cx="4345149" cy="1757005"/>
            <a:chOff x="9664384" y="7263323"/>
            <a:chExt cx="4345149" cy="1757005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8CBC44F5-AC36-CF95-37DC-3400D4038C9F}"/>
                </a:ext>
              </a:extLst>
            </p:cNvPr>
            <p:cNvGrpSpPr/>
            <p:nvPr/>
          </p:nvGrpSpPr>
          <p:grpSpPr>
            <a:xfrm>
              <a:off x="9664384" y="7263323"/>
              <a:ext cx="2193623" cy="1757005"/>
              <a:chOff x="5212202" y="7847831"/>
              <a:chExt cx="2193623" cy="1757005"/>
            </a:xfrm>
          </p:grpSpPr>
          <p:sp>
            <p:nvSpPr>
              <p:cNvPr id="44" name="Text 41"/>
              <p:cNvSpPr/>
              <p:nvPr/>
            </p:nvSpPr>
            <p:spPr>
              <a:xfrm>
                <a:off x="5230389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zh-TW" sz="1183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Microsoft JhengHei"/>
                    <a:cs typeface="Sinsegye" pitchFamily="34" charset="-120"/>
                  </a:rPr>
                  <a:t>Juvéderm SKINVIVE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5" name="Text 42"/>
              <p:cNvSpPr/>
              <p:nvPr/>
            </p:nvSpPr>
            <p:spPr>
              <a:xfrm>
                <a:off x="5230390" y="9218132"/>
                <a:ext cx="2039112" cy="411480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Autofit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zh-TW" sz="965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Microsoft JhengHei"/>
                    <a:cs typeface="Sinsegye" pitchFamily="34" charset="-120"/>
                  </a:rPr>
                  <a:t>頂級 HA — 持久保濕 · 改善細紋</a:t>
                </a: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78D7F5B0-12CF-C48D-0374-D756879E73E1}"/>
                  </a:ext>
                </a:extLst>
              </p:cNvPr>
              <p:cNvSpPr/>
              <p:nvPr/>
            </p:nvSpPr>
            <p:spPr>
              <a:xfrm>
                <a:off x="5212202" y="7847831"/>
                <a:ext cx="1837632" cy="1040862"/>
              </a:xfrm>
              <a:prstGeom prst="rect">
                <a:avLst/>
              </a:prstGeom>
              <a:blipFill dpi="0"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2A4D949-DF8A-3352-E43B-9DF607312FC8}"/>
                </a:ext>
              </a:extLst>
            </p:cNvPr>
            <p:cNvGrpSpPr/>
            <p:nvPr/>
          </p:nvGrpSpPr>
          <p:grpSpPr>
            <a:xfrm>
              <a:off x="11806816" y="7263323"/>
              <a:ext cx="2202717" cy="1757005"/>
              <a:chOff x="7354634" y="7847831"/>
              <a:chExt cx="2202717" cy="1757005"/>
            </a:xfrm>
          </p:grpSpPr>
          <p:sp>
            <p:nvSpPr>
              <p:cNvPr id="46" name="Text 43"/>
              <p:cNvSpPr/>
              <p:nvPr/>
            </p:nvSpPr>
            <p:spPr>
              <a:xfrm>
                <a:off x="7381915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zh-TW" sz="1183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Microsoft JhengHei"/>
                    <a:cs typeface="Sinsegye" pitchFamily="34" charset="-120"/>
                  </a:rPr>
                  <a:t>Belotero Revive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7381915" y="9218132"/>
                <a:ext cx="2039112" cy="411480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Autofit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zh-TW" sz="965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Microsoft JhengHei"/>
                    <a:cs typeface="Sinsegye" pitchFamily="34" charset="-120"/>
                  </a:rPr>
                  <a:t>HA + 甘油 — 保濕 · 強化屏障 · 抗發炎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6842A6A3-0F28-D48F-2F62-69A6C2DCCBC8}"/>
                  </a:ext>
                </a:extLst>
              </p:cNvPr>
              <p:cNvSpPr/>
              <p:nvPr/>
            </p:nvSpPr>
            <p:spPr>
              <a:xfrm>
                <a:off x="7354634" y="7847831"/>
                <a:ext cx="1837632" cy="1040862"/>
              </a:xfrm>
              <a:prstGeom prst="rect">
                <a:avLst/>
              </a:prstGeom>
              <a:blipFill dpi="0" rotWithShape="1"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Text 36">
            <a:extLst>
              <a:ext uri="{FF2B5EF4-FFF2-40B4-BE49-F238E27FC236}">
                <a16:creationId xmlns:a16="http://schemas.microsoft.com/office/drawing/2014/main" id="{7E4C7A88-8F87-BC7C-5E4F-37B6E63124F1}"/>
              </a:ext>
            </a:extLst>
          </p:cNvPr>
          <p:cNvSpPr/>
          <p:nvPr/>
        </p:nvSpPr>
        <p:spPr>
          <a:xfrm>
            <a:off x="5379521" y="7460460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彈力 / 水光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8703C385-418D-C576-3BD5-9C9EBF15EAC0}"/>
              </a:ext>
            </a:extLst>
          </p:cNvPr>
          <p:cNvSpPr/>
          <p:nvPr/>
        </p:nvSpPr>
        <p:spPr>
          <a:xfrm>
            <a:off x="5379520" y="12632221"/>
            <a:ext cx="2175436" cy="192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1183" b="1">
                <a:solidFill>
                  <a:srgbClr val="1A1A1A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HIJU</a:t>
            </a:r>
            <a:endParaRPr lang="en-US" sz="118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D156B3FE-DADC-EC72-3392-A81F5090B9B2}"/>
              </a:ext>
            </a:extLst>
          </p:cNvPr>
          <p:cNvSpPr/>
          <p:nvPr/>
        </p:nvSpPr>
        <p:spPr>
          <a:xfrm>
            <a:off x="5379520" y="12848111"/>
            <a:ext cx="2039112" cy="4114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31104"/>
              </a:lnSpc>
            </a:pPr>
            <a:r>
              <a:rPr lang="zh-TW" sz="965" dirty="0">
                <a:solidFill>
                  <a:srgbClr val="555555"/>
                </a:solidFill>
                <a:latin typeface="신세계 Regular" panose="02000300000000000000" pitchFamily="50" charset="-127"/>
                <a:ea typeface="Microsoft JhengHei"/>
                <a:cs typeface="Sinsegye" pitchFamily="34" charset="-120"/>
              </a:rPr>
              <a:t>高密度保濕護理</a:t>
            </a:r>
            <a:endParaRPr lang="en-US" sz="96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CF773360-A023-032B-A4FA-4B0B80893B79}"/>
              </a:ext>
            </a:extLst>
          </p:cNvPr>
          <p:cNvGrpSpPr/>
          <p:nvPr/>
        </p:nvGrpSpPr>
        <p:grpSpPr>
          <a:xfrm>
            <a:off x="927338" y="3248885"/>
            <a:ext cx="8432248" cy="0"/>
            <a:chOff x="927338" y="3248885"/>
            <a:chExt cx="8432248" cy="0"/>
          </a:xfrm>
        </p:grpSpPr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01735976-8FB8-113C-2A04-C4D5B5403F33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9715F6CC-9CE3-EF6B-DD40-AC5C9FBB3C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6780811B-7007-8124-B2BB-2B884832C080}"/>
              </a:ext>
            </a:extLst>
          </p:cNvPr>
          <p:cNvGrpSpPr/>
          <p:nvPr/>
        </p:nvGrpSpPr>
        <p:grpSpPr>
          <a:xfrm>
            <a:off x="927338" y="7760260"/>
            <a:ext cx="8432248" cy="0"/>
            <a:chOff x="927338" y="3248885"/>
            <a:chExt cx="8432248" cy="0"/>
          </a:xfrm>
        </p:grpSpPr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A10763DF-B096-9E02-9E98-EBF1ADD6F58F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1CE9895A-F689-72E1-7C5E-6FA1C9D5BE46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FCF7E86-60CC-4359-125C-759FD1CF35A7}"/>
              </a:ext>
            </a:extLst>
          </p:cNvPr>
          <p:cNvGrpSpPr/>
          <p:nvPr/>
        </p:nvGrpSpPr>
        <p:grpSpPr>
          <a:xfrm>
            <a:off x="3087956" y="6304259"/>
            <a:ext cx="2175436" cy="642064"/>
            <a:chOff x="5230389" y="4422876"/>
            <a:chExt cx="2175436" cy="642064"/>
          </a:xfrm>
        </p:grpSpPr>
        <p:sp>
          <p:nvSpPr>
            <p:cNvPr id="4" name="Text 13">
              <a:extLst>
                <a:ext uri="{FF2B5EF4-FFF2-40B4-BE49-F238E27FC236}">
                  <a16:creationId xmlns:a16="http://schemas.microsoft.com/office/drawing/2014/main" id="{204CB965-F157-1162-5997-13DAB2EC61C2}"/>
                </a:ext>
              </a:extLst>
            </p:cNvPr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EXOXE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" name="Text 14">
              <a:extLst>
                <a:ext uri="{FF2B5EF4-FFF2-40B4-BE49-F238E27FC236}">
                  <a16:creationId xmlns:a16="http://schemas.microsoft.com/office/drawing/2014/main" id="{0D2CF46A-E595-122C-D7CC-3B57F54930E5}"/>
                </a:ext>
              </a:extLst>
            </p:cNvPr>
            <p:cNvSpPr/>
            <p:nvPr/>
          </p:nvSpPr>
          <p:spPr>
            <a:xfrm>
              <a:off x="5230389" y="4638766"/>
              <a:ext cx="2039112" cy="42617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JhengHei"/>
                  <a:cs typeface="Sinsegye" pitchFamily="34" charset="-120"/>
                </a:rPr>
                <a:t>幹細胞衍生成分 — 肌膚再生與強化屏障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2081</Words>
  <Application>Microsoft Office PowerPoint</Application>
  <PresentationFormat>사용자 지정</PresentationFormat>
  <Paragraphs>533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신세계 Regular</vt:lpstr>
      <vt:lpstr>Arial</vt:lpstr>
      <vt:lpstr>신세계 SemiBold</vt:lpstr>
      <vt:lpstr>신세계 Medium</vt:lpstr>
      <vt:lpstr>신세계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natunohikari030@gmail.com</cp:lastModifiedBy>
  <cp:revision>73</cp:revision>
  <cp:lastPrinted>2026-07-22T06:48:58Z</cp:lastPrinted>
  <dcterms:created xsi:type="dcterms:W3CDTF">2026-07-20T01:44:47Z</dcterms:created>
  <dcterms:modified xsi:type="dcterms:W3CDTF">2026-09-29T09:33:17Z</dcterms:modified>
</cp:coreProperties>
</file>