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7.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70" r:id="rId8"/>
    <p:sldId id="269" r:id="rId10"/>
  </p:sldIdLst>
  <p:sldSz cx="10287000" cy="14544675"/>
  <p:notesSz cx="9928225" cy="6797675"/>
  <p:embeddedFontLst>
    <p:embeddedFont>
      <p:font typeface="신세계 Bold" panose="02000300000000000000" pitchFamily="50" charset="-127"/>
      <p:bold r:id="rId15"/>
    </p:embeddedFont>
    <p:embeddedFont>
      <p:font typeface="신세계 Medium" panose="02000300000000000000" pitchFamily="50" charset="-127"/>
      <p:regular r:id="rId16"/>
    </p:embeddedFont>
    <p:embeddedFont>
      <p:font typeface="신세계 Regular" panose="02000300000000000000" pitchFamily="50" charset="-127"/>
      <p:regular r:id="rId17"/>
    </p:embeddedFont>
    <p:embeddedFont>
      <p:font typeface="신세계 SemiBold" panose="02000300000000000000" pitchFamily="50" charset="-12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7" userDrawn="1">
          <p15:clr>
            <a:srgbClr val="A4A3A4"/>
          </p15:clr>
        </p15:guide>
        <p15:guide id="2" pos="3240" userDrawn="1">
          <p15:clr>
            <a:srgbClr val="A4A3A4"/>
          </p15:clr>
        </p15:guide>
        <p15:guide id="3" orient="horz" pos="1723" userDrawn="1">
          <p15:clr>
            <a:srgbClr val="A4A3A4"/>
          </p15:clr>
        </p15:guide>
        <p15:guide id="4" pos="655" userDrawn="1">
          <p15:clr>
            <a:srgbClr val="A4A3A4"/>
          </p15:clr>
        </p15:guide>
        <p15:guide id="5" pos="5825" userDrawn="1">
          <p15:clr>
            <a:srgbClr val="A4A3A4"/>
          </p15:clr>
        </p15:guide>
        <p15:guide id="6" orient="horz" pos="85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98BD"/>
    <a:srgbClr val="555555"/>
    <a:srgbClr val="CCCCCC"/>
    <a:srgbClr val="A5D4E4"/>
    <a:srgbClr val="FBFDFE"/>
    <a:srgbClr val="D37249"/>
    <a:srgbClr val="76B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4610"/>
  </p:normalViewPr>
  <p:slideViewPr>
    <p:cSldViewPr snapToGrid="0" snapToObjects="1">
      <p:cViewPr>
        <p:scale>
          <a:sx n="75" d="100"/>
          <a:sy n="75" d="100"/>
        </p:scale>
        <p:origin x="3884" y="124"/>
      </p:cViewPr>
      <p:guideLst>
        <p:guide orient="horz" pos="567"/>
        <p:guide pos="3240"/>
        <p:guide orient="horz" pos="1723"/>
        <p:guide pos="655"/>
        <p:guide pos="5825"/>
        <p:guide orient="horz" pos="8505"/>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8" Type="http://schemas.openxmlformats.org/officeDocument/2006/relationships/font" Target="fonts/font4.fntdata"/><Relationship Id="rId21" Type="http://schemas.openxmlformats.org/officeDocument/2006/relationships/theme" Target="theme/theme1.xml"/><Relationship Id="rId17" Type="http://schemas.openxmlformats.org/officeDocument/2006/relationships/font" Target="fonts/font3.fntdata"/><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7599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B2E9E5E3-D0DA-8EEA-ADDE-A19F273AD965}"/>
              </a:ext>
            </a:extLst>
          </p:cNvPr>
          <p:cNvPicPr>
            <a:picLocks noChangeAspect="1"/>
          </p:cNvPicPr>
          <p:nvPr userDrawn="1"/>
        </p:nvPicPr>
        <p:blipFill>
          <a:blip r:embed="rId3"/>
          <a:stretch>
            <a:fillRect/>
          </a:stretch>
        </p:blipFill>
        <p:spPr>
          <a:xfrm>
            <a:off x="0" y="-2367"/>
            <a:ext cx="10285326" cy="1454704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8" Type="http://schemas.openxmlformats.org/officeDocument/2006/relationships/image" Target="../media/image18.jpg"/><Relationship Id="rId13" Type="http://schemas.openxmlformats.org/officeDocument/2006/relationships/image" Target="../media/image23.jpg"/><Relationship Id="rId18" Type="http://schemas.openxmlformats.org/officeDocument/2006/relationships/image" Target="../media/image28.jpg"/><Relationship Id="rId3" Type="http://schemas.openxmlformats.org/officeDocument/2006/relationships/image" Target="../media/image13.jpg"/><Relationship Id="rId7" Type="http://schemas.openxmlformats.org/officeDocument/2006/relationships/image" Target="../media/image17.jpg"/><Relationship Id="rId12" Type="http://schemas.openxmlformats.org/officeDocument/2006/relationships/image" Target="../media/image22.jpg"/><Relationship Id="rId17" Type="http://schemas.openxmlformats.org/officeDocument/2006/relationships/image" Target="../media/image27.jpg"/><Relationship Id="rId2" Type="http://schemas.openxmlformats.org/officeDocument/2006/relationships/notesSlide" Target="../notesSlides/notesSlide9.xml"/><Relationship Id="rId16" Type="http://schemas.openxmlformats.org/officeDocument/2006/relationships/image" Target="../media/image26.jpg"/><Relationship Id="rId1" Type="http://schemas.openxmlformats.org/officeDocument/2006/relationships/slideLayout" Target="../slideLayouts/slideLayout1.xml"/><Relationship Id="rId6" Type="http://schemas.openxmlformats.org/officeDocument/2006/relationships/image" Target="../media/image16.jpg"/><Relationship Id="rId11" Type="http://schemas.openxmlformats.org/officeDocument/2006/relationships/image" Target="../media/image21.jpg"/><Relationship Id="rId5" Type="http://schemas.openxmlformats.org/officeDocument/2006/relationships/image" Target="../media/image15.jpg"/><Relationship Id="rId15" Type="http://schemas.openxmlformats.org/officeDocument/2006/relationships/image" Target="../media/image25.jpg"/><Relationship Id="rId10" Type="http://schemas.openxmlformats.org/officeDocument/2006/relationships/image" Target="../media/image20.jpg"/><Relationship Id="rId19" Type="http://schemas.openxmlformats.org/officeDocument/2006/relationships/image" Target="../media/image29.jpg"/><Relationship Id="rId4" Type="http://schemas.openxmlformats.org/officeDocument/2006/relationships/image" Target="../media/image14.jpg"/><Relationship Id="rId9" Type="http://schemas.openxmlformats.org/officeDocument/2006/relationships/image" Target="../media/image19.jpg"/><Relationship Id="rId14" Type="http://schemas.openxmlformats.org/officeDocument/2006/relationships/image" Target="../media/image24.jpg"/></Relationships>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78D4F5C-5968-895D-FA10-0EEB633C71AB}"/>
              </a:ext>
            </a:extLst>
          </p:cNvPr>
          <p:cNvPicPr>
            <a:picLocks noChangeAspect="1"/>
          </p:cNvPicPr>
          <p:nvPr/>
        </p:nvPicPr>
        <p:blipFill>
          <a:blip r:embed="rId3"/>
          <a:stretch>
            <a:fillRect/>
          </a:stretch>
        </p:blipFill>
        <p:spPr>
          <a:xfrm>
            <a:off x="1016176" y="5500000"/>
            <a:ext cx="2350000" cy="2350000"/>
          </a:xfrm>
          <a:prstGeom prst="rect">
            <a:avLst/>
          </a:prstGeom>
        </p:spPr>
      </p:pic>
      <p:sp>
        <p:nvSpPr>
          <p:cNvPr id="10" name="Shape 7"/>
          <p:cNvSpPr/>
          <p:nvPr/>
        </p:nvSpPr>
        <p:spPr>
          <a:xfrm>
            <a:off x="959560" y="5275000"/>
            <a:ext cx="8367881" cy="7905"/>
          </a:xfrm>
          <a:prstGeom prst="rect">
            <a:avLst/>
          </a:prstGeom>
          <a:solidFill>
            <a:srgbClr val="555555">
              <a:alpha val="12000"/>
            </a:srgbClr>
          </a:solidFill>
          <a:ln/>
        </p:spPr>
      </p:sp>
      <p:sp>
        <p:nvSpPr>
          <p:cNvPr id="11" name="Text 8"/>
          <p:cNvSpPr/>
          <p:nvPr/>
        </p:nvSpPr>
        <p:spPr>
          <a:xfrm>
            <a:off x="3696259" y="3121477"/>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PICOLITE BLACK</a:t>
            </a:r>
            <a:endParaRPr lang="en-US" sz="996" dirty="0">
              <a:latin typeface="신세계 Regular" panose="02000300000000000000" pitchFamily="50" charset="-127"/>
              <a:ea typeface="신세계 Regular" panose="02000300000000000000" pitchFamily="50" charset="-127"/>
            </a:endParaRPr>
          </a:p>
        </p:txBody>
      </p:sp>
      <p:sp>
        <p:nvSpPr>
          <p:cNvPr id="12" name="Text 9"/>
          <p:cNvSpPr/>
          <p:nvPr/>
        </p:nvSpPr>
        <p:spPr>
          <a:xfrm>
            <a:off x="3696259" y="3368764"/>
            <a:ext cx="5900499" cy="325223"/>
          </a:xfrm>
          <a:prstGeom prst="rect">
            <a:avLst/>
          </a:prstGeom>
          <a:noFill/>
          <a:ln/>
        </p:spPr>
        <p:txBody>
          <a:bodyPr wrap="square" lIns="21079" tIns="21079" rIns="21079" bIns="21079" rtlCol="0" anchor="t">
            <a:normAutofit fontScale="92500" lnSpcReduction="10000"/>
          </a:bodyPr>
          <a:lstStyle/>
          <a:p>
            <a:r>
              <a:rPr lang="ja-JP" sz="2116" b="1" dirty="0">
                <a:solidFill>
                  <a:srgbClr val="1A1A1A"/>
                </a:solidFill>
                <a:latin typeface="신세계 Regular" panose="02000300000000000000" pitchFamily="50" charset="-127"/>
                <a:ea typeface="Yu Gothic"/>
                <a:cs typeface="Sinsegye" pitchFamily="34" charset="-120"/>
              </a:rPr>
              <a:t>ピコライト ブラック</a:t>
            </a:r>
            <a:endParaRPr lang="en-US" sz="2116" dirty="0">
              <a:latin typeface="신세계 Regular" panose="02000300000000000000" pitchFamily="50" charset="-127"/>
              <a:ea typeface="신세계 Regular" panose="02000300000000000000" pitchFamily="50" charset="-127"/>
            </a:endParaRPr>
          </a:p>
        </p:txBody>
      </p:sp>
      <p:sp>
        <p:nvSpPr>
          <p:cNvPr id="13" name="Text 10"/>
          <p:cNvSpPr/>
          <p:nvPr/>
        </p:nvSpPr>
        <p:spPr>
          <a:xfrm>
            <a:off x="3696259" y="3757208"/>
            <a:ext cx="5525013" cy="790418"/>
          </a:xfrm>
          <a:prstGeom prst="rect">
            <a:avLst/>
          </a:prstGeom>
          <a:noFill/>
          <a:ln/>
        </p:spPr>
        <p:txBody>
          <a:bodyPr wrap="square" lIns="21079" tIns="21079" rIns="21079" bIns="21079" rtlCol="0" anchor="t">
            <a:normAutofit fontScale="92500" lnSpcReduction="10000"/>
          </a:bodyPr>
          <a:lstStyle/>
          <a:p>
            <a:pPr>
              <a:lnSpc>
                <a:spcPct val="149333"/>
              </a:lnSpc>
            </a:pPr>
            <a:r>
              <a:rPr lang="ja-JP" sz="1245" dirty="0">
                <a:solidFill>
                  <a:srgbClr val="555555"/>
                </a:solidFill>
                <a:latin typeface="신세계 Regular" panose="02000300000000000000" pitchFamily="50" charset="-127"/>
                <a:ea typeface="Yu Gothic"/>
                <a:cs typeface="Sinsegye" pitchFamily="34" charset="-120"/>
              </a:rPr>
              <a:t>1兆分の1秒という超短時間でエネルギーを照射するピコレーザー。従来のナノ秒レーザーより少ない刺激で、色素疾患・毛穴・傷跡・肌トーンまで精密かつ安全に改善します。</a:t>
            </a:r>
          </a:p>
        </p:txBody>
      </p:sp>
      <p:sp>
        <p:nvSpPr>
          <p:cNvPr id="14" name="Shape 11"/>
          <p:cNvSpPr/>
          <p:nvPr/>
        </p:nvSpPr>
        <p:spPr>
          <a:xfrm>
            <a:off x="3696259" y="4694741"/>
            <a:ext cx="1123188" cy="225849"/>
          </a:xfrm>
          <a:prstGeom prst="rect">
            <a:avLst/>
          </a:prstGeom>
          <a:ln w="6804">
            <a:solidFill>
              <a:srgbClr val="555555">
                <a:alpha val="22000"/>
              </a:srgbClr>
            </a:solidFill>
            <a:prstDash val="solid"/>
          </a:ln>
        </p:spPr>
      </p:sp>
      <p:sp>
        <p:nvSpPr>
          <p:cNvPr id="15" name="Text 12"/>
          <p:cNvSpPr/>
          <p:nvPr/>
        </p:nvSpPr>
        <p:spPr>
          <a:xfrm>
            <a:off x="3696259" y="4694741"/>
            <a:ext cx="1123188" cy="225849"/>
          </a:xfrm>
          <a:prstGeom prst="rect">
            <a:avLst/>
          </a:prstGeom>
          <a:noFill/>
          <a:ln/>
        </p:spPr>
        <p:txBody>
          <a:bodyPr wrap="none" lIns="0" tIns="0" rIns="0" bIns="0" rtlCol="0" anchor="ctr">
            <a:noAutofit/>
          </a:bodyPr>
          <a:lstStyle/>
          <a:p>
            <a:pPr algn="ctr"/>
            <a:r>
              <a:rPr lang="ja-JP" sz="996" dirty="0">
                <a:solidFill>
                  <a:srgbClr val="2498BD"/>
                </a:solidFill>
                <a:latin typeface="신세계 Regular" panose="02000300000000000000" pitchFamily="50" charset="-127"/>
                <a:ea typeface="Yu Gothic"/>
                <a:cs typeface="Sinsegye" pitchFamily="34" charset="-120"/>
              </a:rPr>
              <a:t>ピコトーニング</a:t>
            </a:r>
            <a:endParaRPr lang="en-US" sz="996" dirty="0">
              <a:latin typeface="신세계 Regular" panose="02000300000000000000" pitchFamily="50" charset="-127"/>
              <a:ea typeface="신세계 Regular" panose="02000300000000000000" pitchFamily="50" charset="-127"/>
            </a:endParaRPr>
          </a:p>
        </p:txBody>
      </p:sp>
      <p:sp>
        <p:nvSpPr>
          <p:cNvPr id="16" name="Shape 13"/>
          <p:cNvSpPr/>
          <p:nvPr/>
        </p:nvSpPr>
        <p:spPr>
          <a:xfrm>
            <a:off x="4901743" y="4694741"/>
            <a:ext cx="852495" cy="225849"/>
          </a:xfrm>
          <a:prstGeom prst="rect">
            <a:avLst/>
          </a:prstGeom>
          <a:ln w="6804">
            <a:solidFill>
              <a:srgbClr val="555555">
                <a:alpha val="22000"/>
              </a:srgbClr>
            </a:solidFill>
            <a:prstDash val="solid"/>
          </a:ln>
        </p:spPr>
      </p:sp>
      <p:sp>
        <p:nvSpPr>
          <p:cNvPr id="17" name="Text 14"/>
          <p:cNvSpPr/>
          <p:nvPr/>
        </p:nvSpPr>
        <p:spPr>
          <a:xfrm>
            <a:off x="4901743" y="4694741"/>
            <a:ext cx="852495" cy="225849"/>
          </a:xfrm>
          <a:prstGeom prst="rect">
            <a:avLst/>
          </a:prstGeom>
          <a:noFill/>
          <a:ln/>
        </p:spPr>
        <p:txBody>
          <a:bodyPr wrap="none" lIns="0" tIns="0" rIns="0" bIns="0" rtlCol="0" anchor="ctr">
            <a:noAutofit/>
          </a:bodyPr>
          <a:lstStyle/>
          <a:p>
            <a:pPr algn="ctr"/>
            <a:r>
              <a:rPr lang="ja-JP" sz="996" dirty="0">
                <a:solidFill>
                  <a:srgbClr val="2498BD"/>
                </a:solidFill>
                <a:latin typeface="신세계 Regular" panose="02000300000000000000" pitchFamily="50" charset="-127"/>
                <a:ea typeface="Yu Gothic"/>
                <a:cs typeface="Sinsegye" pitchFamily="34" charset="-120"/>
              </a:rPr>
              <a:t>肝斑 · シミ</a:t>
            </a:r>
            <a:endParaRPr lang="en-US" sz="996" dirty="0">
              <a:latin typeface="신세계 Regular" panose="02000300000000000000" pitchFamily="50" charset="-127"/>
              <a:ea typeface="신세계 Regular" panose="02000300000000000000" pitchFamily="50" charset="-127"/>
            </a:endParaRPr>
          </a:p>
        </p:txBody>
      </p:sp>
      <p:sp>
        <p:nvSpPr>
          <p:cNvPr id="18" name="Shape 15"/>
          <p:cNvSpPr/>
          <p:nvPr/>
        </p:nvSpPr>
        <p:spPr>
          <a:xfrm>
            <a:off x="5836534" y="4694741"/>
            <a:ext cx="1611447" cy="225849"/>
          </a:xfrm>
          <a:prstGeom prst="rect">
            <a:avLst/>
          </a:prstGeom>
          <a:ln w="6804">
            <a:solidFill>
              <a:srgbClr val="555555">
                <a:alpha val="22000"/>
              </a:srgbClr>
            </a:solidFill>
            <a:prstDash val="solid"/>
          </a:ln>
        </p:spPr>
      </p:sp>
      <p:sp>
        <p:nvSpPr>
          <p:cNvPr id="19" name="Text 16"/>
          <p:cNvSpPr/>
          <p:nvPr/>
        </p:nvSpPr>
        <p:spPr>
          <a:xfrm>
            <a:off x="5836534" y="4694741"/>
            <a:ext cx="1611447" cy="225849"/>
          </a:xfrm>
          <a:prstGeom prst="rect">
            <a:avLst/>
          </a:prstGeom>
          <a:noFill/>
          <a:ln/>
        </p:spPr>
        <p:txBody>
          <a:bodyPr wrap="none" lIns="0" tIns="0" rIns="0" bIns="0" rtlCol="0" anchor="ctr">
            <a:noAutofit/>
          </a:bodyPr>
          <a:lstStyle/>
          <a:p>
            <a:pPr algn="ctr"/>
            <a:r>
              <a:rPr lang="ja-JP" sz="996" dirty="0">
                <a:solidFill>
                  <a:srgbClr val="2498BD"/>
                </a:solidFill>
                <a:latin typeface="신세계 Regular" panose="02000300000000000000" pitchFamily="50" charset="-127"/>
                <a:ea typeface="Yu Gothic"/>
                <a:cs typeface="Sinsegye" pitchFamily="34" charset="-120"/>
              </a:rPr>
              <a:t>ほくろ · 老人性イボ除去</a:t>
            </a:r>
            <a:endParaRPr lang="en-US" sz="996" dirty="0">
              <a:latin typeface="신세계 Regular" panose="02000300000000000000" pitchFamily="50" charset="-127"/>
              <a:ea typeface="신세계 Regular" panose="02000300000000000000" pitchFamily="50" charset="-127"/>
            </a:endParaRPr>
          </a:p>
        </p:txBody>
      </p:sp>
      <p:sp>
        <p:nvSpPr>
          <p:cNvPr id="20" name="Shape 17"/>
          <p:cNvSpPr/>
          <p:nvPr/>
        </p:nvSpPr>
        <p:spPr>
          <a:xfrm>
            <a:off x="959560" y="8075000"/>
            <a:ext cx="8367881" cy="7905"/>
          </a:xfrm>
          <a:prstGeom prst="rect">
            <a:avLst/>
          </a:prstGeom>
          <a:solidFill>
            <a:srgbClr val="555555">
              <a:alpha val="12000"/>
            </a:srgbClr>
          </a:solidFill>
          <a:ln/>
        </p:spPr>
      </p:sp>
      <p:sp>
        <p:nvSpPr>
          <p:cNvPr id="21" name="Text 18"/>
          <p:cNvSpPr/>
          <p:nvPr/>
        </p:nvSpPr>
        <p:spPr>
          <a:xfrm>
            <a:off x="3696259" y="5686777"/>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CO2</a:t>
            </a:r>
            <a:endParaRPr lang="en-US" sz="996" dirty="0">
              <a:latin typeface="신세계 Regular" panose="02000300000000000000" pitchFamily="50" charset="-127"/>
              <a:ea typeface="신세계 Regular" panose="02000300000000000000" pitchFamily="50" charset="-127"/>
            </a:endParaRPr>
          </a:p>
        </p:txBody>
      </p:sp>
      <p:sp>
        <p:nvSpPr>
          <p:cNvPr id="22" name="Text 19"/>
          <p:cNvSpPr/>
          <p:nvPr/>
        </p:nvSpPr>
        <p:spPr>
          <a:xfrm>
            <a:off x="3696259" y="5934064"/>
            <a:ext cx="5900499" cy="325223"/>
          </a:xfrm>
          <a:prstGeom prst="rect">
            <a:avLst/>
          </a:prstGeom>
          <a:noFill/>
          <a:ln/>
        </p:spPr>
        <p:txBody>
          <a:bodyPr wrap="square" lIns="21079" tIns="21079" rIns="21079" bIns="21079" rtlCol="0" anchor="t">
            <a:normAutofit fontScale="92500" lnSpcReduction="10000"/>
          </a:bodyPr>
          <a:lstStyle/>
          <a:p>
            <a:r>
              <a:rPr lang="ja-JP" sz="2116" dirty="0">
                <a:latin typeface="신세계 Regular" panose="02000300000000000000" pitchFamily="50" charset="-127"/>
                <a:ea typeface="Yu Gothic"/>
              </a:rPr>
              <a:t>CO2レーザー</a:t>
            </a:r>
          </a:p>
        </p:txBody>
      </p:sp>
      <p:sp>
        <p:nvSpPr>
          <p:cNvPr id="23" name="Text 20"/>
          <p:cNvSpPr/>
          <p:nvPr/>
        </p:nvSpPr>
        <p:spPr>
          <a:xfrm>
            <a:off x="3696259" y="6322507"/>
            <a:ext cx="5525013" cy="537485"/>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신세계 Regular" panose="02000300000000000000" pitchFamily="50" charset="-127"/>
                <a:ea typeface="Yu Gothic"/>
                <a:cs typeface="Sinsegye" pitchFamily="34" charset="-120"/>
              </a:rPr>
              <a:t>病変組織を精密に蒸散・切除するレーザーです。ほくろ、稗粒腫、老人性イボ、扁平イボなど、さまざまな表在性皮膚病変の除去や肌表面の再生治療に用いられます。</a:t>
            </a:r>
            <a:endParaRPr lang="en-US" sz="1200" dirty="0">
              <a:latin typeface="신세계 Regular" panose="02000300000000000000" pitchFamily="50" charset="-127"/>
              <a:ea typeface="신세계 Regular" panose="02000300000000000000" pitchFamily="50" charset="-127"/>
            </a:endParaRPr>
          </a:p>
        </p:txBody>
      </p:sp>
      <p:sp>
        <p:nvSpPr>
          <p:cNvPr id="24" name="Shape 21"/>
          <p:cNvSpPr/>
          <p:nvPr/>
        </p:nvSpPr>
        <p:spPr>
          <a:xfrm>
            <a:off x="3703417" y="7330836"/>
            <a:ext cx="1021842" cy="225849"/>
          </a:xfrm>
          <a:prstGeom prst="rect">
            <a:avLst/>
          </a:prstGeom>
          <a:ln w="6804">
            <a:solidFill>
              <a:srgbClr val="555555">
                <a:alpha val="22000"/>
              </a:srgbClr>
            </a:solidFill>
            <a:prstDash val="solid"/>
          </a:ln>
        </p:spPr>
      </p:sp>
      <p:sp>
        <p:nvSpPr>
          <p:cNvPr id="25" name="Text 22"/>
          <p:cNvSpPr/>
          <p:nvPr/>
        </p:nvSpPr>
        <p:spPr>
          <a:xfrm>
            <a:off x="3703417" y="7330836"/>
            <a:ext cx="1021842"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ほくろ · 稗粒腫</a:t>
            </a:r>
            <a:endParaRPr lang="en-US" sz="900" dirty="0">
              <a:latin typeface="신세계 Regular" panose="02000300000000000000" pitchFamily="50" charset="-127"/>
              <a:ea typeface="신세계 Regular" panose="02000300000000000000" pitchFamily="50" charset="-127"/>
            </a:endParaRPr>
          </a:p>
        </p:txBody>
      </p:sp>
      <p:sp>
        <p:nvSpPr>
          <p:cNvPr id="26" name="Shape 23"/>
          <p:cNvSpPr/>
          <p:nvPr/>
        </p:nvSpPr>
        <p:spPr>
          <a:xfrm>
            <a:off x="4807555" y="7330836"/>
            <a:ext cx="1136142" cy="225849"/>
          </a:xfrm>
          <a:prstGeom prst="rect">
            <a:avLst/>
          </a:prstGeom>
          <a:ln w="6804">
            <a:solidFill>
              <a:srgbClr val="555555">
                <a:alpha val="22000"/>
              </a:srgbClr>
            </a:solidFill>
            <a:prstDash val="solid"/>
          </a:ln>
        </p:spPr>
      </p:sp>
      <p:sp>
        <p:nvSpPr>
          <p:cNvPr id="27" name="Text 24"/>
          <p:cNvSpPr/>
          <p:nvPr/>
        </p:nvSpPr>
        <p:spPr>
          <a:xfrm>
            <a:off x="4807555" y="7330836"/>
            <a:ext cx="1136142"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老人性イボ · イボ</a:t>
            </a:r>
            <a:endParaRPr lang="en-US" sz="900" dirty="0">
              <a:latin typeface="신세계 Regular" panose="02000300000000000000" pitchFamily="50" charset="-127"/>
              <a:ea typeface="신세계 Regular" panose="02000300000000000000" pitchFamily="50" charset="-127"/>
            </a:endParaRPr>
          </a:p>
        </p:txBody>
      </p:sp>
      <p:sp>
        <p:nvSpPr>
          <p:cNvPr id="28" name="Shape 25"/>
          <p:cNvSpPr/>
          <p:nvPr/>
        </p:nvSpPr>
        <p:spPr>
          <a:xfrm>
            <a:off x="6025993" y="7330836"/>
            <a:ext cx="1037844" cy="225849"/>
          </a:xfrm>
          <a:prstGeom prst="rect">
            <a:avLst/>
          </a:prstGeom>
          <a:ln w="6804">
            <a:solidFill>
              <a:srgbClr val="555555">
                <a:alpha val="22000"/>
              </a:srgbClr>
            </a:solidFill>
            <a:prstDash val="solid"/>
          </a:ln>
        </p:spPr>
      </p:sp>
      <p:sp>
        <p:nvSpPr>
          <p:cNvPr id="29" name="Text 26"/>
          <p:cNvSpPr/>
          <p:nvPr/>
        </p:nvSpPr>
        <p:spPr>
          <a:xfrm>
            <a:off x="6025993" y="7330836"/>
            <a:ext cx="1037844"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皮膚病変の除去</a:t>
            </a:r>
            <a:endParaRPr lang="en-US" sz="900" dirty="0">
              <a:latin typeface="신세계 Regular" panose="02000300000000000000" pitchFamily="50" charset="-127"/>
              <a:ea typeface="신세계 Regular" panose="02000300000000000000" pitchFamily="50" charset="-127"/>
            </a:endParaRPr>
          </a:p>
        </p:txBody>
      </p:sp>
      <p:sp>
        <p:nvSpPr>
          <p:cNvPr id="30" name="Text 27"/>
          <p:cNvSpPr/>
          <p:nvPr/>
        </p:nvSpPr>
        <p:spPr>
          <a:xfrm>
            <a:off x="3692212" y="8573236"/>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POTENZA</a:t>
            </a:r>
            <a:endParaRPr lang="en-US" sz="996" dirty="0">
              <a:latin typeface="신세계 Regular" panose="02000300000000000000" pitchFamily="50" charset="-127"/>
              <a:ea typeface="신세계 Regular" panose="02000300000000000000" pitchFamily="50" charset="-127"/>
            </a:endParaRPr>
          </a:p>
        </p:txBody>
      </p:sp>
      <p:sp>
        <p:nvSpPr>
          <p:cNvPr id="31" name="Text 28"/>
          <p:cNvSpPr/>
          <p:nvPr/>
        </p:nvSpPr>
        <p:spPr>
          <a:xfrm>
            <a:off x="3692212" y="8820523"/>
            <a:ext cx="5900499" cy="325223"/>
          </a:xfrm>
          <a:prstGeom prst="rect">
            <a:avLst/>
          </a:prstGeom>
          <a:noFill/>
          <a:ln/>
        </p:spPr>
        <p:txBody>
          <a:bodyPr wrap="square" lIns="21079" tIns="21079" rIns="21079" bIns="21079" rtlCol="0" anchor="t">
            <a:normAutofit fontScale="92500" lnSpcReduction="10000"/>
          </a:bodyPr>
          <a:lstStyle/>
          <a:p>
            <a:r>
              <a:rPr lang="ja-JP" sz="2116" b="1" dirty="0">
                <a:solidFill>
                  <a:srgbClr val="1A1A1A"/>
                </a:solidFill>
                <a:latin typeface="신세계 Regular" panose="02000300000000000000" pitchFamily="50" charset="-127"/>
                <a:ea typeface="Yu Gothic"/>
                <a:cs typeface="Sinsegye" pitchFamily="34" charset="-120"/>
              </a:rPr>
              <a:t>ポテンツァ</a:t>
            </a:r>
            <a:endParaRPr lang="en-US" sz="2116" dirty="0">
              <a:latin typeface="신세계 Regular" panose="02000300000000000000" pitchFamily="50" charset="-127"/>
              <a:ea typeface="신세계 Regular" panose="02000300000000000000" pitchFamily="50" charset="-127"/>
            </a:endParaRPr>
          </a:p>
        </p:txBody>
      </p:sp>
      <p:sp>
        <p:nvSpPr>
          <p:cNvPr id="32" name="Text 29"/>
          <p:cNvSpPr/>
          <p:nvPr/>
        </p:nvSpPr>
        <p:spPr>
          <a:xfrm>
            <a:off x="3692212" y="9208967"/>
            <a:ext cx="5525013" cy="1332164"/>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신세계 Regular" panose="02000300000000000000" pitchFamily="50" charset="-127"/>
                <a:ea typeface="Yu Gothic"/>
                <a:cs typeface="Sinsegye" pitchFamily="34" charset="-120"/>
              </a:rPr>
              <a:t>マイクロニードルが肌に浸透し、狙った深さに高周波（RF）エネルギーを届ける機器です。多彩なチップとモードで毛穴・傷跡・肌質・ハリの改善をサポートし、スキンブースター施術との併用も可能です。</a:t>
            </a:r>
            <a:endParaRPr lang="en-US" altLang="ko-KR" sz="1200" dirty="0">
              <a:solidFill>
                <a:srgbClr val="555555"/>
              </a:solidFill>
              <a:latin typeface="신세계 Regular" panose="02000300000000000000" pitchFamily="50" charset="-127"/>
              <a:ea typeface="신세계 Regular" panose="02000300000000000000" pitchFamily="50" charset="-127"/>
              <a:cs typeface="Sinsegye" pitchFamily="34" charset="-120"/>
            </a:endParaRPr>
          </a:p>
        </p:txBody>
      </p:sp>
      <p:sp>
        <p:nvSpPr>
          <p:cNvPr id="33" name="Shape 30"/>
          <p:cNvSpPr/>
          <p:nvPr/>
        </p:nvSpPr>
        <p:spPr>
          <a:xfrm>
            <a:off x="3692213" y="10262357"/>
            <a:ext cx="852495" cy="225849"/>
          </a:xfrm>
          <a:prstGeom prst="rect">
            <a:avLst/>
          </a:prstGeom>
          <a:ln w="6804">
            <a:solidFill>
              <a:srgbClr val="555555">
                <a:alpha val="22000"/>
              </a:srgbClr>
            </a:solidFill>
            <a:prstDash val="solid"/>
          </a:ln>
        </p:spPr>
      </p:sp>
      <p:sp>
        <p:nvSpPr>
          <p:cNvPr id="34" name="Text 31"/>
          <p:cNvSpPr/>
          <p:nvPr/>
        </p:nvSpPr>
        <p:spPr>
          <a:xfrm>
            <a:off x="3692213" y="10262357"/>
            <a:ext cx="852495" cy="225849"/>
          </a:xfrm>
          <a:prstGeom prst="rect">
            <a:avLst/>
          </a:prstGeom>
          <a:noFill/>
          <a:ln/>
        </p:spPr>
        <p:txBody>
          <a:bodyPr wrap="none" lIns="0" tIns="0" rIns="0" bIns="0" rtlCol="0" anchor="ctr">
            <a:noAutofit/>
          </a:bodyPr>
          <a:lstStyle/>
          <a:p>
            <a:pPr algn="ctr"/>
            <a:r>
              <a:rPr lang="ja-JP" sz="996" dirty="0">
                <a:solidFill>
                  <a:srgbClr val="2498BD"/>
                </a:solidFill>
                <a:latin typeface="신세계 Regular" panose="02000300000000000000" pitchFamily="50" charset="-127"/>
                <a:ea typeface="Yu Gothic"/>
                <a:cs typeface="Sinsegye" pitchFamily="34" charset="-120"/>
              </a:rPr>
              <a:t>毛穴 · 傷跡</a:t>
            </a:r>
            <a:endParaRPr lang="en-US" sz="996" dirty="0">
              <a:latin typeface="신세계 Regular" panose="02000300000000000000" pitchFamily="50" charset="-127"/>
              <a:ea typeface="신세계 Regular" panose="02000300000000000000" pitchFamily="50" charset="-127"/>
            </a:endParaRPr>
          </a:p>
        </p:txBody>
      </p:sp>
      <p:sp>
        <p:nvSpPr>
          <p:cNvPr id="35" name="Shape 32"/>
          <p:cNvSpPr/>
          <p:nvPr/>
        </p:nvSpPr>
        <p:spPr>
          <a:xfrm>
            <a:off x="4627004" y="10262357"/>
            <a:ext cx="793242" cy="225849"/>
          </a:xfrm>
          <a:prstGeom prst="rect">
            <a:avLst/>
          </a:prstGeom>
          <a:ln w="6804">
            <a:solidFill>
              <a:srgbClr val="555555">
                <a:alpha val="22000"/>
              </a:srgbClr>
            </a:solidFill>
            <a:prstDash val="solid"/>
          </a:ln>
        </p:spPr>
      </p:sp>
      <p:sp>
        <p:nvSpPr>
          <p:cNvPr id="36" name="Text 33"/>
          <p:cNvSpPr/>
          <p:nvPr/>
        </p:nvSpPr>
        <p:spPr>
          <a:xfrm>
            <a:off x="4627004" y="10262357"/>
            <a:ext cx="793242"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肌質 · ハリ</a:t>
            </a:r>
            <a:endParaRPr lang="en-US" sz="900" dirty="0">
              <a:latin typeface="신세계 Regular" panose="02000300000000000000" pitchFamily="50" charset="-127"/>
              <a:ea typeface="신세계 Regular" panose="02000300000000000000" pitchFamily="50" charset="-127"/>
            </a:endParaRPr>
          </a:p>
        </p:txBody>
      </p:sp>
      <p:sp>
        <p:nvSpPr>
          <p:cNvPr id="37" name="Shape 34"/>
          <p:cNvSpPr/>
          <p:nvPr/>
        </p:nvSpPr>
        <p:spPr>
          <a:xfrm>
            <a:off x="5502542" y="10262357"/>
            <a:ext cx="1380744" cy="225849"/>
          </a:xfrm>
          <a:prstGeom prst="rect">
            <a:avLst/>
          </a:prstGeom>
          <a:ln w="6804">
            <a:solidFill>
              <a:srgbClr val="555555">
                <a:alpha val="22000"/>
              </a:srgbClr>
            </a:solidFill>
            <a:prstDash val="solid"/>
          </a:ln>
        </p:spPr>
      </p:sp>
      <p:sp>
        <p:nvSpPr>
          <p:cNvPr id="38" name="Text 35"/>
          <p:cNvSpPr/>
          <p:nvPr/>
        </p:nvSpPr>
        <p:spPr>
          <a:xfrm>
            <a:off x="5502542" y="10262357"/>
            <a:ext cx="1380744"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スキンブースター導入</a:t>
            </a:r>
            <a:endParaRPr lang="en-US" sz="900" dirty="0">
              <a:latin typeface="신세계 Regular" panose="02000300000000000000" pitchFamily="50" charset="-127"/>
              <a:ea typeface="신세계 Regular" panose="02000300000000000000" pitchFamily="50" charset="-127"/>
            </a:endParaRPr>
          </a:p>
        </p:txBody>
      </p:sp>
      <p:sp>
        <p:nvSpPr>
          <p:cNvPr id="42" name="Text 3">
            <a:extLst>
              <a:ext uri="{FF2B5EF4-FFF2-40B4-BE49-F238E27FC236}">
                <a16:creationId xmlns:a16="http://schemas.microsoft.com/office/drawing/2014/main" id="{400A6657-6F48-ADE3-DB13-1E62AC0C71C0}"/>
              </a:ext>
            </a:extLst>
          </p:cNvPr>
          <p:cNvSpPr/>
          <p:nvPr/>
        </p:nvSpPr>
        <p:spPr>
          <a:xfrm>
            <a:off x="-514350" y="870569"/>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LASER DEVICE</a:t>
            </a:r>
            <a:endParaRPr lang="en-US" sz="1050" dirty="0">
              <a:latin typeface="신세계 Regular" panose="02000300000000000000" pitchFamily="50" charset="-127"/>
              <a:ea typeface="신세계 Regular" panose="02000300000000000000" pitchFamily="50" charset="-127"/>
            </a:endParaRPr>
          </a:p>
        </p:txBody>
      </p:sp>
      <p:sp>
        <p:nvSpPr>
          <p:cNvPr id="44" name="Text 4">
            <a:extLst>
              <a:ext uri="{FF2B5EF4-FFF2-40B4-BE49-F238E27FC236}">
                <a16:creationId xmlns:a16="http://schemas.microsoft.com/office/drawing/2014/main" id="{A663DAAC-9F0E-D76E-F04A-1CA202856152}"/>
              </a:ext>
            </a:extLst>
          </p:cNvPr>
          <p:cNvSpPr/>
          <p:nvPr/>
        </p:nvSpPr>
        <p:spPr>
          <a:xfrm>
            <a:off x="-514350" y="1071912"/>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3150" b="1" kern="0" spc="-63" dirty="0">
                <a:solidFill>
                  <a:srgbClr val="2498BD"/>
                </a:solidFill>
                <a:latin typeface="신세계 Regular" panose="02000300000000000000" pitchFamily="50" charset="-127"/>
                <a:ea typeface="Yu Gothic"/>
                <a:cs typeface="Sinsegye" pitchFamily="34" charset="-120"/>
              </a:rPr>
              <a:t>レーザー機器</a:t>
            </a:r>
            <a:endParaRPr lang="en-US" sz="3150" dirty="0">
              <a:latin typeface="신세계 Regular" panose="02000300000000000000" pitchFamily="50" charset="-127"/>
              <a:ea typeface="신세계 Regular" panose="02000300000000000000" pitchFamily="50" charset="-127"/>
            </a:endParaRPr>
          </a:p>
        </p:txBody>
      </p:sp>
      <p:sp>
        <p:nvSpPr>
          <p:cNvPr id="46" name="Text 5">
            <a:extLst>
              <a:ext uri="{FF2B5EF4-FFF2-40B4-BE49-F238E27FC236}">
                <a16:creationId xmlns:a16="http://schemas.microsoft.com/office/drawing/2014/main" id="{7E90CE31-A7BE-6A9D-AF73-C05029D04989}"/>
              </a:ext>
            </a:extLst>
          </p:cNvPr>
          <p:cNvSpPr/>
          <p:nvPr/>
        </p:nvSpPr>
        <p:spPr>
          <a:xfrm>
            <a:off x="-514350" y="1545398"/>
            <a:ext cx="11315700" cy="276225"/>
          </a:xfrm>
          <a:prstGeom prst="rect">
            <a:avLst/>
          </a:prstGeom>
          <a:noFill/>
          <a:ln/>
        </p:spPr>
        <p:txBody>
          <a:bodyPr wrap="square" lIns="25400" tIns="25400" rIns="25400" bIns="25400" rtlCol="0" anchor="t">
            <a:normAutofit/>
          </a:bodyPr>
          <a:lstStyle/>
          <a:p>
            <a:pPr algn="ctr"/>
            <a:r>
              <a:rPr lang="ja-JP" sz="1275" dirty="0">
                <a:solidFill>
                  <a:srgbClr val="6E6E6E"/>
                </a:solidFill>
                <a:latin typeface="신세계 Regular" panose="02000300000000000000" pitchFamily="50" charset="-127"/>
                <a:ea typeface="Yu Gothic"/>
                <a:cs typeface="Arial" pitchFamily="34" charset="-120"/>
              </a:rPr>
              <a:t>肝斑/シミ · 赤ら顔 · 毛穴/傷跡</a:t>
            </a:r>
            <a:endParaRPr lang="en-US" altLang="ko-KR" sz="1275" dirty="0">
              <a:latin typeface="신세계 Regular" panose="02000300000000000000" pitchFamily="50" charset="-127"/>
              <a:ea typeface="신세계 Regular" panose="02000300000000000000" pitchFamily="50" charset="-127"/>
            </a:endParaRPr>
          </a:p>
        </p:txBody>
      </p:sp>
      <p:sp>
        <p:nvSpPr>
          <p:cNvPr id="47" name="직사각형 46">
            <a:extLst>
              <a:ext uri="{FF2B5EF4-FFF2-40B4-BE49-F238E27FC236}">
                <a16:creationId xmlns:a16="http://schemas.microsoft.com/office/drawing/2014/main" id="{4D2E024A-8258-FA04-99BC-D067A9E87B7D}"/>
              </a:ext>
            </a:extLst>
          </p:cNvPr>
          <p:cNvSpPr/>
          <p:nvPr/>
        </p:nvSpPr>
        <p:spPr>
          <a:xfrm>
            <a:off x="1016176" y="2700000"/>
            <a:ext cx="2350000" cy="235000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a:extLst>
              <a:ext uri="{FF2B5EF4-FFF2-40B4-BE49-F238E27FC236}">
                <a16:creationId xmlns:a16="http://schemas.microsoft.com/office/drawing/2014/main" id="{9D500FF6-2B65-31BF-F85E-6A79A6A3FD6A}"/>
              </a:ext>
            </a:extLst>
          </p:cNvPr>
          <p:cNvSpPr/>
          <p:nvPr/>
        </p:nvSpPr>
        <p:spPr>
          <a:xfrm>
            <a:off x="1016176" y="8300000"/>
            <a:ext cx="2350000" cy="2350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BBL Divider"/>
          <p:cNvSpPr/>
          <p:nvPr/>
        </p:nvSpPr>
        <p:spPr>
          <a:xfrm>
            <a:off x="959560" y="10875000"/>
            <a:ext cx="8367881" cy="7905"/>
          </a:xfrm>
          <a:prstGeom prst="rect">
            <a:avLst/>
          </a:prstGeom>
          <a:solidFill>
            <a:srgbClr val="555555">
              <a:alpha val="12000"/>
            </a:srgbClr>
          </a:solidFill>
          <a:ln/>
        </p:spPr>
      </p:sp>
      <p:sp>
        <p:nvSpPr>
          <p:cNvPr id="102" name="BBL Label"/>
          <p:cNvSpPr/>
          <p:nvPr/>
        </p:nvSpPr>
        <p:spPr>
          <a:xfrm>
            <a:off x="3696259" y="11286777"/>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BROADBAND LIGHT</a:t>
            </a:r>
            <a:endParaRPr lang="en-US" sz="996" dirty="0">
              <a:latin typeface="신세계 Regular" panose="02000300000000000000" pitchFamily="50" charset="-127"/>
              <a:ea typeface="신세계 Regular" panose="02000300000000000000" pitchFamily="50" charset="-127"/>
            </a:endParaRPr>
          </a:p>
        </p:txBody>
      </p:sp>
      <p:sp>
        <p:nvSpPr>
          <p:cNvPr id="103" name="BBL Name"/>
          <p:cNvSpPr/>
          <p:nvPr/>
        </p:nvSpPr>
        <p:spPr>
          <a:xfrm>
            <a:off x="3696259" y="11534064"/>
            <a:ext cx="5900499" cy="325223"/>
          </a:xfrm>
          <a:prstGeom prst="rect">
            <a:avLst/>
          </a:prstGeom>
          <a:noFill/>
          <a:ln/>
        </p:spPr>
        <p:txBody>
          <a:bodyPr wrap="square" lIns="21079" tIns="21079" rIns="21079" bIns="21079" rtlCol="0" anchor="t">
            <a:normAutofit fontScale="92500" lnSpcReduction="10000"/>
          </a:bodyPr>
          <a:lstStyle/>
          <a:p>
            <a:r>
              <a:rPr lang="en-US" sz="2116" b="1" dirty="0">
                <a:latin typeface="신세계 Regular" panose="02000300000000000000" pitchFamily="50" charset="-127"/>
                <a:ea typeface="신세계 Regular" panose="02000300000000000000" pitchFamily="50" charset="-127"/>
              </a:rPr>
              <a:t>BBL</a:t>
            </a:r>
          </a:p>
        </p:txBody>
      </p:sp>
      <p:sp>
        <p:nvSpPr>
          <p:cNvPr id="104" name="BBL Desc"/>
          <p:cNvSpPr/>
          <p:nvPr/>
        </p:nvSpPr>
        <p:spPr>
          <a:xfrm>
            <a:off x="3696259" y="11922507"/>
            <a:ext cx="5525013" cy="537485"/>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신세계 Regular" panose="02000300000000000000" pitchFamily="50" charset="-127"/>
                <a:ea typeface="Yu Gothic"/>
                <a:cs typeface="Sinsegye" pitchFamily="34" charset="-120"/>
              </a:rPr>
              <a:t>幅広い波長の光エネルギー（BroadBand Light）を肌の深さごとに届ける光治療機器です。肝斑・シミなどの色素と赤ら顔・血管病変を同時に改善し、肌のトーンとキメを透明感のある均一な状態に整えます。</a:t>
            </a:r>
            <a:endParaRPr lang="en-US" sz="1200" dirty="0">
              <a:latin typeface="신세계 Regular" panose="02000300000000000000" pitchFamily="50" charset="-127"/>
              <a:ea typeface="신세계 Regular" panose="02000300000000000000" pitchFamily="50" charset="-127"/>
            </a:endParaRPr>
          </a:p>
        </p:txBody>
      </p:sp>
      <p:sp>
        <p:nvSpPr>
          <p:cNvPr id="105" name="BBL Tag 1"/>
          <p:cNvSpPr/>
          <p:nvPr/>
        </p:nvSpPr>
        <p:spPr>
          <a:xfrm>
            <a:off x="3703417" y="12930836"/>
            <a:ext cx="793242" cy="225849"/>
          </a:xfrm>
          <a:prstGeom prst="rect">
            <a:avLst/>
          </a:prstGeom>
          <a:ln w="6804">
            <a:solidFill>
              <a:srgbClr val="555555">
                <a:alpha val="22000"/>
              </a:srgbClr>
            </a:solidFill>
            <a:prstDash val="solid"/>
          </a:ln>
        </p:spPr>
      </p:sp>
      <p:sp>
        <p:nvSpPr>
          <p:cNvPr id="106" name="BBL TagText 1"/>
          <p:cNvSpPr/>
          <p:nvPr/>
        </p:nvSpPr>
        <p:spPr>
          <a:xfrm>
            <a:off x="3703417" y="12930836"/>
            <a:ext cx="793242"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肝斑 · シミ</a:t>
            </a:r>
            <a:endParaRPr lang="en-US" sz="900" dirty="0">
              <a:latin typeface="신세계 Regular" panose="02000300000000000000" pitchFamily="50" charset="-127"/>
              <a:ea typeface="신세계 Regular" panose="02000300000000000000" pitchFamily="50" charset="-127"/>
            </a:endParaRPr>
          </a:p>
        </p:txBody>
      </p:sp>
      <p:sp>
        <p:nvSpPr>
          <p:cNvPr id="107" name="BBL Tag 2"/>
          <p:cNvSpPr/>
          <p:nvPr/>
        </p:nvSpPr>
        <p:spPr>
          <a:xfrm>
            <a:off x="4578955" y="12930836"/>
            <a:ext cx="907542" cy="225849"/>
          </a:xfrm>
          <a:prstGeom prst="rect">
            <a:avLst/>
          </a:prstGeom>
          <a:ln w="6804">
            <a:solidFill>
              <a:srgbClr val="555555">
                <a:alpha val="22000"/>
              </a:srgbClr>
            </a:solidFill>
            <a:prstDash val="solid"/>
          </a:ln>
        </p:spPr>
      </p:sp>
      <p:sp>
        <p:nvSpPr>
          <p:cNvPr id="108" name="BBL TagText 2"/>
          <p:cNvSpPr/>
          <p:nvPr/>
        </p:nvSpPr>
        <p:spPr>
          <a:xfrm>
            <a:off x="4578955" y="12930836"/>
            <a:ext cx="907542"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赤ら顔 · 血管</a:t>
            </a:r>
            <a:endParaRPr lang="en-US" sz="900" dirty="0">
              <a:latin typeface="신세계 Regular" panose="02000300000000000000" pitchFamily="50" charset="-127"/>
              <a:ea typeface="신세계 Regular" panose="02000300000000000000" pitchFamily="50" charset="-127"/>
            </a:endParaRPr>
          </a:p>
        </p:txBody>
      </p:sp>
      <p:sp>
        <p:nvSpPr>
          <p:cNvPr id="109" name="BBL Tag 3"/>
          <p:cNvSpPr/>
          <p:nvPr/>
        </p:nvSpPr>
        <p:spPr>
          <a:xfrm>
            <a:off x="5568793" y="12930836"/>
            <a:ext cx="923544" cy="225849"/>
          </a:xfrm>
          <a:prstGeom prst="rect">
            <a:avLst/>
          </a:prstGeom>
          <a:ln w="6804">
            <a:solidFill>
              <a:srgbClr val="555555">
                <a:alpha val="22000"/>
              </a:srgbClr>
            </a:solidFill>
            <a:prstDash val="solid"/>
          </a:ln>
        </p:spPr>
      </p:sp>
      <p:sp>
        <p:nvSpPr>
          <p:cNvPr id="110" name="BBL TagText 3"/>
          <p:cNvSpPr/>
          <p:nvPr/>
        </p:nvSpPr>
        <p:spPr>
          <a:xfrm>
            <a:off x="5568793" y="12930836"/>
            <a:ext cx="923544" cy="225849"/>
          </a:xfrm>
          <a:prstGeom prst="rect">
            <a:avLst/>
          </a:prstGeom>
          <a:noFill/>
          <a:ln/>
        </p:spPr>
        <p:txBody>
          <a:bodyPr wrap="none" lIns="0" tIns="0" rIns="0" bIns="0" rtlCol="0" anchor="ctr">
            <a:noAutofit/>
          </a:bodyPr>
          <a:lstStyle/>
          <a:p>
            <a:pPr algn="ctr"/>
            <a:r>
              <a:rPr lang="ja-JP" sz="900" dirty="0">
                <a:solidFill>
                  <a:srgbClr val="2498BD"/>
                </a:solidFill>
                <a:latin typeface="신세계 Regular" panose="02000300000000000000" pitchFamily="50" charset="-127"/>
                <a:ea typeface="Yu Gothic"/>
                <a:cs typeface="Sinsegye" pitchFamily="34" charset="-120"/>
              </a:rPr>
              <a:t>肌トーン改善</a:t>
            </a:r>
            <a:endParaRPr lang="en-US" sz="900" dirty="0">
              <a:latin typeface="신세계 Regular" panose="02000300000000000000" pitchFamily="50" charset="-127"/>
              <a:ea typeface="신세계 Regular" panose="02000300000000000000" pitchFamily="50" charset="-127"/>
            </a:endParaRPr>
          </a:p>
        </p:txBody>
      </p:sp>
      <p:sp>
        <p:nvSpPr>
          <p:cNvPr id="111" name="BBL 이미지"/>
          <p:cNvSpPr/>
          <p:nvPr/>
        </p:nvSpPr>
        <p:spPr>
          <a:xfrm>
            <a:off x="1016176" y="11100000"/>
            <a:ext cx="2350000" cy="235000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그림 35">
            <a:extLst>
              <a:ext uri="{FF2B5EF4-FFF2-40B4-BE49-F238E27FC236}">
                <a16:creationId xmlns:a16="http://schemas.microsoft.com/office/drawing/2014/main" id="{F374F5D5-A62C-4439-C792-C9D88D3047B7}"/>
              </a:ext>
            </a:extLst>
          </p:cNvPr>
          <p:cNvPicPr>
            <a:picLocks noChangeAspect="1"/>
          </p:cNvPicPr>
          <p:nvPr/>
        </p:nvPicPr>
        <p:blipFill>
          <a:blip r:embed="rId3"/>
          <a:stretch>
            <a:fillRect/>
          </a:stretch>
        </p:blipFill>
        <p:spPr>
          <a:xfrm>
            <a:off x="3073268" y="5174312"/>
            <a:ext cx="1830633" cy="1044119"/>
          </a:xfrm>
          <a:prstGeom prst="rect">
            <a:avLst/>
          </a:prstGeom>
          <a:ln>
            <a:solidFill>
              <a:schemeClr val="bg1">
                <a:lumMod val="95000"/>
              </a:schemeClr>
            </a:solidFill>
          </a:ln>
        </p:spPr>
      </p:pic>
      <p:sp>
        <p:nvSpPr>
          <p:cNvPr id="54" name="Text 3">
            <a:extLst>
              <a:ext uri="{FF2B5EF4-FFF2-40B4-BE49-F238E27FC236}">
                <a16:creationId xmlns:a16="http://schemas.microsoft.com/office/drawing/2014/main" id="{70B1DE5D-40DB-EE22-ECCD-C0972A197244}"/>
              </a:ext>
            </a:extLst>
          </p:cNvPr>
          <p:cNvSpPr/>
          <p:nvPr/>
        </p:nvSpPr>
        <p:spPr>
          <a:xfrm>
            <a:off x="-514350" y="868094"/>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SKIN BOOSTER</a:t>
            </a:r>
            <a:endParaRPr lang="en-US" sz="1050" dirty="0">
              <a:latin typeface="신세계 Regular" panose="02000300000000000000" pitchFamily="50" charset="-127"/>
              <a:ea typeface="신세계 Regular" panose="02000300000000000000" pitchFamily="50" charset="-127"/>
            </a:endParaRPr>
          </a:p>
        </p:txBody>
      </p:sp>
      <p:sp>
        <p:nvSpPr>
          <p:cNvPr id="56" name="Text 4">
            <a:extLst>
              <a:ext uri="{FF2B5EF4-FFF2-40B4-BE49-F238E27FC236}">
                <a16:creationId xmlns:a16="http://schemas.microsoft.com/office/drawing/2014/main" id="{2A98A99F-80A2-D258-DB15-5DF5F5E994F0}"/>
              </a:ext>
            </a:extLst>
          </p:cNvPr>
          <p:cNvSpPr/>
          <p:nvPr/>
        </p:nvSpPr>
        <p:spPr>
          <a:xfrm>
            <a:off x="-514350" y="1069437"/>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3150" b="1" kern="0" spc="-63" dirty="0">
                <a:solidFill>
                  <a:srgbClr val="2498BD"/>
                </a:solidFill>
                <a:latin typeface="신세계 Regular" panose="02000300000000000000" pitchFamily="50" charset="-127"/>
                <a:ea typeface="Yu Gothic"/>
                <a:cs typeface="Sinsegye" pitchFamily="34" charset="-120"/>
              </a:rPr>
              <a:t>スキンブースター</a:t>
            </a:r>
            <a:endParaRPr lang="en-US" sz="3150" dirty="0">
              <a:latin typeface="신세계 Regular" panose="02000300000000000000" pitchFamily="50" charset="-127"/>
              <a:ea typeface="신세계 Regular" panose="02000300000000000000" pitchFamily="50" charset="-127"/>
            </a:endParaRPr>
          </a:p>
        </p:txBody>
      </p:sp>
      <p:sp>
        <p:nvSpPr>
          <p:cNvPr id="58" name="Text 5">
            <a:extLst>
              <a:ext uri="{FF2B5EF4-FFF2-40B4-BE49-F238E27FC236}">
                <a16:creationId xmlns:a16="http://schemas.microsoft.com/office/drawing/2014/main" id="{3F9F0950-79CD-71D1-D16C-D4F9BB36487D}"/>
              </a:ext>
            </a:extLst>
          </p:cNvPr>
          <p:cNvSpPr/>
          <p:nvPr/>
        </p:nvSpPr>
        <p:spPr>
          <a:xfrm>
            <a:off x="-514350" y="1542923"/>
            <a:ext cx="11315700" cy="276225"/>
          </a:xfrm>
          <a:prstGeom prst="rect">
            <a:avLst/>
          </a:prstGeom>
          <a:noFill/>
          <a:ln/>
        </p:spPr>
        <p:txBody>
          <a:bodyPr wrap="square" lIns="25400" tIns="25400" rIns="25400" bIns="25400" rtlCol="0" anchor="t">
            <a:normAutofit/>
          </a:bodyPr>
          <a:lstStyle/>
          <a:p>
            <a:pPr algn="ctr"/>
            <a:r>
              <a:rPr lang="ja-JP" sz="1275" dirty="0">
                <a:solidFill>
                  <a:srgbClr val="6E6E6E"/>
                </a:solidFill>
                <a:latin typeface="신세계 Regular" panose="02000300000000000000" pitchFamily="50" charset="-127"/>
                <a:ea typeface="Yu Gothic"/>
                <a:cs typeface="Arial" pitchFamily="34" charset="-120"/>
              </a:rPr>
              <a:t>再生 · コラーゲン/ボリューム · ECM · ハリ/水光</a:t>
            </a:r>
            <a:endParaRPr lang="en-US" sz="1275" dirty="0">
              <a:latin typeface="신세계 Regular" panose="02000300000000000000" pitchFamily="50" charset="-127"/>
              <a:ea typeface="신세계 Regular" panose="02000300000000000000" pitchFamily="50" charset="-127"/>
            </a:endParaRPr>
          </a:p>
        </p:txBody>
      </p:sp>
      <p:pic>
        <p:nvPicPr>
          <p:cNvPr id="183" name="그림 182">
            <a:extLst>
              <a:ext uri="{FF2B5EF4-FFF2-40B4-BE49-F238E27FC236}">
                <a16:creationId xmlns:a16="http://schemas.microsoft.com/office/drawing/2014/main" id="{05C60A78-E929-024F-11CE-12017848EF55}"/>
              </a:ext>
            </a:extLst>
          </p:cNvPr>
          <p:cNvPicPr>
            <a:picLocks noChangeAspect="1"/>
          </p:cNvPicPr>
          <p:nvPr/>
        </p:nvPicPr>
        <p:blipFill>
          <a:blip r:embed="rId4"/>
          <a:stretch>
            <a:fillRect/>
          </a:stretch>
        </p:blipFill>
        <p:spPr>
          <a:xfrm>
            <a:off x="5379520" y="11470631"/>
            <a:ext cx="1837632" cy="1048111"/>
          </a:xfrm>
          <a:prstGeom prst="rect">
            <a:avLst/>
          </a:prstGeom>
          <a:ln w="12700">
            <a:solidFill>
              <a:schemeClr val="bg1">
                <a:lumMod val="95000"/>
              </a:schemeClr>
            </a:solidFill>
          </a:ln>
        </p:spPr>
      </p:pic>
      <p:sp>
        <p:nvSpPr>
          <p:cNvPr id="11" name="Text 8"/>
          <p:cNvSpPr/>
          <p:nvPr/>
        </p:nvSpPr>
        <p:spPr>
          <a:xfrm>
            <a:off x="927339" y="2959124"/>
            <a:ext cx="9275470" cy="242333"/>
          </a:xfrm>
          <a:prstGeom prst="rect">
            <a:avLst/>
          </a:prstGeom>
          <a:noFill/>
          <a:ln/>
        </p:spPr>
        <p:txBody>
          <a:bodyPr wrap="square" lIns="21079" tIns="21079" rIns="21079" bIns="21079" rtlCol="0" anchor="t">
            <a:normAutofit fontScale="92500" lnSpcReduction="10000"/>
          </a:bodyPr>
          <a:lstStyle/>
          <a:p>
            <a:r>
              <a:rPr lang="ja-JP" sz="1556" b="1" dirty="0">
                <a:solidFill>
                  <a:srgbClr val="1A1A1A"/>
                </a:solidFill>
                <a:latin typeface="신세계 Regular" panose="02000300000000000000" pitchFamily="50" charset="-127"/>
                <a:ea typeface="Yu Gothic"/>
                <a:cs typeface="Sinsegye" pitchFamily="34" charset="-120"/>
              </a:rPr>
              <a:t>再生</a:t>
            </a:r>
            <a:endParaRPr lang="en-US" altLang="ko-KR" sz="1556" dirty="0">
              <a:latin typeface="신세계 Regular" panose="02000300000000000000" pitchFamily="50" charset="-127"/>
              <a:ea typeface="신세계 Regular" panose="02000300000000000000" pitchFamily="50" charset="-127"/>
            </a:endParaRPr>
          </a:p>
        </p:txBody>
      </p:sp>
      <p:grpSp>
        <p:nvGrpSpPr>
          <p:cNvPr id="64" name="그룹 63">
            <a:extLst>
              <a:ext uri="{FF2B5EF4-FFF2-40B4-BE49-F238E27FC236}">
                <a16:creationId xmlns:a16="http://schemas.microsoft.com/office/drawing/2014/main" id="{32AB248D-F131-E8F2-0733-C64244F22B3D}"/>
              </a:ext>
            </a:extLst>
          </p:cNvPr>
          <p:cNvGrpSpPr/>
          <p:nvPr/>
        </p:nvGrpSpPr>
        <p:grpSpPr>
          <a:xfrm>
            <a:off x="927338" y="3369812"/>
            <a:ext cx="2175436" cy="1554999"/>
            <a:chOff x="927338" y="3292929"/>
            <a:chExt cx="2175436" cy="1554999"/>
          </a:xfrm>
        </p:grpSpPr>
        <p:sp>
          <p:nvSpPr>
            <p:cNvPr id="12" name="Text 9"/>
            <p:cNvSpPr/>
            <p:nvPr/>
          </p:nvSpPr>
          <p:spPr>
            <a:xfrm>
              <a:off x="927338" y="4422876"/>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Rejuran Healer R</a:t>
              </a:r>
              <a:endParaRPr lang="en-US" sz="1183" dirty="0">
                <a:latin typeface="신세계 Regular" panose="02000300000000000000" pitchFamily="50" charset="-127"/>
                <a:ea typeface="신세계 Regular" panose="02000300000000000000" pitchFamily="50" charset="-127"/>
              </a:endParaRPr>
            </a:p>
          </p:txBody>
        </p:sp>
        <p:sp>
          <p:nvSpPr>
            <p:cNvPr id="13" name="Text 10"/>
            <p:cNvSpPr/>
            <p:nvPr/>
          </p:nvSpPr>
          <p:spPr>
            <a:xfrm>
              <a:off x="927338" y="4638766"/>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サーモン由来PN — 肌バリアを強化</a:t>
              </a:r>
              <a:endParaRPr lang="en-US" sz="965" dirty="0">
                <a:latin typeface="신세계 Regular" panose="02000300000000000000" pitchFamily="50" charset="-127"/>
                <a:ea typeface="신세계 Regular" panose="02000300000000000000" pitchFamily="50" charset="-127"/>
              </a:endParaRPr>
            </a:p>
          </p:txBody>
        </p:sp>
        <p:sp>
          <p:nvSpPr>
            <p:cNvPr id="59" name="직사각형 58">
              <a:extLst>
                <a:ext uri="{FF2B5EF4-FFF2-40B4-BE49-F238E27FC236}">
                  <a16:creationId xmlns:a16="http://schemas.microsoft.com/office/drawing/2014/main" id="{A5BF1024-D103-4CF7-087A-3BC9F0A918A1}"/>
                </a:ext>
              </a:extLst>
            </p:cNvPr>
            <p:cNvSpPr/>
            <p:nvPr/>
          </p:nvSpPr>
          <p:spPr>
            <a:xfrm>
              <a:off x="927339" y="3292929"/>
              <a:ext cx="1837632" cy="1040862"/>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8" name="그룹 67">
            <a:extLst>
              <a:ext uri="{FF2B5EF4-FFF2-40B4-BE49-F238E27FC236}">
                <a16:creationId xmlns:a16="http://schemas.microsoft.com/office/drawing/2014/main" id="{0629E457-9CAC-078C-E409-E48937729BBD}"/>
              </a:ext>
            </a:extLst>
          </p:cNvPr>
          <p:cNvGrpSpPr/>
          <p:nvPr/>
        </p:nvGrpSpPr>
        <p:grpSpPr>
          <a:xfrm>
            <a:off x="927338" y="5174312"/>
            <a:ext cx="2193623" cy="1554999"/>
            <a:chOff x="5212202" y="3292929"/>
            <a:chExt cx="2193623" cy="1554999"/>
          </a:xfrm>
        </p:grpSpPr>
        <p:sp>
          <p:nvSpPr>
            <p:cNvPr id="16" name="Text 13"/>
            <p:cNvSpPr/>
            <p:nvPr/>
          </p:nvSpPr>
          <p:spPr>
            <a:xfrm>
              <a:off x="5230389" y="4422876"/>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Rejuran Healer I</a:t>
              </a:r>
              <a:endParaRPr lang="en-US" sz="1183" dirty="0">
                <a:latin typeface="신세계 Regular" panose="02000300000000000000" pitchFamily="50" charset="-127"/>
                <a:ea typeface="신세계 Regular" panose="02000300000000000000" pitchFamily="50" charset="-127"/>
              </a:endParaRPr>
            </a:p>
          </p:txBody>
        </p:sp>
        <p:sp>
          <p:nvSpPr>
            <p:cNvPr id="17" name="Text 14"/>
            <p:cNvSpPr/>
            <p:nvPr/>
          </p:nvSpPr>
          <p:spPr>
            <a:xfrm>
              <a:off x="5230389" y="4638766"/>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目元専用 · 小ジワを緩和</a:t>
              </a:r>
              <a:endParaRPr lang="en-US" sz="965" dirty="0">
                <a:latin typeface="신세계 Regular" panose="02000300000000000000" pitchFamily="50" charset="-127"/>
                <a:ea typeface="신세계 Regular" panose="02000300000000000000" pitchFamily="50" charset="-127"/>
              </a:endParaRPr>
            </a:p>
          </p:txBody>
        </p:sp>
        <p:sp>
          <p:nvSpPr>
            <p:cNvPr id="61" name="직사각형 60">
              <a:extLst>
                <a:ext uri="{FF2B5EF4-FFF2-40B4-BE49-F238E27FC236}">
                  <a16:creationId xmlns:a16="http://schemas.microsoft.com/office/drawing/2014/main" id="{91A01021-BD47-EBD4-6847-95ED29822700}"/>
                </a:ext>
              </a:extLst>
            </p:cNvPr>
            <p:cNvSpPr/>
            <p:nvPr/>
          </p:nvSpPr>
          <p:spPr>
            <a:xfrm>
              <a:off x="5212202" y="3292929"/>
              <a:ext cx="1837632" cy="1040862"/>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6" name="그룹 65">
            <a:extLst>
              <a:ext uri="{FF2B5EF4-FFF2-40B4-BE49-F238E27FC236}">
                <a16:creationId xmlns:a16="http://schemas.microsoft.com/office/drawing/2014/main" id="{0E6322D0-35FD-9B7B-82C4-C23F485DD1F6}"/>
              </a:ext>
            </a:extLst>
          </p:cNvPr>
          <p:cNvGrpSpPr/>
          <p:nvPr/>
        </p:nvGrpSpPr>
        <p:grpSpPr>
          <a:xfrm>
            <a:off x="3069771" y="3369812"/>
            <a:ext cx="2184529" cy="1732541"/>
            <a:chOff x="3069771" y="3292929"/>
            <a:chExt cx="2184529" cy="1732541"/>
          </a:xfrm>
        </p:grpSpPr>
        <p:sp>
          <p:nvSpPr>
            <p:cNvPr id="14" name="Text 11"/>
            <p:cNvSpPr/>
            <p:nvPr/>
          </p:nvSpPr>
          <p:spPr>
            <a:xfrm>
              <a:off x="3078864" y="4422876"/>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Rejuran Healer HB</a:t>
              </a:r>
              <a:endParaRPr lang="en-US" sz="1183" dirty="0">
                <a:latin typeface="신세계 Regular" panose="02000300000000000000" pitchFamily="50" charset="-127"/>
                <a:ea typeface="신세계 Regular" panose="02000300000000000000" pitchFamily="50" charset="-127"/>
              </a:endParaRPr>
            </a:p>
          </p:txBody>
        </p:sp>
        <p:sp>
          <p:nvSpPr>
            <p:cNvPr id="15" name="Text 12"/>
            <p:cNvSpPr/>
            <p:nvPr/>
          </p:nvSpPr>
          <p:spPr>
            <a:xfrm>
              <a:off x="3078864" y="4638766"/>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低痛み · ヒアルロン酸配合で保湿まで</a:t>
              </a:r>
              <a:endParaRPr lang="en-US" sz="965" dirty="0">
                <a:latin typeface="신세계 Regular" panose="02000300000000000000" pitchFamily="50" charset="-127"/>
                <a:ea typeface="신세계 Regular" panose="02000300000000000000" pitchFamily="50" charset="-127"/>
              </a:endParaRPr>
            </a:p>
          </p:txBody>
        </p:sp>
        <p:sp>
          <p:nvSpPr>
            <p:cNvPr id="63" name="직사각형 62">
              <a:extLst>
                <a:ext uri="{FF2B5EF4-FFF2-40B4-BE49-F238E27FC236}">
                  <a16:creationId xmlns:a16="http://schemas.microsoft.com/office/drawing/2014/main" id="{5F669CEB-1944-DA80-6059-C5088AE6DDA2}"/>
                </a:ext>
              </a:extLst>
            </p:cNvPr>
            <p:cNvSpPr/>
            <p:nvPr/>
          </p:nvSpPr>
          <p:spPr>
            <a:xfrm>
              <a:off x="3069771" y="3292929"/>
              <a:ext cx="1837632" cy="1040862"/>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 name="그룹 5">
            <a:extLst>
              <a:ext uri="{FF2B5EF4-FFF2-40B4-BE49-F238E27FC236}">
                <a16:creationId xmlns:a16="http://schemas.microsoft.com/office/drawing/2014/main" id="{BE415609-DD49-C267-01F0-EA8DA016F142}"/>
              </a:ext>
            </a:extLst>
          </p:cNvPr>
          <p:cNvGrpSpPr/>
          <p:nvPr/>
        </p:nvGrpSpPr>
        <p:grpSpPr>
          <a:xfrm>
            <a:off x="927338" y="11470631"/>
            <a:ext cx="2202717" cy="1733009"/>
            <a:chOff x="7354634" y="5104272"/>
            <a:chExt cx="2202717" cy="1733009"/>
          </a:xfrm>
        </p:grpSpPr>
        <p:sp>
          <p:nvSpPr>
            <p:cNvPr id="26" name="Text 23"/>
            <p:cNvSpPr/>
            <p:nvPr/>
          </p:nvSpPr>
          <p:spPr>
            <a:xfrm>
              <a:off x="7381915" y="6234687"/>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Sculptra</a:t>
              </a:r>
              <a:endParaRPr lang="en-US" sz="1183" dirty="0">
                <a:latin typeface="신세계 Regular" panose="02000300000000000000" pitchFamily="50" charset="-127"/>
                <a:ea typeface="신세계 Regular" panose="02000300000000000000" pitchFamily="50" charset="-127"/>
              </a:endParaRPr>
            </a:p>
          </p:txBody>
        </p:sp>
        <p:sp>
          <p:nvSpPr>
            <p:cNvPr id="27" name="Text 24"/>
            <p:cNvSpPr/>
            <p:nvPr/>
          </p:nvSpPr>
          <p:spPr>
            <a:xfrm>
              <a:off x="7381915" y="6450577"/>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PLLA — 自然なボリューム感とバランスの取れた輪郭</a:t>
              </a:r>
            </a:p>
          </p:txBody>
        </p:sp>
        <p:sp>
          <p:nvSpPr>
            <p:cNvPr id="73" name="직사각형 72">
              <a:extLst>
                <a:ext uri="{FF2B5EF4-FFF2-40B4-BE49-F238E27FC236}">
                  <a16:creationId xmlns:a16="http://schemas.microsoft.com/office/drawing/2014/main" id="{BCD8F2FE-5D5E-8AC1-8B02-8005175B46E3}"/>
                </a:ext>
              </a:extLst>
            </p:cNvPr>
            <p:cNvSpPr/>
            <p:nvPr/>
          </p:nvSpPr>
          <p:spPr>
            <a:xfrm>
              <a:off x="7354634" y="5104272"/>
              <a:ext cx="1837632" cy="1040862"/>
            </a:xfrm>
            <a:prstGeom prst="rect">
              <a:avLst/>
            </a:prstGeom>
            <a:blipFill dpi="0" rotWithShape="1">
              <a:blip r:embed="rId8">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 name="그룹 1">
            <a:extLst>
              <a:ext uri="{FF2B5EF4-FFF2-40B4-BE49-F238E27FC236}">
                <a16:creationId xmlns:a16="http://schemas.microsoft.com/office/drawing/2014/main" id="{2896F72D-9F51-4BEA-799D-655D1545DD4F}"/>
              </a:ext>
            </a:extLst>
          </p:cNvPr>
          <p:cNvGrpSpPr/>
          <p:nvPr/>
        </p:nvGrpSpPr>
        <p:grpSpPr>
          <a:xfrm>
            <a:off x="927338" y="9675648"/>
            <a:ext cx="2202716" cy="1685006"/>
            <a:chOff x="7354635" y="3300108"/>
            <a:chExt cx="2202716" cy="1685006"/>
          </a:xfrm>
        </p:grpSpPr>
        <p:sp>
          <p:nvSpPr>
            <p:cNvPr id="22" name="Text 19"/>
            <p:cNvSpPr/>
            <p:nvPr/>
          </p:nvSpPr>
          <p:spPr>
            <a:xfrm>
              <a:off x="7381915" y="4422876"/>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 xml:space="preserve">Olidia </a:t>
              </a:r>
              <a:r>
                <a:rPr lang="ja-JP" sz="934">
                  <a:solidFill>
                    <a:srgbClr val="6E6E6E"/>
                  </a:solidFill>
                  <a:latin typeface="신세계 Regular" panose="02000300000000000000" pitchFamily="50" charset="-127"/>
                  <a:ea typeface="Yu Gothic"/>
                  <a:cs typeface="Sinsegye" pitchFamily="34" charset="-120"/>
                </a:rPr>
                <a:t xml:space="preserve">120 · 365</a:t>
              </a:r>
              <a:endParaRPr lang="en-US" sz="1183" dirty="0">
                <a:latin typeface="신세계 Regular" panose="02000300000000000000" pitchFamily="50" charset="-127"/>
                <a:ea typeface="신세계 Regular" panose="02000300000000000000" pitchFamily="50" charset="-127"/>
              </a:endParaRPr>
            </a:p>
          </p:txBody>
        </p:sp>
        <p:sp>
          <p:nvSpPr>
            <p:cNvPr id="23" name="Text 20"/>
            <p:cNvSpPr/>
            <p:nvPr/>
          </p:nvSpPr>
          <p:spPr>
            <a:xfrm>
              <a:off x="7381915" y="4598410"/>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PLLA — 線維芽細胞を刺激しコラーゲン生成を促進</a:t>
              </a:r>
            </a:p>
          </p:txBody>
        </p:sp>
        <p:sp>
          <p:nvSpPr>
            <p:cNvPr id="65" name="직사각형 64">
              <a:extLst>
                <a:ext uri="{FF2B5EF4-FFF2-40B4-BE49-F238E27FC236}">
                  <a16:creationId xmlns:a16="http://schemas.microsoft.com/office/drawing/2014/main" id="{DFCC2E1F-378F-2FA4-C71B-961B07F06797}"/>
                </a:ext>
              </a:extLst>
            </p:cNvPr>
            <p:cNvSpPr/>
            <p:nvPr/>
          </p:nvSpPr>
          <p:spPr>
            <a:xfrm>
              <a:off x="7354635" y="3300108"/>
              <a:ext cx="1837632" cy="1040862"/>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 name="그룹 4">
            <a:extLst>
              <a:ext uri="{FF2B5EF4-FFF2-40B4-BE49-F238E27FC236}">
                <a16:creationId xmlns:a16="http://schemas.microsoft.com/office/drawing/2014/main" id="{50A7581D-D363-162D-470A-28A79D76B2D1}"/>
              </a:ext>
            </a:extLst>
          </p:cNvPr>
          <p:cNvGrpSpPr/>
          <p:nvPr/>
        </p:nvGrpSpPr>
        <p:grpSpPr>
          <a:xfrm>
            <a:off x="3078864" y="9675648"/>
            <a:ext cx="2193623" cy="1733009"/>
            <a:chOff x="5212202" y="5104272"/>
            <a:chExt cx="2193623" cy="1733009"/>
          </a:xfrm>
        </p:grpSpPr>
        <p:sp>
          <p:nvSpPr>
            <p:cNvPr id="24" name="Text 21"/>
            <p:cNvSpPr/>
            <p:nvPr/>
          </p:nvSpPr>
          <p:spPr>
            <a:xfrm>
              <a:off x="5230389" y="6234687"/>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Radiesse</a:t>
              </a:r>
              <a:endParaRPr lang="en-US" sz="1183" dirty="0">
                <a:latin typeface="신세계 Regular" panose="02000300000000000000" pitchFamily="50" charset="-127"/>
                <a:ea typeface="신세계 Regular" panose="02000300000000000000" pitchFamily="50" charset="-127"/>
              </a:endParaRPr>
            </a:p>
          </p:txBody>
        </p:sp>
        <p:sp>
          <p:nvSpPr>
            <p:cNvPr id="25" name="Text 22"/>
            <p:cNvSpPr/>
            <p:nvPr/>
          </p:nvSpPr>
          <p:spPr>
            <a:xfrm>
              <a:off x="5230390" y="6450577"/>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CaHA — 即効性のあるボリュームと持続するハリ</a:t>
              </a:r>
            </a:p>
          </p:txBody>
        </p:sp>
        <p:sp>
          <p:nvSpPr>
            <p:cNvPr id="71" name="직사각형 70">
              <a:extLst>
                <a:ext uri="{FF2B5EF4-FFF2-40B4-BE49-F238E27FC236}">
                  <a16:creationId xmlns:a16="http://schemas.microsoft.com/office/drawing/2014/main" id="{F25357A3-24F0-10F9-3F57-01C1A0F34EAE}"/>
                </a:ext>
              </a:extLst>
            </p:cNvPr>
            <p:cNvSpPr/>
            <p:nvPr/>
          </p:nvSpPr>
          <p:spPr>
            <a:xfrm>
              <a:off x="5212202" y="5104272"/>
              <a:ext cx="1837632" cy="1040862"/>
            </a:xfrm>
            <a:prstGeom prst="rect">
              <a:avLst/>
            </a:prstGeom>
            <a:blipFill dpi="0" rotWithShape="1">
              <a:blip r:embed="rId10">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9" name="그룹 48">
            <a:extLst>
              <a:ext uri="{FF2B5EF4-FFF2-40B4-BE49-F238E27FC236}">
                <a16:creationId xmlns:a16="http://schemas.microsoft.com/office/drawing/2014/main" id="{54C190F9-BDA6-D466-EC6D-0E6D9D573C8B}"/>
              </a:ext>
            </a:extLst>
          </p:cNvPr>
          <p:cNvGrpSpPr/>
          <p:nvPr/>
        </p:nvGrpSpPr>
        <p:grpSpPr>
          <a:xfrm>
            <a:off x="927338" y="7871484"/>
            <a:ext cx="2175437" cy="1562646"/>
            <a:chOff x="927338" y="5097093"/>
            <a:chExt cx="2175437" cy="1562646"/>
          </a:xfrm>
        </p:grpSpPr>
        <p:sp>
          <p:nvSpPr>
            <p:cNvPr id="50" name="Text 15">
              <a:extLst>
                <a:ext uri="{FF2B5EF4-FFF2-40B4-BE49-F238E27FC236}">
                  <a16:creationId xmlns:a16="http://schemas.microsoft.com/office/drawing/2014/main" id="{B267F8B4-B4A0-BF67-6F01-F232C05EFE80}"/>
                </a:ext>
              </a:extLst>
            </p:cNvPr>
            <p:cNvSpPr/>
            <p:nvPr/>
          </p:nvSpPr>
          <p:spPr>
            <a:xfrm>
              <a:off x="927339" y="6234687"/>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Juvelook Skin</a:t>
              </a:r>
              <a:endParaRPr lang="en-US" sz="1183" dirty="0">
                <a:latin typeface="신세계 Regular" panose="02000300000000000000" pitchFamily="50" charset="-127"/>
                <a:ea typeface="신세계 Regular" panose="02000300000000000000" pitchFamily="50" charset="-127"/>
              </a:endParaRPr>
            </a:p>
          </p:txBody>
        </p:sp>
        <p:sp>
          <p:nvSpPr>
            <p:cNvPr id="51" name="Text 16">
              <a:extLst>
                <a:ext uri="{FF2B5EF4-FFF2-40B4-BE49-F238E27FC236}">
                  <a16:creationId xmlns:a16="http://schemas.microsoft.com/office/drawing/2014/main" id="{1B32C0F2-7B72-51EC-8E75-6BE570894F8E}"/>
                </a:ext>
              </a:extLst>
            </p:cNvPr>
            <p:cNvSpPr/>
            <p:nvPr/>
          </p:nvSpPr>
          <p:spPr>
            <a:xfrm>
              <a:off x="927339" y="6450577"/>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PDLLA — 肌質改善 · 毛穴縮小</a:t>
              </a:r>
              <a:endParaRPr lang="en-US" sz="965" dirty="0">
                <a:latin typeface="신세계 Regular" panose="02000300000000000000" pitchFamily="50" charset="-127"/>
                <a:ea typeface="신세계 Regular" panose="02000300000000000000" pitchFamily="50" charset="-127"/>
              </a:endParaRPr>
            </a:p>
          </p:txBody>
        </p:sp>
        <p:sp>
          <p:nvSpPr>
            <p:cNvPr id="52" name="직사각형 51">
              <a:extLst>
                <a:ext uri="{FF2B5EF4-FFF2-40B4-BE49-F238E27FC236}">
                  <a16:creationId xmlns:a16="http://schemas.microsoft.com/office/drawing/2014/main" id="{0730483F-ED13-E0B0-94A9-17B6EBC20138}"/>
                </a:ext>
              </a:extLst>
            </p:cNvPr>
            <p:cNvSpPr/>
            <p:nvPr/>
          </p:nvSpPr>
          <p:spPr>
            <a:xfrm>
              <a:off x="927338" y="5097093"/>
              <a:ext cx="1837632" cy="1040862"/>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3" name="그룹 52">
            <a:extLst>
              <a:ext uri="{FF2B5EF4-FFF2-40B4-BE49-F238E27FC236}">
                <a16:creationId xmlns:a16="http://schemas.microsoft.com/office/drawing/2014/main" id="{50AAF7C7-7E88-959E-4B8F-1097235CB6AD}"/>
              </a:ext>
            </a:extLst>
          </p:cNvPr>
          <p:cNvGrpSpPr/>
          <p:nvPr/>
        </p:nvGrpSpPr>
        <p:grpSpPr>
          <a:xfrm>
            <a:off x="3069770" y="7871484"/>
            <a:ext cx="2184529" cy="1740188"/>
            <a:chOff x="3069770" y="5097093"/>
            <a:chExt cx="2184529" cy="1740188"/>
          </a:xfrm>
        </p:grpSpPr>
        <p:sp>
          <p:nvSpPr>
            <p:cNvPr id="55" name="Text 17">
              <a:extLst>
                <a:ext uri="{FF2B5EF4-FFF2-40B4-BE49-F238E27FC236}">
                  <a16:creationId xmlns:a16="http://schemas.microsoft.com/office/drawing/2014/main" id="{B0BECB8D-00BB-52AA-0DCE-4B70AE925F25}"/>
                </a:ext>
              </a:extLst>
            </p:cNvPr>
            <p:cNvSpPr/>
            <p:nvPr/>
          </p:nvSpPr>
          <p:spPr>
            <a:xfrm>
              <a:off x="3078863" y="6234687"/>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Juvelook Volume</a:t>
              </a:r>
              <a:endParaRPr lang="en-US" sz="1183" dirty="0">
                <a:latin typeface="신세계 Regular" panose="02000300000000000000" pitchFamily="50" charset="-127"/>
                <a:ea typeface="신세계 Regular" panose="02000300000000000000" pitchFamily="50" charset="-127"/>
              </a:endParaRPr>
            </a:p>
          </p:txBody>
        </p:sp>
        <p:sp>
          <p:nvSpPr>
            <p:cNvPr id="57" name="Text 18">
              <a:extLst>
                <a:ext uri="{FF2B5EF4-FFF2-40B4-BE49-F238E27FC236}">
                  <a16:creationId xmlns:a16="http://schemas.microsoft.com/office/drawing/2014/main" id="{37C54209-7E29-29E8-2B1C-C7DFCD7E6D68}"/>
                </a:ext>
              </a:extLst>
            </p:cNvPr>
            <p:cNvSpPr/>
            <p:nvPr/>
          </p:nvSpPr>
          <p:spPr>
            <a:xfrm>
              <a:off x="3078863" y="6450577"/>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美しい輪郭をつくるコラーゲンブースター</a:t>
              </a:r>
            </a:p>
          </p:txBody>
        </p:sp>
        <p:sp>
          <p:nvSpPr>
            <p:cNvPr id="60" name="직사각형 59">
              <a:extLst>
                <a:ext uri="{FF2B5EF4-FFF2-40B4-BE49-F238E27FC236}">
                  <a16:creationId xmlns:a16="http://schemas.microsoft.com/office/drawing/2014/main" id="{3B2E1963-D386-0B1D-1573-EC480B2F2AFA}"/>
                </a:ext>
              </a:extLst>
            </p:cNvPr>
            <p:cNvSpPr/>
            <p:nvPr/>
          </p:nvSpPr>
          <p:spPr>
            <a:xfrm>
              <a:off x="3069770" y="5097093"/>
              <a:ext cx="1837632" cy="1040862"/>
            </a:xfrm>
            <a:prstGeom prst="rect">
              <a:avLst/>
            </a:prstGeom>
            <a:blipFill dpi="0" rotWithShape="1">
              <a:blip r:embed="rId12">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9" name="Text 26"/>
          <p:cNvSpPr/>
          <p:nvPr/>
        </p:nvSpPr>
        <p:spPr>
          <a:xfrm>
            <a:off x="927339" y="7460460"/>
            <a:ext cx="2904432" cy="222257"/>
          </a:xfrm>
          <a:prstGeom prst="rect">
            <a:avLst/>
          </a:prstGeom>
          <a:noFill/>
          <a:ln/>
        </p:spPr>
        <p:txBody>
          <a:bodyPr wrap="square" lIns="21079" tIns="21079" rIns="21079" bIns="21079" rtlCol="0" anchor="t">
            <a:normAutofit fontScale="85000" lnSpcReduction="20000"/>
          </a:bodyPr>
          <a:lstStyle/>
          <a:p>
            <a:r>
              <a:rPr lang="ja-JP" sz="1556" b="1" dirty="0">
                <a:solidFill>
                  <a:srgbClr val="1A1A1A"/>
                </a:solidFill>
                <a:latin typeface="신세계 Regular" panose="02000300000000000000" pitchFamily="50" charset="-127"/>
                <a:ea typeface="Yu Gothic"/>
                <a:cs typeface="Sinsegye" pitchFamily="34" charset="-120"/>
              </a:rPr>
              <a:t>コラーゲン / ボリューム</a:t>
            </a:r>
            <a:endParaRPr lang="en-US" sz="1556" dirty="0">
              <a:latin typeface="신세계 Regular" panose="02000300000000000000" pitchFamily="50" charset="-127"/>
              <a:ea typeface="신세계 Regular" panose="02000300000000000000" pitchFamily="50" charset="-127"/>
            </a:endParaRPr>
          </a:p>
        </p:txBody>
      </p:sp>
      <p:grpSp>
        <p:nvGrpSpPr>
          <p:cNvPr id="8" name="그룹 7">
            <a:extLst>
              <a:ext uri="{FF2B5EF4-FFF2-40B4-BE49-F238E27FC236}">
                <a16:creationId xmlns:a16="http://schemas.microsoft.com/office/drawing/2014/main" id="{322D1372-66B1-421E-EC60-58B7C0D34C44}"/>
              </a:ext>
            </a:extLst>
          </p:cNvPr>
          <p:cNvGrpSpPr/>
          <p:nvPr/>
        </p:nvGrpSpPr>
        <p:grpSpPr>
          <a:xfrm>
            <a:off x="5379520" y="3338169"/>
            <a:ext cx="2175436" cy="1732206"/>
            <a:chOff x="927338" y="5508117"/>
            <a:chExt cx="2175436" cy="1732206"/>
          </a:xfrm>
        </p:grpSpPr>
        <p:sp>
          <p:nvSpPr>
            <p:cNvPr id="30" name="Text 27"/>
            <p:cNvSpPr/>
            <p:nvPr/>
          </p:nvSpPr>
          <p:spPr>
            <a:xfrm>
              <a:off x="927338" y="6637729"/>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Celcore</a:t>
              </a:r>
              <a:endParaRPr lang="en-US" sz="1183" dirty="0">
                <a:latin typeface="신세계 Regular" panose="02000300000000000000" pitchFamily="50" charset="-127"/>
                <a:ea typeface="신세계 Regular" panose="02000300000000000000" pitchFamily="50" charset="-127"/>
              </a:endParaRPr>
            </a:p>
          </p:txBody>
        </p:sp>
        <p:sp>
          <p:nvSpPr>
            <p:cNvPr id="31" name="Text 28"/>
            <p:cNvSpPr/>
            <p:nvPr/>
          </p:nvSpPr>
          <p:spPr>
            <a:xfrm>
              <a:off x="927338" y="6853619"/>
              <a:ext cx="2039112" cy="411480"/>
            </a:xfrm>
            <a:prstGeom prst="rect">
              <a:avLst/>
            </a:prstGeom>
            <a:noFill/>
            <a:ln/>
          </p:spPr>
          <p:txBody>
            <a:bodyPr wrap="square" lIns="21079" tIns="21079" rIns="21079" bIns="21079" rtlCol="0" anchor="t">
              <a:noAutofit/>
            </a:bodyPr>
            <a:lstStyle/>
            <a:p>
              <a:pPr>
                <a:lnSpc>
                  <a:spcPct val="131104"/>
                </a:lnSpc>
              </a:pPr>
              <a:r>
                <a:rPr lang="ja-JP" sz="965">
                  <a:solidFill>
                    <a:srgbClr val="555555"/>
                  </a:solidFill>
                  <a:latin typeface="신세계 Regular" panose="02000300000000000000" pitchFamily="50" charset="-127"/>
                  <a:ea typeface="Yu Gothic"/>
                  <a:cs typeface="Sinsegye" pitchFamily="34" charset="-120"/>
                </a:rPr>
                <a:t>ECMベース — 肌の構造的な再生と修復</a:t>
              </a:r>
            </a:p>
          </p:txBody>
        </p:sp>
        <p:sp>
          <p:nvSpPr>
            <p:cNvPr id="75" name="직사각형 74">
              <a:extLst>
                <a:ext uri="{FF2B5EF4-FFF2-40B4-BE49-F238E27FC236}">
                  <a16:creationId xmlns:a16="http://schemas.microsoft.com/office/drawing/2014/main" id="{A2976A93-3C2E-C979-685E-253010963591}"/>
                </a:ext>
              </a:extLst>
            </p:cNvPr>
            <p:cNvSpPr/>
            <p:nvPr/>
          </p:nvSpPr>
          <p:spPr>
            <a:xfrm>
              <a:off x="927338" y="5508117"/>
              <a:ext cx="1837632" cy="1040862"/>
            </a:xfrm>
            <a:prstGeom prst="rect">
              <a:avLst/>
            </a:prstGeom>
            <a:blipFill dpi="0" rotWithShape="1">
              <a:blip r:embed="rId13"/>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9" name="그룹 8">
            <a:extLst>
              <a:ext uri="{FF2B5EF4-FFF2-40B4-BE49-F238E27FC236}">
                <a16:creationId xmlns:a16="http://schemas.microsoft.com/office/drawing/2014/main" id="{33A4B7FF-5B05-CC18-2AF5-6EE4C045689E}"/>
              </a:ext>
            </a:extLst>
          </p:cNvPr>
          <p:cNvGrpSpPr/>
          <p:nvPr/>
        </p:nvGrpSpPr>
        <p:grpSpPr>
          <a:xfrm>
            <a:off x="7521952" y="3338169"/>
            <a:ext cx="2184530" cy="1732206"/>
            <a:chOff x="3069770" y="5508117"/>
            <a:chExt cx="2184530" cy="1732206"/>
          </a:xfrm>
        </p:grpSpPr>
        <p:sp>
          <p:nvSpPr>
            <p:cNvPr id="32" name="Text 29"/>
            <p:cNvSpPr/>
            <p:nvPr/>
          </p:nvSpPr>
          <p:spPr>
            <a:xfrm>
              <a:off x="3078864" y="6637729"/>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Elravie Re2O</a:t>
              </a:r>
              <a:endParaRPr lang="en-US" sz="1183" dirty="0">
                <a:latin typeface="신세계 Regular" panose="02000300000000000000" pitchFamily="50" charset="-127"/>
                <a:ea typeface="신세계 Regular" panose="02000300000000000000" pitchFamily="50" charset="-127"/>
              </a:endParaRPr>
            </a:p>
          </p:txBody>
        </p:sp>
        <p:sp>
          <p:nvSpPr>
            <p:cNvPr id="33" name="Text 30"/>
            <p:cNvSpPr/>
            <p:nvPr/>
          </p:nvSpPr>
          <p:spPr>
            <a:xfrm>
              <a:off x="3078864" y="6853619"/>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同種真皮由来 — 即効性のある肌リモデリング</a:t>
              </a:r>
            </a:p>
          </p:txBody>
        </p:sp>
        <p:sp>
          <p:nvSpPr>
            <p:cNvPr id="77" name="직사각형 76">
              <a:extLst>
                <a:ext uri="{FF2B5EF4-FFF2-40B4-BE49-F238E27FC236}">
                  <a16:creationId xmlns:a16="http://schemas.microsoft.com/office/drawing/2014/main" id="{6FAA6388-BBFB-432C-0BD8-E98CD8943AF2}"/>
                </a:ext>
              </a:extLst>
            </p:cNvPr>
            <p:cNvSpPr/>
            <p:nvPr/>
          </p:nvSpPr>
          <p:spPr>
            <a:xfrm>
              <a:off x="3069770" y="5508117"/>
              <a:ext cx="1837632" cy="1040862"/>
            </a:xfrm>
            <a:prstGeom prst="rect">
              <a:avLst/>
            </a:prstGeom>
            <a:blipFill dpi="0" rotWithShape="1">
              <a:blip r:embed="rId14">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8" name="그룹 47">
            <a:extLst>
              <a:ext uri="{FF2B5EF4-FFF2-40B4-BE49-F238E27FC236}">
                <a16:creationId xmlns:a16="http://schemas.microsoft.com/office/drawing/2014/main" id="{2FC42B10-3699-9EEA-87F1-59402B3CC5BC}"/>
              </a:ext>
            </a:extLst>
          </p:cNvPr>
          <p:cNvGrpSpPr/>
          <p:nvPr/>
        </p:nvGrpSpPr>
        <p:grpSpPr>
          <a:xfrm>
            <a:off x="5379520" y="5174312"/>
            <a:ext cx="2193623" cy="1725027"/>
            <a:chOff x="5212202" y="5515296"/>
            <a:chExt cx="2193623" cy="1725027"/>
          </a:xfrm>
        </p:grpSpPr>
        <p:sp>
          <p:nvSpPr>
            <p:cNvPr id="34" name="Text 31"/>
            <p:cNvSpPr/>
            <p:nvPr/>
          </p:nvSpPr>
          <p:spPr>
            <a:xfrm>
              <a:off x="5230389" y="6637729"/>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Elravie Re2O Fine</a:t>
              </a:r>
              <a:endParaRPr lang="en-US" sz="1183" dirty="0">
                <a:latin typeface="신세계 Regular" panose="02000300000000000000" pitchFamily="50" charset="-127"/>
                <a:ea typeface="신세계 Regular" panose="02000300000000000000" pitchFamily="50" charset="-127"/>
              </a:endParaRPr>
            </a:p>
          </p:txBody>
        </p:sp>
        <p:sp>
          <p:nvSpPr>
            <p:cNvPr id="35" name="Text 32"/>
            <p:cNvSpPr/>
            <p:nvPr/>
          </p:nvSpPr>
          <p:spPr>
            <a:xfrm>
              <a:off x="5230390" y="6853619"/>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デリケートな部位向けの同種真皮スキンブースター</a:t>
              </a:r>
            </a:p>
          </p:txBody>
        </p:sp>
        <p:sp>
          <p:nvSpPr>
            <p:cNvPr id="79" name="직사각형 78">
              <a:extLst>
                <a:ext uri="{FF2B5EF4-FFF2-40B4-BE49-F238E27FC236}">
                  <a16:creationId xmlns:a16="http://schemas.microsoft.com/office/drawing/2014/main" id="{7677C29C-E50A-C685-B8A6-C022B8388B8D}"/>
                </a:ext>
              </a:extLst>
            </p:cNvPr>
            <p:cNvSpPr/>
            <p:nvPr/>
          </p:nvSpPr>
          <p:spPr>
            <a:xfrm>
              <a:off x="5212202" y="5515296"/>
              <a:ext cx="1837632" cy="1040862"/>
            </a:xfrm>
            <a:prstGeom prst="rect">
              <a:avLst/>
            </a:prstGeom>
            <a:blipFill dpi="0" rotWithShape="1">
              <a:blip r:embed="rId1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9" name="Text 36"/>
          <p:cNvSpPr/>
          <p:nvPr/>
        </p:nvSpPr>
        <p:spPr>
          <a:xfrm>
            <a:off x="5379521" y="2959124"/>
            <a:ext cx="4382546" cy="242333"/>
          </a:xfrm>
          <a:prstGeom prst="rect">
            <a:avLst/>
          </a:prstGeom>
          <a:noFill/>
          <a:ln/>
        </p:spPr>
        <p:txBody>
          <a:bodyPr wrap="square" lIns="21079" tIns="21079" rIns="21079" bIns="21079" rtlCol="0" anchor="t">
            <a:normAutofit fontScale="92500" lnSpcReduction="10000"/>
          </a:bodyPr>
          <a:lstStyle/>
          <a:p>
            <a:r>
              <a:rPr lang="en-US" sz="1556" b="1" dirty="0">
                <a:solidFill>
                  <a:srgbClr val="1A1A1A"/>
                </a:solidFill>
                <a:latin typeface="신세계 Regular" panose="02000300000000000000" pitchFamily="50" charset="-127"/>
                <a:ea typeface="신세계 Regular" panose="02000300000000000000" pitchFamily="50" charset="-127"/>
                <a:cs typeface="Sinsegye" pitchFamily="34" charset="-120"/>
              </a:rPr>
              <a:t>ECM</a:t>
            </a:r>
            <a:endParaRPr lang="en-US" sz="1556" dirty="0">
              <a:latin typeface="신세계 Regular" panose="02000300000000000000" pitchFamily="50" charset="-127"/>
              <a:ea typeface="신세계 Regular" panose="02000300000000000000" pitchFamily="50" charset="-127"/>
            </a:endParaRPr>
          </a:p>
        </p:txBody>
      </p:sp>
      <p:grpSp>
        <p:nvGrpSpPr>
          <p:cNvPr id="74" name="그룹 73">
            <a:extLst>
              <a:ext uri="{FF2B5EF4-FFF2-40B4-BE49-F238E27FC236}">
                <a16:creationId xmlns:a16="http://schemas.microsoft.com/office/drawing/2014/main" id="{05C39862-A3A3-AB2E-CAC7-7A613C171073}"/>
              </a:ext>
            </a:extLst>
          </p:cNvPr>
          <p:cNvGrpSpPr/>
          <p:nvPr/>
        </p:nvGrpSpPr>
        <p:grpSpPr>
          <a:xfrm>
            <a:off x="5379520" y="7851915"/>
            <a:ext cx="2175436" cy="1586642"/>
            <a:chOff x="927338" y="7840652"/>
            <a:chExt cx="2175436" cy="1586642"/>
          </a:xfrm>
        </p:grpSpPr>
        <p:sp>
          <p:nvSpPr>
            <p:cNvPr id="40" name="Text 37"/>
            <p:cNvSpPr/>
            <p:nvPr/>
          </p:nvSpPr>
          <p:spPr>
            <a:xfrm>
              <a:off x="927338"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Lilied M</a:t>
              </a:r>
              <a:endParaRPr lang="en-US" sz="1183" dirty="0">
                <a:latin typeface="신세계 Regular" panose="02000300000000000000" pitchFamily="50" charset="-127"/>
                <a:ea typeface="신세계 Regular" panose="02000300000000000000" pitchFamily="50" charset="-127"/>
              </a:endParaRPr>
            </a:p>
          </p:txBody>
        </p:sp>
        <p:sp>
          <p:nvSpPr>
            <p:cNvPr id="41" name="Text 38"/>
            <p:cNvSpPr/>
            <p:nvPr/>
          </p:nvSpPr>
          <p:spPr>
            <a:xfrm>
              <a:off x="927338" y="9218132"/>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HA — 保湿と水分・油分バランスの調整</a:t>
              </a:r>
              <a:endParaRPr lang="en-US" sz="965" dirty="0">
                <a:latin typeface="신세계 Regular" panose="02000300000000000000" pitchFamily="50" charset="-127"/>
                <a:ea typeface="신세계 Regular" panose="02000300000000000000" pitchFamily="50" charset="-127"/>
              </a:endParaRPr>
            </a:p>
          </p:txBody>
        </p:sp>
        <p:sp>
          <p:nvSpPr>
            <p:cNvPr id="83" name="직사각형 82">
              <a:extLst>
                <a:ext uri="{FF2B5EF4-FFF2-40B4-BE49-F238E27FC236}">
                  <a16:creationId xmlns:a16="http://schemas.microsoft.com/office/drawing/2014/main" id="{F8820AC2-0B7C-F3C3-C322-D7F474366210}"/>
                </a:ext>
              </a:extLst>
            </p:cNvPr>
            <p:cNvSpPr/>
            <p:nvPr/>
          </p:nvSpPr>
          <p:spPr>
            <a:xfrm>
              <a:off x="927338" y="7840652"/>
              <a:ext cx="1837632" cy="1040862"/>
            </a:xfrm>
            <a:prstGeom prst="rect">
              <a:avLst/>
            </a:prstGeom>
            <a:blipFill dpi="0" rotWithShape="1">
              <a:blip r:embed="rId1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6" name="그룹 75">
            <a:extLst>
              <a:ext uri="{FF2B5EF4-FFF2-40B4-BE49-F238E27FC236}">
                <a16:creationId xmlns:a16="http://schemas.microsoft.com/office/drawing/2014/main" id="{B7983FEA-4D67-7A57-F534-1D009731D8B9}"/>
              </a:ext>
            </a:extLst>
          </p:cNvPr>
          <p:cNvGrpSpPr/>
          <p:nvPr/>
        </p:nvGrpSpPr>
        <p:grpSpPr>
          <a:xfrm>
            <a:off x="7521952" y="7851915"/>
            <a:ext cx="2184530" cy="1764184"/>
            <a:chOff x="3069770" y="7840652"/>
            <a:chExt cx="2184530" cy="1764184"/>
          </a:xfrm>
        </p:grpSpPr>
        <p:sp>
          <p:nvSpPr>
            <p:cNvPr id="42" name="Text 39"/>
            <p:cNvSpPr/>
            <p:nvPr/>
          </p:nvSpPr>
          <p:spPr>
            <a:xfrm>
              <a:off x="3078864"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Hilowave</a:t>
              </a:r>
              <a:endParaRPr lang="en-US" sz="1183" dirty="0">
                <a:latin typeface="신세계 Regular" panose="02000300000000000000" pitchFamily="50" charset="-127"/>
                <a:ea typeface="신세계 Regular" panose="02000300000000000000" pitchFamily="50" charset="-127"/>
              </a:endParaRPr>
            </a:p>
          </p:txBody>
        </p:sp>
        <p:sp>
          <p:nvSpPr>
            <p:cNvPr id="43" name="Text 40"/>
            <p:cNvSpPr/>
            <p:nvPr/>
          </p:nvSpPr>
          <p:spPr>
            <a:xfrm>
              <a:off x="3078864" y="9218132"/>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高純度HAコラーゲンブースター — 水分 · ハリ · 肌質</a:t>
              </a:r>
              <a:endParaRPr lang="en-US" sz="965" dirty="0">
                <a:solidFill>
                  <a:srgbClr val="555555"/>
                </a:solidFill>
                <a:latin typeface="신세계 Regular" panose="02000300000000000000" pitchFamily="50" charset="-127"/>
                <a:ea typeface="신세계 Regular" panose="02000300000000000000" pitchFamily="50" charset="-127"/>
                <a:cs typeface="Sinsegye" pitchFamily="34" charset="-120"/>
              </a:endParaRPr>
            </a:p>
          </p:txBody>
        </p:sp>
        <p:sp>
          <p:nvSpPr>
            <p:cNvPr id="85" name="직사각형 84">
              <a:extLst>
                <a:ext uri="{FF2B5EF4-FFF2-40B4-BE49-F238E27FC236}">
                  <a16:creationId xmlns:a16="http://schemas.microsoft.com/office/drawing/2014/main" id="{07AC3AC3-F052-C230-853A-99FEF9369ACB}"/>
                </a:ext>
              </a:extLst>
            </p:cNvPr>
            <p:cNvSpPr/>
            <p:nvPr/>
          </p:nvSpPr>
          <p:spPr>
            <a:xfrm>
              <a:off x="3069770" y="7840652"/>
              <a:ext cx="1837632" cy="1040862"/>
            </a:xfrm>
            <a:prstGeom prst="rect">
              <a:avLst/>
            </a:prstGeom>
            <a:blipFill dpi="0" rotWithShape="1">
              <a:blip r:embed="rId17">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1" name="그룹 180">
            <a:extLst>
              <a:ext uri="{FF2B5EF4-FFF2-40B4-BE49-F238E27FC236}">
                <a16:creationId xmlns:a16="http://schemas.microsoft.com/office/drawing/2014/main" id="{C93FF9B0-2397-3227-5BB6-AC461D01FDA9}"/>
              </a:ext>
            </a:extLst>
          </p:cNvPr>
          <p:cNvGrpSpPr/>
          <p:nvPr/>
        </p:nvGrpSpPr>
        <p:grpSpPr>
          <a:xfrm>
            <a:off x="5379520" y="9675648"/>
            <a:ext cx="4345149" cy="1757005"/>
            <a:chOff x="9664384" y="7263323"/>
            <a:chExt cx="4345149" cy="1757005"/>
          </a:xfrm>
        </p:grpSpPr>
        <p:grpSp>
          <p:nvGrpSpPr>
            <p:cNvPr id="78" name="그룹 77">
              <a:extLst>
                <a:ext uri="{FF2B5EF4-FFF2-40B4-BE49-F238E27FC236}">
                  <a16:creationId xmlns:a16="http://schemas.microsoft.com/office/drawing/2014/main" id="{8CBC44F5-AC36-CF95-37DC-3400D4038C9F}"/>
                </a:ext>
              </a:extLst>
            </p:cNvPr>
            <p:cNvGrpSpPr/>
            <p:nvPr/>
          </p:nvGrpSpPr>
          <p:grpSpPr>
            <a:xfrm>
              <a:off x="9664384" y="7263323"/>
              <a:ext cx="2193623" cy="1757005"/>
              <a:chOff x="5212202" y="7847831"/>
              <a:chExt cx="2193623" cy="1757005"/>
            </a:xfrm>
          </p:grpSpPr>
          <p:sp>
            <p:nvSpPr>
              <p:cNvPr id="44" name="Text 41"/>
              <p:cNvSpPr/>
              <p:nvPr/>
            </p:nvSpPr>
            <p:spPr>
              <a:xfrm>
                <a:off x="5230389"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Juvéderm SKINVIVE</a:t>
                </a:r>
                <a:endParaRPr lang="en-US" sz="1183" dirty="0">
                  <a:latin typeface="신세계 Regular" panose="02000300000000000000" pitchFamily="50" charset="-127"/>
                  <a:ea typeface="신세계 Regular" panose="02000300000000000000" pitchFamily="50" charset="-127"/>
                </a:endParaRPr>
              </a:p>
            </p:txBody>
          </p:sp>
          <p:sp>
            <p:nvSpPr>
              <p:cNvPr id="45" name="Text 42"/>
              <p:cNvSpPr/>
              <p:nvPr/>
            </p:nvSpPr>
            <p:spPr>
              <a:xfrm>
                <a:off x="5230390" y="9218132"/>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プレミアムHA — 長時間続く保湿 · 小ジワ改善</a:t>
                </a:r>
              </a:p>
            </p:txBody>
          </p:sp>
          <p:sp>
            <p:nvSpPr>
              <p:cNvPr id="87" name="직사각형 86">
                <a:extLst>
                  <a:ext uri="{FF2B5EF4-FFF2-40B4-BE49-F238E27FC236}">
                    <a16:creationId xmlns:a16="http://schemas.microsoft.com/office/drawing/2014/main" id="{78D7F5B0-12CF-C48D-0374-D756879E73E1}"/>
                  </a:ext>
                </a:extLst>
              </p:cNvPr>
              <p:cNvSpPr/>
              <p:nvPr/>
            </p:nvSpPr>
            <p:spPr>
              <a:xfrm>
                <a:off x="5212202" y="7847831"/>
                <a:ext cx="1837632" cy="1040862"/>
              </a:xfrm>
              <a:prstGeom prst="rect">
                <a:avLst/>
              </a:prstGeom>
              <a:blipFill dpi="0" rotWithShape="1">
                <a:blip r:embed="rId18">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0" name="그룹 79">
              <a:extLst>
                <a:ext uri="{FF2B5EF4-FFF2-40B4-BE49-F238E27FC236}">
                  <a16:creationId xmlns:a16="http://schemas.microsoft.com/office/drawing/2014/main" id="{22A4D949-DF8A-3352-E43B-9DF607312FC8}"/>
                </a:ext>
              </a:extLst>
            </p:cNvPr>
            <p:cNvGrpSpPr/>
            <p:nvPr/>
          </p:nvGrpSpPr>
          <p:grpSpPr>
            <a:xfrm>
              <a:off x="11806816" y="7263323"/>
              <a:ext cx="2202717" cy="1757005"/>
              <a:chOff x="7354634" y="7847831"/>
              <a:chExt cx="2202717" cy="1757005"/>
            </a:xfrm>
          </p:grpSpPr>
          <p:sp>
            <p:nvSpPr>
              <p:cNvPr id="46" name="Text 43"/>
              <p:cNvSpPr/>
              <p:nvPr/>
            </p:nvSpPr>
            <p:spPr>
              <a:xfrm>
                <a:off x="7381915"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Belotero Revive</a:t>
                </a:r>
                <a:endParaRPr lang="en-US" sz="1183" dirty="0">
                  <a:latin typeface="신세계 Regular" panose="02000300000000000000" pitchFamily="50" charset="-127"/>
                  <a:ea typeface="신세계 Regular" panose="02000300000000000000" pitchFamily="50" charset="-127"/>
                </a:endParaRPr>
              </a:p>
            </p:txBody>
          </p:sp>
          <p:sp>
            <p:nvSpPr>
              <p:cNvPr id="47" name="Text 44"/>
              <p:cNvSpPr/>
              <p:nvPr/>
            </p:nvSpPr>
            <p:spPr>
              <a:xfrm>
                <a:off x="7381915" y="9218132"/>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HA + グリセロール — 保湿 · バリア強化 · 抗炎症</a:t>
                </a:r>
                <a:endParaRPr lang="en-US" sz="965" dirty="0">
                  <a:latin typeface="신세계 Regular" panose="02000300000000000000" pitchFamily="50" charset="-127"/>
                  <a:ea typeface="신세계 Regular" panose="02000300000000000000" pitchFamily="50" charset="-127"/>
                </a:endParaRPr>
              </a:p>
            </p:txBody>
          </p:sp>
          <p:sp>
            <p:nvSpPr>
              <p:cNvPr id="89" name="직사각형 88">
                <a:extLst>
                  <a:ext uri="{FF2B5EF4-FFF2-40B4-BE49-F238E27FC236}">
                    <a16:creationId xmlns:a16="http://schemas.microsoft.com/office/drawing/2014/main" id="{6842A6A3-0F28-D48F-2F62-69A6C2DCCBC8}"/>
                  </a:ext>
                </a:extLst>
              </p:cNvPr>
              <p:cNvSpPr/>
              <p:nvPr/>
            </p:nvSpPr>
            <p:spPr>
              <a:xfrm>
                <a:off x="7354634" y="7847831"/>
                <a:ext cx="1837632" cy="1040862"/>
              </a:xfrm>
              <a:prstGeom prst="rect">
                <a:avLst/>
              </a:prstGeom>
              <a:blipFill dpi="0" rotWithShape="1">
                <a:blip r:embed="rId19">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2" name="Text 36">
            <a:extLst>
              <a:ext uri="{FF2B5EF4-FFF2-40B4-BE49-F238E27FC236}">
                <a16:creationId xmlns:a16="http://schemas.microsoft.com/office/drawing/2014/main" id="{7E4C7A88-8F87-BC7C-5E4F-37B6E63124F1}"/>
              </a:ext>
            </a:extLst>
          </p:cNvPr>
          <p:cNvSpPr/>
          <p:nvPr/>
        </p:nvSpPr>
        <p:spPr>
          <a:xfrm>
            <a:off x="5379521" y="7460460"/>
            <a:ext cx="4382546" cy="242333"/>
          </a:xfrm>
          <a:prstGeom prst="rect">
            <a:avLst/>
          </a:prstGeom>
          <a:noFill/>
          <a:ln/>
        </p:spPr>
        <p:txBody>
          <a:bodyPr wrap="square" lIns="21079" tIns="21079" rIns="21079" bIns="21079" rtlCol="0" anchor="t">
            <a:normAutofit fontScale="92500" lnSpcReduction="10000"/>
          </a:bodyPr>
          <a:lstStyle/>
          <a:p>
            <a:r>
              <a:rPr lang="ja-JP" sz="1556" b="1" dirty="0">
                <a:solidFill>
                  <a:srgbClr val="1A1A1A"/>
                </a:solidFill>
                <a:latin typeface="신세계 Regular" panose="02000300000000000000" pitchFamily="50" charset="-127"/>
                <a:ea typeface="Yu Gothic"/>
                <a:cs typeface="Sinsegye" pitchFamily="34" charset="-120"/>
              </a:rPr>
              <a:t>ハリ / 水光</a:t>
            </a:r>
            <a:endParaRPr lang="en-US" sz="1556" dirty="0">
              <a:latin typeface="신세계 Regular" panose="02000300000000000000" pitchFamily="50" charset="-127"/>
              <a:ea typeface="신세계 Regular" panose="02000300000000000000" pitchFamily="50" charset="-127"/>
            </a:endParaRPr>
          </a:p>
        </p:txBody>
      </p:sp>
      <p:sp>
        <p:nvSpPr>
          <p:cNvPr id="127" name="Text 37">
            <a:extLst>
              <a:ext uri="{FF2B5EF4-FFF2-40B4-BE49-F238E27FC236}">
                <a16:creationId xmlns:a16="http://schemas.microsoft.com/office/drawing/2014/main" id="{8703C385-418D-C576-3BD5-9C9EBF15EAC0}"/>
              </a:ext>
            </a:extLst>
          </p:cNvPr>
          <p:cNvSpPr/>
          <p:nvPr/>
        </p:nvSpPr>
        <p:spPr>
          <a:xfrm>
            <a:off x="5379520" y="12632221"/>
            <a:ext cx="2175436" cy="192223"/>
          </a:xfrm>
          <a:prstGeom prst="rect">
            <a:avLst/>
          </a:prstGeom>
          <a:noFill/>
          <a:ln/>
        </p:spPr>
        <p:txBody>
          <a:bodyPr wrap="square" lIns="21079" tIns="21079" rIns="21079" bIns="21079" rtlCol="0" anchor="t">
            <a:normAutofit fontScale="92500" lnSpcReduction="20000"/>
          </a:bodyPr>
          <a:lstStyle/>
          <a:p>
            <a:r>
              <a:rPr lang="ja-JP" sz="1183" b="1">
                <a:solidFill>
                  <a:srgbClr val="1A1A1A"/>
                </a:solidFill>
                <a:latin typeface="신세계 Regular" panose="02000300000000000000" pitchFamily="50" charset="-127"/>
                <a:ea typeface="Yu Gothic"/>
                <a:cs typeface="Sinsegye" pitchFamily="34" charset="-120"/>
              </a:rPr>
              <a:t>HIJU</a:t>
            </a:r>
            <a:endParaRPr lang="en-US" sz="1183" dirty="0">
              <a:latin typeface="신세계 Regular" panose="02000300000000000000" pitchFamily="50" charset="-127"/>
              <a:ea typeface="신세계 Regular" panose="02000300000000000000" pitchFamily="50" charset="-127"/>
            </a:endParaRPr>
          </a:p>
        </p:txBody>
      </p:sp>
      <p:sp>
        <p:nvSpPr>
          <p:cNvPr id="128" name="Text 38">
            <a:extLst>
              <a:ext uri="{FF2B5EF4-FFF2-40B4-BE49-F238E27FC236}">
                <a16:creationId xmlns:a16="http://schemas.microsoft.com/office/drawing/2014/main" id="{D156B3FE-DADC-EC72-3392-A81F5090B9B2}"/>
              </a:ext>
            </a:extLst>
          </p:cNvPr>
          <p:cNvSpPr/>
          <p:nvPr/>
        </p:nvSpPr>
        <p:spPr>
          <a:xfrm>
            <a:off x="5379520" y="12848111"/>
            <a:ext cx="2039112" cy="411480"/>
          </a:xfrm>
          <a:prstGeom prst="rect">
            <a:avLst/>
          </a:prstGeom>
          <a:noFill/>
          <a:ln/>
        </p:spPr>
        <p:txBody>
          <a:bodyPr wrap="square" lIns="21079" tIns="21079" rIns="21079" bIns="21079" rtlCol="0" anchor="t">
            <a:noAutofit/>
          </a:bodyPr>
          <a:lstStyle/>
          <a:p>
            <a:pPr>
              <a:lnSpc>
                <a:spcPct val="131104"/>
              </a:lnSpc>
            </a:pPr>
            <a:r>
              <a:rPr lang="ja-JP" sz="965" dirty="0">
                <a:solidFill>
                  <a:srgbClr val="555555"/>
                </a:solidFill>
                <a:latin typeface="신세계 Regular" panose="02000300000000000000" pitchFamily="50" charset="-127"/>
                <a:ea typeface="Yu Gothic"/>
                <a:cs typeface="Sinsegye" pitchFamily="34" charset="-120"/>
              </a:rPr>
              <a:t>高密度の水分ケア</a:t>
            </a:r>
            <a:endParaRPr lang="en-US" sz="965" dirty="0">
              <a:latin typeface="신세계 Regular" panose="02000300000000000000" pitchFamily="50" charset="-127"/>
              <a:ea typeface="신세계 Regular" panose="02000300000000000000" pitchFamily="50" charset="-127"/>
            </a:endParaRPr>
          </a:p>
        </p:txBody>
      </p:sp>
      <p:grpSp>
        <p:nvGrpSpPr>
          <p:cNvPr id="192" name="그룹 191">
            <a:extLst>
              <a:ext uri="{FF2B5EF4-FFF2-40B4-BE49-F238E27FC236}">
                <a16:creationId xmlns:a16="http://schemas.microsoft.com/office/drawing/2014/main" id="{CF773360-A023-032B-A4FA-4B0B80893B79}"/>
              </a:ext>
            </a:extLst>
          </p:cNvPr>
          <p:cNvGrpSpPr/>
          <p:nvPr/>
        </p:nvGrpSpPr>
        <p:grpSpPr>
          <a:xfrm>
            <a:off x="927338" y="3248885"/>
            <a:ext cx="8432248" cy="0"/>
            <a:chOff x="927338" y="3248885"/>
            <a:chExt cx="8432248" cy="0"/>
          </a:xfrm>
        </p:grpSpPr>
        <p:cxnSp>
          <p:nvCxnSpPr>
            <p:cNvPr id="190" name="직선 연결선 189">
              <a:extLst>
                <a:ext uri="{FF2B5EF4-FFF2-40B4-BE49-F238E27FC236}">
                  <a16:creationId xmlns:a16="http://schemas.microsoft.com/office/drawing/2014/main" id="{01735976-8FB8-113C-2A04-C4D5B5403F33}"/>
                </a:ext>
              </a:extLst>
            </p:cNvPr>
            <p:cNvCxnSpPr>
              <a:cxnSpLocks/>
            </p:cNvCxnSpPr>
            <p:nvPr/>
          </p:nvCxnSpPr>
          <p:spPr>
            <a:xfrm>
              <a:off x="927338"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cxnSp>
          <p:nvCxnSpPr>
            <p:cNvPr id="191" name="직선 연결선 190">
              <a:extLst>
                <a:ext uri="{FF2B5EF4-FFF2-40B4-BE49-F238E27FC236}">
                  <a16:creationId xmlns:a16="http://schemas.microsoft.com/office/drawing/2014/main" id="{9715F6CC-9CE3-EF6B-DD40-AC5C9FBB3CEB}"/>
                </a:ext>
              </a:extLst>
            </p:cNvPr>
            <p:cNvCxnSpPr>
              <a:cxnSpLocks/>
            </p:cNvCxnSpPr>
            <p:nvPr/>
          </p:nvCxnSpPr>
          <p:spPr>
            <a:xfrm>
              <a:off x="5379521"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grpSp>
      <p:grpSp>
        <p:nvGrpSpPr>
          <p:cNvPr id="193" name="그룹 192">
            <a:extLst>
              <a:ext uri="{FF2B5EF4-FFF2-40B4-BE49-F238E27FC236}">
                <a16:creationId xmlns:a16="http://schemas.microsoft.com/office/drawing/2014/main" id="{6780811B-7007-8124-B2BB-2B884832C080}"/>
              </a:ext>
            </a:extLst>
          </p:cNvPr>
          <p:cNvGrpSpPr/>
          <p:nvPr/>
        </p:nvGrpSpPr>
        <p:grpSpPr>
          <a:xfrm>
            <a:off x="927338" y="7760260"/>
            <a:ext cx="8432248" cy="0"/>
            <a:chOff x="927338" y="3248885"/>
            <a:chExt cx="8432248" cy="0"/>
          </a:xfrm>
        </p:grpSpPr>
        <p:cxnSp>
          <p:nvCxnSpPr>
            <p:cNvPr id="194" name="직선 연결선 193">
              <a:extLst>
                <a:ext uri="{FF2B5EF4-FFF2-40B4-BE49-F238E27FC236}">
                  <a16:creationId xmlns:a16="http://schemas.microsoft.com/office/drawing/2014/main" id="{A10763DF-B096-9E02-9E98-EBF1ADD6F58F}"/>
                </a:ext>
              </a:extLst>
            </p:cNvPr>
            <p:cNvCxnSpPr>
              <a:cxnSpLocks/>
            </p:cNvCxnSpPr>
            <p:nvPr/>
          </p:nvCxnSpPr>
          <p:spPr>
            <a:xfrm>
              <a:off x="927338"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cxnSp>
          <p:nvCxnSpPr>
            <p:cNvPr id="195" name="직선 연결선 194">
              <a:extLst>
                <a:ext uri="{FF2B5EF4-FFF2-40B4-BE49-F238E27FC236}">
                  <a16:creationId xmlns:a16="http://schemas.microsoft.com/office/drawing/2014/main" id="{1CE9895A-F689-72E1-7C5E-6FA1C9D5BE46}"/>
                </a:ext>
              </a:extLst>
            </p:cNvPr>
            <p:cNvCxnSpPr>
              <a:cxnSpLocks/>
            </p:cNvCxnSpPr>
            <p:nvPr/>
          </p:nvCxnSpPr>
          <p:spPr>
            <a:xfrm>
              <a:off x="5379521"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grpSp>
      <p:grpSp>
        <p:nvGrpSpPr>
          <p:cNvPr id="3" name="그룹 2">
            <a:extLst>
              <a:ext uri="{FF2B5EF4-FFF2-40B4-BE49-F238E27FC236}">
                <a16:creationId xmlns:a16="http://schemas.microsoft.com/office/drawing/2014/main" id="{DFCF7E86-60CC-4359-125C-759FD1CF35A7}"/>
              </a:ext>
            </a:extLst>
          </p:cNvPr>
          <p:cNvGrpSpPr/>
          <p:nvPr/>
        </p:nvGrpSpPr>
        <p:grpSpPr>
          <a:xfrm>
            <a:off x="3087956" y="6304259"/>
            <a:ext cx="2175436" cy="642064"/>
            <a:chOff x="5230389" y="4422876"/>
            <a:chExt cx="2175436" cy="642064"/>
          </a:xfrm>
        </p:grpSpPr>
        <p:sp>
          <p:nvSpPr>
            <p:cNvPr id="4" name="Text 13">
              <a:extLst>
                <a:ext uri="{FF2B5EF4-FFF2-40B4-BE49-F238E27FC236}">
                  <a16:creationId xmlns:a16="http://schemas.microsoft.com/office/drawing/2014/main" id="{204CB965-F157-1162-5997-13DAB2EC61C2}"/>
                </a:ext>
              </a:extLst>
            </p:cNvPr>
            <p:cNvSpPr/>
            <p:nvPr/>
          </p:nvSpPr>
          <p:spPr>
            <a:xfrm>
              <a:off x="5230389" y="4422876"/>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신세계 Regular" panose="02000300000000000000" pitchFamily="50" charset="-127"/>
                  <a:ea typeface="Yu Gothic"/>
                  <a:cs typeface="Sinsegye" pitchFamily="34" charset="-120"/>
                </a:rPr>
                <a:t>EXOXE</a:t>
              </a:r>
              <a:endParaRPr lang="en-US" sz="1183" dirty="0">
                <a:latin typeface="신세계 Regular" panose="02000300000000000000" pitchFamily="50" charset="-127"/>
                <a:ea typeface="신세계 Regular" panose="02000300000000000000" pitchFamily="50" charset="-127"/>
              </a:endParaRPr>
            </a:p>
          </p:txBody>
        </p:sp>
        <p:sp>
          <p:nvSpPr>
            <p:cNvPr id="7" name="Text 14">
              <a:extLst>
                <a:ext uri="{FF2B5EF4-FFF2-40B4-BE49-F238E27FC236}">
                  <a16:creationId xmlns:a16="http://schemas.microsoft.com/office/drawing/2014/main" id="{0D2CF46A-E595-122C-D7CC-3B57F54930E5}"/>
                </a:ext>
              </a:extLst>
            </p:cNvPr>
            <p:cNvSpPr/>
            <p:nvPr/>
          </p:nvSpPr>
          <p:spPr>
            <a:xfrm>
              <a:off x="5230389" y="4638766"/>
              <a:ext cx="2039112" cy="426174"/>
            </a:xfrm>
            <a:prstGeom prst="rect">
              <a:avLst/>
            </a:prstGeom>
            <a:noFill/>
            <a:ln/>
          </p:spPr>
          <p:txBody>
            <a:bodyPr wrap="square" lIns="21079" tIns="21079" rIns="21079" bIns="21079" rtlCol="0" anchor="t">
              <a:noAutofit/>
            </a:bodyPr>
            <a:lstStyle/>
            <a:p>
              <a:pPr>
                <a:lnSpc>
                  <a:spcPct val="131104"/>
                </a:lnSpc>
              </a:pPr>
              <a:r>
                <a:rPr lang="ja-JP" sz="900" dirty="0">
                  <a:solidFill>
                    <a:srgbClr val="555555"/>
                  </a:solidFill>
                  <a:latin typeface="신세계 Regular" panose="02000300000000000000" pitchFamily="50" charset="-127"/>
                  <a:ea typeface="Yu Gothic"/>
                  <a:cs typeface="Sinsegye" pitchFamily="34" charset="-120"/>
                </a:rPr>
                <a:t>幹細胞由来成分 — 肌の再生とバリア強化</a:t>
              </a:r>
              <a:endParaRPr lang="en-US" altLang="ko-KR" sz="900" dirty="0">
                <a:solidFill>
                  <a:srgbClr val="555555"/>
                </a:solidFill>
                <a:latin typeface="신세계 Regular" panose="02000300000000000000" pitchFamily="50" charset="-127"/>
                <a:ea typeface="신세계 Regular" panose="02000300000000000000" pitchFamily="50" charset="-127"/>
                <a:cs typeface="Sinsegye" pitchFamily="34" charset="-12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0">
    <wetp:webextensionref xmlns:r="http://schemas.openxmlformats.org/officeDocument/2006/relationships" r:id="rId1"/>
  </wetp:taskpane>
  <wetp:taskpane dockstate="right" visibility="0" width="613"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6EA11EE-D77F-4A04-B1C8-08FBA8B6870C}">
  <we:reference id="wa200007130" version="1.0.0.1" store="ko-KR"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82F30BB-FF99-4E57-A1D1-210899C0DE76}">
  <we:reference id="wa200005669" version="2.0.0.0" store="ko-KR"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2674</TotalTime>
  <Words>2081</Words>
  <Application>Microsoft Office PowerPoint</Application>
  <PresentationFormat>사용자 지정</PresentationFormat>
  <Paragraphs>533</Paragraphs>
  <Slides>12</Slides>
  <Notes>12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12</vt:i4>
      </vt:variant>
    </vt:vector>
  </HeadingPairs>
  <TitlesOfParts>
    <vt:vector size="18" baseType="lpstr">
      <vt:lpstr>신세계 Regular</vt:lpstr>
      <vt:lpstr>Arial</vt:lpstr>
      <vt:lpstr>신세계 SemiBold</vt:lpstr>
      <vt:lpstr>신세계 Medium</vt:lpstr>
      <vt:lpstr>신세계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natunohikari030@gmail.com</cp:lastModifiedBy>
  <cp:revision>73</cp:revision>
  <cp:lastPrinted>2026-07-22T06:48:58Z</cp:lastPrinted>
  <dcterms:created xsi:type="dcterms:W3CDTF">2026-07-20T01:44:47Z</dcterms:created>
  <dcterms:modified xsi:type="dcterms:W3CDTF">2026-09-29T09:33:17Z</dcterms:modified>
</cp:coreProperties>
</file>