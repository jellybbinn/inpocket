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4"/>
  </p:notesMasterIdLst>
  <p:sldIdLst>
    <p:sldId id="270" r:id="rId8"/>
    <p:sldId id="269" r:id="rId10"/>
  </p:sldIdLst>
  <p:sldSz cx="10287000" cy="14544675"/>
  <p:notesSz cx="9928225" cy="6797675"/>
  <p:embeddedFontLst>
    <p:embeddedFont>
      <p:font typeface="신세계 Bold" panose="02000300000000000000" pitchFamily="50" charset="-127"/>
      <p:bold r:id="rId15"/>
    </p:embeddedFont>
    <p:embeddedFont>
      <p:font typeface="신세계 Medium" panose="02000300000000000000" pitchFamily="50" charset="-127"/>
      <p:regular r:id="rId16"/>
    </p:embeddedFont>
    <p:embeddedFont>
      <p:font typeface="신세계 Regular" panose="02000300000000000000" pitchFamily="50" charset="-127"/>
      <p:regular r:id="rId17"/>
    </p:embeddedFont>
    <p:embeddedFont>
      <p:font typeface="신세계 SemiBold" panose="02000300000000000000" pitchFamily="50" charset="-127"/>
      <p:bold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7" userDrawn="1">
          <p15:clr>
            <a:srgbClr val="A4A3A4"/>
          </p15:clr>
        </p15:guide>
        <p15:guide id="2" pos="3240" userDrawn="1">
          <p15:clr>
            <a:srgbClr val="A4A3A4"/>
          </p15:clr>
        </p15:guide>
        <p15:guide id="3" orient="horz" pos="1723" userDrawn="1">
          <p15:clr>
            <a:srgbClr val="A4A3A4"/>
          </p15:clr>
        </p15:guide>
        <p15:guide id="4" pos="655" userDrawn="1">
          <p15:clr>
            <a:srgbClr val="A4A3A4"/>
          </p15:clr>
        </p15:guide>
        <p15:guide id="5" pos="5825" userDrawn="1">
          <p15:clr>
            <a:srgbClr val="A4A3A4"/>
          </p15:clr>
        </p15:guide>
        <p15:guide id="6" orient="horz" pos="85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98BD"/>
    <a:srgbClr val="555555"/>
    <a:srgbClr val="CCCCCC"/>
    <a:srgbClr val="A5D4E4"/>
    <a:srgbClr val="FBFDFE"/>
    <a:srgbClr val="D37249"/>
    <a:srgbClr val="76B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3884" y="124"/>
      </p:cViewPr>
      <p:guideLst>
        <p:guide orient="horz" pos="567"/>
        <p:guide pos="3240"/>
        <p:guide orient="horz" pos="1723"/>
        <p:guide pos="655"/>
        <p:guide pos="5825"/>
        <p:guide orient="horz" pos="850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font" Target="fonts/font4.fntdata"/><Relationship Id="rId21" Type="http://schemas.openxmlformats.org/officeDocument/2006/relationships/theme" Target="theme/theme1.xml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759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2E9E5E3-D0DA-8EEA-ADDE-A19F273AD9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2367"/>
            <a:ext cx="10285326" cy="1454704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13" Type="http://schemas.openxmlformats.org/officeDocument/2006/relationships/image" Target="../media/image23.jpg"/><Relationship Id="rId18" Type="http://schemas.openxmlformats.org/officeDocument/2006/relationships/image" Target="../media/image28.jpg"/><Relationship Id="rId3" Type="http://schemas.openxmlformats.org/officeDocument/2006/relationships/image" Target="../media/image13.jpg"/><Relationship Id="rId7" Type="http://schemas.openxmlformats.org/officeDocument/2006/relationships/image" Target="../media/image17.jpg"/><Relationship Id="rId12" Type="http://schemas.openxmlformats.org/officeDocument/2006/relationships/image" Target="../media/image22.jpg"/><Relationship Id="rId17" Type="http://schemas.openxmlformats.org/officeDocument/2006/relationships/image" Target="../media/image27.jp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g"/><Relationship Id="rId11" Type="http://schemas.openxmlformats.org/officeDocument/2006/relationships/image" Target="../media/image21.jpg"/><Relationship Id="rId5" Type="http://schemas.openxmlformats.org/officeDocument/2006/relationships/image" Target="../media/image15.jpg"/><Relationship Id="rId15" Type="http://schemas.openxmlformats.org/officeDocument/2006/relationships/image" Target="../media/image25.jpg"/><Relationship Id="rId10" Type="http://schemas.openxmlformats.org/officeDocument/2006/relationships/image" Target="../media/image20.jpg"/><Relationship Id="rId19" Type="http://schemas.openxmlformats.org/officeDocument/2006/relationships/image" Target="../media/image29.jpg"/><Relationship Id="rId4" Type="http://schemas.openxmlformats.org/officeDocument/2006/relationships/image" Target="../media/image14.jpg"/><Relationship Id="rId9" Type="http://schemas.openxmlformats.org/officeDocument/2006/relationships/image" Target="../media/image19.jpg"/><Relationship Id="rId14" Type="http://schemas.openxmlformats.org/officeDocument/2006/relationships/image" Target="../media/image24.jp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78D4F5C-5968-895D-FA10-0EEB633C7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76" y="5500000"/>
            <a:ext cx="2350000" cy="2350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59560" y="5275000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696259" y="3121477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PICOLITE BLACK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696259" y="3368764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CN" sz="2116" b="1" dirty="0">
                <a:solidFill>
                  <a:srgbClr val="1A1A1A"/>
                </a:solidFill>
                <a:latin typeface="신세계 Regular" panose="02000300000000000000" pitchFamily="50" charset="-127"/>
                <a:ea typeface="Microsoft YaHei"/>
                <a:cs typeface="Sinsegye" pitchFamily="34" charset="-120"/>
              </a:rPr>
              <a:t>PicoLite Black 皮秒激光</a:t>
            </a:r>
            <a:endParaRPr lang="en-US" sz="211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696259" y="3757208"/>
            <a:ext cx="5525013" cy="79041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pPr>
              <a:lnSpc>
                <a:spcPct val="149333"/>
              </a:lnSpc>
            </a:pPr>
            <a:r>
              <a:rPr lang="zh-CN" sz="1245" dirty="0">
                <a:solidFill>
                  <a:srgbClr val="555555"/>
                </a:solidFill>
                <a:latin typeface="신세계 Regular" panose="02000300000000000000" pitchFamily="50" charset="-127"/>
                <a:ea typeface="Microsoft YaHei"/>
                <a:cs typeface="Sinsegye" pitchFamily="34" charset="-120"/>
              </a:rPr>
              <a:t>以万亿分之一秒的超短时间瞬间释放能量的皮秒激光。相比传统纳秒激光刺激更小，可精准、安全地改善色素问题、毛孔、疤痕及肤色。</a:t>
            </a:r>
          </a:p>
        </p:txBody>
      </p:sp>
      <p:sp>
        <p:nvSpPr>
          <p:cNvPr id="14" name="Shape 11"/>
          <p:cNvSpPr/>
          <p:nvPr/>
        </p:nvSpPr>
        <p:spPr>
          <a:xfrm>
            <a:off x="3696259" y="4694741"/>
            <a:ext cx="74371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96259" y="4694741"/>
            <a:ext cx="74371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96" dirty="0">
                <a:solidFill>
                  <a:srgbClr val="2498BD"/>
                </a:solidFill>
                <a:latin typeface="신세계 Regular" panose="02000300000000000000" pitchFamily="50" charset="-127"/>
                <a:ea typeface="Microsoft YaHei"/>
                <a:cs typeface="Sinsegye" pitchFamily="34" charset="-120"/>
              </a:rPr>
              <a:t>皮秒嫩肤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522267" y="4694741"/>
            <a:ext cx="978987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2267" y="4694741"/>
            <a:ext cx="978987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96" dirty="0">
                <a:solidFill>
                  <a:srgbClr val="2498BD"/>
                </a:solidFill>
                <a:latin typeface="신세계 Regular" panose="02000300000000000000" pitchFamily="50" charset="-127"/>
                <a:ea typeface="Microsoft YaHei"/>
                <a:cs typeface="Sinsegye" pitchFamily="34" charset="-120"/>
              </a:rPr>
              <a:t>黄褐斑 · 色斑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583550" y="4694741"/>
            <a:ext cx="978987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83550" y="4694741"/>
            <a:ext cx="978987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96" dirty="0">
                <a:solidFill>
                  <a:srgbClr val="2498BD"/>
                </a:solidFill>
                <a:latin typeface="신세계 Regular" panose="02000300000000000000" pitchFamily="50" charset="-127"/>
                <a:ea typeface="Microsoft YaHei"/>
                <a:cs typeface="Sinsegye" pitchFamily="34" charset="-120"/>
              </a:rPr>
              <a:t>祛痣 · 老年斑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959560" y="8075000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3696259" y="5686777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CO2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696259" y="5934064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CN" sz="2116" dirty="0">
                <a:latin typeface="신세계 Regular" panose="02000300000000000000" pitchFamily="50" charset="-127"/>
                <a:ea typeface="Microsoft YaHei"/>
              </a:rPr>
              <a:t>CO2 激光</a:t>
            </a:r>
          </a:p>
        </p:txBody>
      </p:sp>
      <p:sp>
        <p:nvSpPr>
          <p:cNvPr id="23" name="Text 20"/>
          <p:cNvSpPr/>
          <p:nvPr/>
        </p:nvSpPr>
        <p:spPr>
          <a:xfrm>
            <a:off x="3696259" y="6322507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zh-CN" sz="1200" dirty="0">
                <a:solidFill>
                  <a:srgbClr val="555555"/>
                </a:solidFill>
                <a:latin typeface="신세계 Regular" panose="02000300000000000000" pitchFamily="50" charset="-127"/>
                <a:ea typeface="Microsoft YaHei"/>
                <a:cs typeface="Sinsegye" pitchFamily="34" charset="-120"/>
              </a:rPr>
              <a:t>精准汽化、切除病变组织的激光。适用于痣、粟丘疹、老年斑、扁平疣等多种浅表性皮肤病变的去除，以及皮肤表层再生治疗。</a:t>
            </a:r>
            <a:endParaRPr lang="en-US" sz="12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703417" y="7330836"/>
            <a:ext cx="79324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03417" y="7330836"/>
            <a:ext cx="79324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00" dirty="0">
                <a:solidFill>
                  <a:srgbClr val="2498BD"/>
                </a:solidFill>
                <a:latin typeface="신세계 Regular" panose="02000300000000000000" pitchFamily="50" charset="-127"/>
                <a:ea typeface="Microsoft YaHei"/>
                <a:cs typeface="Sinsegye" pitchFamily="34" charset="-120"/>
              </a:rPr>
              <a:t>痣 · 粟丘疹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578955" y="7330836"/>
            <a:ext cx="79324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8955" y="7330836"/>
            <a:ext cx="79324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00" dirty="0">
                <a:solidFill>
                  <a:srgbClr val="2498BD"/>
                </a:solidFill>
                <a:latin typeface="신세계 Regular" panose="02000300000000000000" pitchFamily="50" charset="-127"/>
                <a:ea typeface="Microsoft YaHei"/>
                <a:cs typeface="Sinsegye" pitchFamily="34" charset="-120"/>
              </a:rPr>
              <a:t>老年斑 · 疣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5454493" y="7330836"/>
            <a:ext cx="923544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54493" y="7330836"/>
            <a:ext cx="923544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00" dirty="0">
                <a:solidFill>
                  <a:srgbClr val="2498BD"/>
                </a:solidFill>
                <a:latin typeface="신세계 Regular" panose="02000300000000000000" pitchFamily="50" charset="-127"/>
                <a:ea typeface="Microsoft YaHei"/>
                <a:cs typeface="Sinsegye" pitchFamily="34" charset="-120"/>
              </a:rPr>
              <a:t>皮肤病变去除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692212" y="8573236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POTENZA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3692212" y="8820523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CN" sz="2116" b="1" dirty="0">
                <a:solidFill>
                  <a:srgbClr val="1A1A1A"/>
                </a:solidFill>
                <a:latin typeface="신세계 Regular" panose="02000300000000000000" pitchFamily="50" charset="-127"/>
                <a:ea typeface="Microsoft YaHei"/>
                <a:cs typeface="Sinsegye" pitchFamily="34" charset="-120"/>
              </a:rPr>
              <a:t>Potenza 微针射频</a:t>
            </a:r>
            <a:endParaRPr lang="en-US" sz="211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3692212" y="9208967"/>
            <a:ext cx="5525013" cy="133216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zh-CN" sz="1200" dirty="0">
                <a:solidFill>
                  <a:srgbClr val="555555"/>
                </a:solidFill>
                <a:latin typeface="신세계 Regular" panose="02000300000000000000" pitchFamily="50" charset="-127"/>
                <a:ea typeface="Microsoft YaHei"/>
                <a:cs typeface="Sinsegye" pitchFamily="34" charset="-120"/>
              </a:rPr>
              <a:t>通过微针穿透皮肤，将射频（RF）能量传递至目标深度的设备。可运用多种针头与模式，帮助改善毛孔、疤痕、肤质及紧致度，并可与皮肤焕活注射联合进行。</a:t>
            </a:r>
            <a:endParaRPr lang="en-US" altLang="ko-KR" sz="1200" dirty="0">
              <a:solidFill>
                <a:srgbClr val="555555"/>
              </a:solidFill>
              <a:latin typeface="신세계 Regular" panose="02000300000000000000" pitchFamily="50" charset="-127"/>
              <a:ea typeface="신세계 Regular" panose="02000300000000000000" pitchFamily="50" charset="-127"/>
              <a:cs typeface="Sinsegye" pitchFamily="34" charset="-12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3692213" y="10262357"/>
            <a:ext cx="852495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92213" y="10262357"/>
            <a:ext cx="852495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96" dirty="0">
                <a:solidFill>
                  <a:srgbClr val="2498BD"/>
                </a:solidFill>
                <a:latin typeface="신세계 Regular" panose="02000300000000000000" pitchFamily="50" charset="-127"/>
                <a:ea typeface="Microsoft YaHei"/>
                <a:cs typeface="Sinsegye" pitchFamily="34" charset="-120"/>
              </a:rPr>
              <a:t>毛孔 · 疤痕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627004" y="10262357"/>
            <a:ext cx="79324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27004" y="10262357"/>
            <a:ext cx="79324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00" dirty="0">
                <a:solidFill>
                  <a:srgbClr val="2498BD"/>
                </a:solidFill>
                <a:latin typeface="신세계 Regular" panose="02000300000000000000" pitchFamily="50" charset="-127"/>
                <a:ea typeface="Microsoft YaHei"/>
                <a:cs typeface="Sinsegye" pitchFamily="34" charset="-120"/>
              </a:rPr>
              <a:t>肤质 · 紧致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5502542" y="10262357"/>
            <a:ext cx="923544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502542" y="10262357"/>
            <a:ext cx="923544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00" dirty="0">
                <a:solidFill>
                  <a:srgbClr val="2498BD"/>
                </a:solidFill>
                <a:latin typeface="신세계 Regular" panose="02000300000000000000" pitchFamily="50" charset="-127"/>
                <a:ea typeface="Microsoft YaHei"/>
                <a:cs typeface="Sinsegye" pitchFamily="34" charset="-120"/>
              </a:rPr>
              <a:t>焕活成分导入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400A6657-6F48-ADE3-DB13-1E62AC0C71C0}"/>
              </a:ext>
            </a:extLst>
          </p:cNvPr>
          <p:cNvSpPr/>
          <p:nvPr/>
        </p:nvSpPr>
        <p:spPr>
          <a:xfrm>
            <a:off x="-514350" y="870569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LASER DEVICE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A663DAAC-9F0E-D76E-F04A-1CA202856152}"/>
              </a:ext>
            </a:extLst>
          </p:cNvPr>
          <p:cNvSpPr/>
          <p:nvPr/>
        </p:nvSpPr>
        <p:spPr>
          <a:xfrm>
            <a:off x="-514350" y="1071912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CN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Microsoft YaHei"/>
                <a:cs typeface="Sinsegye" pitchFamily="34" charset="-120"/>
              </a:rPr>
              <a:t>激光仪器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7E90CE31-A7BE-6A9D-AF73-C05029D04989}"/>
              </a:ext>
            </a:extLst>
          </p:cNvPr>
          <p:cNvSpPr/>
          <p:nvPr/>
        </p:nvSpPr>
        <p:spPr>
          <a:xfrm>
            <a:off x="-514350" y="1545398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zh-CN" sz="1275" dirty="0">
                <a:solidFill>
                  <a:srgbClr val="6E6E6E"/>
                </a:solidFill>
                <a:latin typeface="신세계 Regular" panose="02000300000000000000" pitchFamily="50" charset="-127"/>
                <a:ea typeface="Microsoft YaHei"/>
                <a:cs typeface="Arial" pitchFamily="34" charset="-120"/>
              </a:rPr>
              <a:t>黄褐斑/色斑 · 泛红 · 毛孔/疤痕</a:t>
            </a:r>
            <a:endParaRPr lang="en-US" altLang="ko-KR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D2E024A-8258-FA04-99BC-D067A9E87B7D}"/>
              </a:ext>
            </a:extLst>
          </p:cNvPr>
          <p:cNvSpPr/>
          <p:nvPr/>
        </p:nvSpPr>
        <p:spPr>
          <a:xfrm>
            <a:off x="1016176" y="2700000"/>
            <a:ext cx="2350000" cy="2350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D500FF6-2B65-31BF-F85E-6A79A6A3FD6A}"/>
              </a:ext>
            </a:extLst>
          </p:cNvPr>
          <p:cNvSpPr/>
          <p:nvPr/>
        </p:nvSpPr>
        <p:spPr>
          <a:xfrm>
            <a:off x="1016176" y="8300000"/>
            <a:ext cx="2350000" cy="23500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BBL Divider"/>
          <p:cNvSpPr/>
          <p:nvPr/>
        </p:nvSpPr>
        <p:spPr>
          <a:xfrm>
            <a:off x="959560" y="10875000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102" name="BBL Label"/>
          <p:cNvSpPr/>
          <p:nvPr/>
        </p:nvSpPr>
        <p:spPr>
          <a:xfrm>
            <a:off x="3696259" y="11286777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BROADBAND LIGHT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3" name="BBL Name"/>
          <p:cNvSpPr/>
          <p:nvPr/>
        </p:nvSpPr>
        <p:spPr>
          <a:xfrm>
            <a:off x="3696259" y="11534064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2116" b="1" dirty="0">
                <a:latin typeface="신세계 Regular" panose="02000300000000000000" pitchFamily="50" charset="-127"/>
                <a:ea typeface="신세계 Regular" panose="02000300000000000000" pitchFamily="50" charset="-127"/>
              </a:rPr>
              <a:t>BBL</a:t>
            </a:r>
          </a:p>
        </p:txBody>
      </p:sp>
      <p:sp>
        <p:nvSpPr>
          <p:cNvPr id="104" name="BBL Desc"/>
          <p:cNvSpPr/>
          <p:nvPr/>
        </p:nvSpPr>
        <p:spPr>
          <a:xfrm>
            <a:off x="3696259" y="11922507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zh-CN" sz="1200" dirty="0">
                <a:solidFill>
                  <a:srgbClr val="555555"/>
                </a:solidFill>
                <a:latin typeface="신세계 Regular" panose="02000300000000000000" pitchFamily="50" charset="-127"/>
                <a:ea typeface="Microsoft YaHei"/>
                <a:cs typeface="Sinsegye" pitchFamily="34" charset="-120"/>
              </a:rPr>
              <a:t>将宽光谱光（BroadBand Light）能量按皮肤深度传递的光疗设备。可同时改善黄褐斑、色斑等色素问题及泛红、血管性病变，令肤色与肤质清透均匀。</a:t>
            </a:r>
            <a:endParaRPr lang="en-US" sz="12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5" name="BBL Tag 1"/>
          <p:cNvSpPr/>
          <p:nvPr/>
        </p:nvSpPr>
        <p:spPr>
          <a:xfrm>
            <a:off x="3703417" y="12930836"/>
            <a:ext cx="90754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06" name="BBL TagText 1"/>
          <p:cNvSpPr/>
          <p:nvPr/>
        </p:nvSpPr>
        <p:spPr>
          <a:xfrm>
            <a:off x="3703417" y="12930836"/>
            <a:ext cx="90754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00" dirty="0">
                <a:solidFill>
                  <a:srgbClr val="2498BD"/>
                </a:solidFill>
                <a:latin typeface="신세계 Regular" panose="02000300000000000000" pitchFamily="50" charset="-127"/>
                <a:ea typeface="Microsoft YaHei"/>
                <a:cs typeface="Sinsegye" pitchFamily="34" charset="-120"/>
              </a:rPr>
              <a:t>黄褐斑 · 色斑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7" name="BBL Tag 2"/>
          <p:cNvSpPr/>
          <p:nvPr/>
        </p:nvSpPr>
        <p:spPr>
          <a:xfrm>
            <a:off x="4693255" y="12930836"/>
            <a:ext cx="79324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08" name="BBL TagText 2"/>
          <p:cNvSpPr/>
          <p:nvPr/>
        </p:nvSpPr>
        <p:spPr>
          <a:xfrm>
            <a:off x="4693255" y="12930836"/>
            <a:ext cx="79324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00" dirty="0">
                <a:solidFill>
                  <a:srgbClr val="2498BD"/>
                </a:solidFill>
                <a:latin typeface="신세계 Regular" panose="02000300000000000000" pitchFamily="50" charset="-127"/>
                <a:ea typeface="Microsoft YaHei"/>
                <a:cs typeface="Sinsegye" pitchFamily="34" charset="-120"/>
              </a:rPr>
              <a:t>泛红 · 血管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9" name="BBL Tag 3"/>
          <p:cNvSpPr/>
          <p:nvPr/>
        </p:nvSpPr>
        <p:spPr>
          <a:xfrm>
            <a:off x="5568793" y="12930836"/>
            <a:ext cx="694944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10" name="BBL TagText 3"/>
          <p:cNvSpPr/>
          <p:nvPr/>
        </p:nvSpPr>
        <p:spPr>
          <a:xfrm>
            <a:off x="5568793" y="12930836"/>
            <a:ext cx="694944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00" dirty="0">
                <a:solidFill>
                  <a:srgbClr val="2498BD"/>
                </a:solidFill>
                <a:latin typeface="신세계 Regular" panose="02000300000000000000" pitchFamily="50" charset="-127"/>
                <a:ea typeface="Microsoft YaHei"/>
                <a:cs typeface="Sinsegye" pitchFamily="34" charset="-120"/>
              </a:rPr>
              <a:t>肤色改善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11" name="BBL 이미지"/>
          <p:cNvSpPr/>
          <p:nvPr/>
        </p:nvSpPr>
        <p:spPr>
          <a:xfrm>
            <a:off x="1016176" y="11100000"/>
            <a:ext cx="2350000" cy="235000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F374F5D5-A62C-4439-C792-C9D88D304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268" y="5174312"/>
            <a:ext cx="1830633" cy="104411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54" name="Text 3">
            <a:extLst>
              <a:ext uri="{FF2B5EF4-FFF2-40B4-BE49-F238E27FC236}">
                <a16:creationId xmlns:a16="http://schemas.microsoft.com/office/drawing/2014/main" id="{70B1DE5D-40DB-EE22-ECCD-C0972A197244}"/>
              </a:ext>
            </a:extLst>
          </p:cNvPr>
          <p:cNvSpPr/>
          <p:nvPr/>
        </p:nvSpPr>
        <p:spPr>
          <a:xfrm>
            <a:off x="-514350" y="868094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SKIN BOOSTER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6" name="Text 4">
            <a:extLst>
              <a:ext uri="{FF2B5EF4-FFF2-40B4-BE49-F238E27FC236}">
                <a16:creationId xmlns:a16="http://schemas.microsoft.com/office/drawing/2014/main" id="{2A98A99F-80A2-D258-DB15-5DF5F5E994F0}"/>
              </a:ext>
            </a:extLst>
          </p:cNvPr>
          <p:cNvSpPr/>
          <p:nvPr/>
        </p:nvSpPr>
        <p:spPr>
          <a:xfrm>
            <a:off x="-514350" y="1069437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CN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Microsoft YaHei"/>
                <a:cs typeface="Sinsegye" pitchFamily="34" charset="-120"/>
              </a:rPr>
              <a:t>皮肤焕活注射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3F9F0950-79CD-71D1-D16C-D4F9BB36487D}"/>
              </a:ext>
            </a:extLst>
          </p:cNvPr>
          <p:cNvSpPr/>
          <p:nvPr/>
        </p:nvSpPr>
        <p:spPr>
          <a:xfrm>
            <a:off x="-514350" y="1542923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zh-CN" sz="1275" dirty="0">
                <a:solidFill>
                  <a:srgbClr val="6E6E6E"/>
                </a:solidFill>
                <a:latin typeface="신세계 Regular" panose="02000300000000000000" pitchFamily="50" charset="-127"/>
                <a:ea typeface="Microsoft YaHei"/>
                <a:cs typeface="Arial" pitchFamily="34" charset="-120"/>
              </a:rPr>
              <a:t>再生 · 胶原蛋白/丰盈 · ECM · 弹力/水光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pic>
        <p:nvPicPr>
          <p:cNvPr id="183" name="그림 182">
            <a:extLst>
              <a:ext uri="{FF2B5EF4-FFF2-40B4-BE49-F238E27FC236}">
                <a16:creationId xmlns:a16="http://schemas.microsoft.com/office/drawing/2014/main" id="{05C60A78-E929-024F-11CE-12017848E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9520" y="11470631"/>
            <a:ext cx="1837632" cy="1048111"/>
          </a:xfrm>
          <a:prstGeom prst="rect">
            <a:avLst/>
          </a:prstGeom>
          <a:ln w="12700">
            <a:solidFill>
              <a:schemeClr val="bg1">
                <a:lumMod val="95000"/>
              </a:schemeClr>
            </a:solidFill>
          </a:ln>
        </p:spPr>
      </p:pic>
      <p:sp>
        <p:nvSpPr>
          <p:cNvPr id="11" name="Text 8"/>
          <p:cNvSpPr/>
          <p:nvPr/>
        </p:nvSpPr>
        <p:spPr>
          <a:xfrm>
            <a:off x="927339" y="2959124"/>
            <a:ext cx="9275470" cy="24233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CN" sz="1556" b="1" dirty="0">
                <a:solidFill>
                  <a:srgbClr val="1A1A1A"/>
                </a:solidFill>
                <a:latin typeface="신세계 Regular" panose="02000300000000000000" pitchFamily="50" charset="-127"/>
                <a:ea typeface="Microsoft YaHei"/>
                <a:cs typeface="Sinsegye" pitchFamily="34" charset="-120"/>
              </a:rPr>
              <a:t>再生</a:t>
            </a:r>
            <a:endParaRPr lang="en-US" altLang="ko-KR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32AB248D-F131-E8F2-0733-C64244F22B3D}"/>
              </a:ext>
            </a:extLst>
          </p:cNvPr>
          <p:cNvGrpSpPr/>
          <p:nvPr/>
        </p:nvGrpSpPr>
        <p:grpSpPr>
          <a:xfrm>
            <a:off x="927338" y="3369812"/>
            <a:ext cx="2175436" cy="1554999"/>
            <a:chOff x="927338" y="3292929"/>
            <a:chExt cx="2175436" cy="1554999"/>
          </a:xfrm>
        </p:grpSpPr>
        <p:sp>
          <p:nvSpPr>
            <p:cNvPr id="12" name="Text 9"/>
            <p:cNvSpPr/>
            <p:nvPr/>
          </p:nvSpPr>
          <p:spPr>
            <a:xfrm>
              <a:off x="927338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Rejuran Healer R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13" name="Text 10"/>
            <p:cNvSpPr/>
            <p:nvPr/>
          </p:nvSpPr>
          <p:spPr>
            <a:xfrm>
              <a:off x="927338" y="4638766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CN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三文鱼提取 PN — 强化皮肤屏障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A5BF1024-D103-4CF7-087A-3BC9F0A918A1}"/>
                </a:ext>
              </a:extLst>
            </p:cNvPr>
            <p:cNvSpPr/>
            <p:nvPr/>
          </p:nvSpPr>
          <p:spPr>
            <a:xfrm>
              <a:off x="927339" y="3292929"/>
              <a:ext cx="1837632" cy="1040862"/>
            </a:xfrm>
            <a:prstGeom prst="rect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0629E457-9CAC-078C-E409-E48937729BBD}"/>
              </a:ext>
            </a:extLst>
          </p:cNvPr>
          <p:cNvGrpSpPr/>
          <p:nvPr/>
        </p:nvGrpSpPr>
        <p:grpSpPr>
          <a:xfrm>
            <a:off x="927338" y="5174312"/>
            <a:ext cx="2193623" cy="1554999"/>
            <a:chOff x="5212202" y="3292929"/>
            <a:chExt cx="2193623" cy="1554999"/>
          </a:xfrm>
        </p:grpSpPr>
        <p:sp>
          <p:nvSpPr>
            <p:cNvPr id="16" name="Text 13"/>
            <p:cNvSpPr/>
            <p:nvPr/>
          </p:nvSpPr>
          <p:spPr>
            <a:xfrm>
              <a:off x="5230389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Rejuran Healer I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17" name="Text 14"/>
            <p:cNvSpPr/>
            <p:nvPr/>
          </p:nvSpPr>
          <p:spPr>
            <a:xfrm>
              <a:off x="5230389" y="4638766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CN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眼周专用 · 淡化细纹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91A01021-BD47-EBD4-6847-95ED29822700}"/>
                </a:ext>
              </a:extLst>
            </p:cNvPr>
            <p:cNvSpPr/>
            <p:nvPr/>
          </p:nvSpPr>
          <p:spPr>
            <a:xfrm>
              <a:off x="5212202" y="3292929"/>
              <a:ext cx="1837632" cy="1040862"/>
            </a:xfrm>
            <a:prstGeom prst="rect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0E6322D0-35FD-9B7B-82C4-C23F485DD1F6}"/>
              </a:ext>
            </a:extLst>
          </p:cNvPr>
          <p:cNvGrpSpPr/>
          <p:nvPr/>
        </p:nvGrpSpPr>
        <p:grpSpPr>
          <a:xfrm>
            <a:off x="3069771" y="3369812"/>
            <a:ext cx="2184529" cy="1732541"/>
            <a:chOff x="3069771" y="3292929"/>
            <a:chExt cx="2184529" cy="1732541"/>
          </a:xfrm>
        </p:grpSpPr>
        <p:sp>
          <p:nvSpPr>
            <p:cNvPr id="14" name="Text 11"/>
            <p:cNvSpPr/>
            <p:nvPr/>
          </p:nvSpPr>
          <p:spPr>
            <a:xfrm>
              <a:off x="3078864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Rejuran Healer HB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15" name="Text 12"/>
            <p:cNvSpPr/>
            <p:nvPr/>
          </p:nvSpPr>
          <p:spPr>
            <a:xfrm>
              <a:off x="3078864" y="4638766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CN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低疼痛 · 含玻尿酸兼具保湿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5F669CEB-1944-DA80-6059-C5088AE6DDA2}"/>
                </a:ext>
              </a:extLst>
            </p:cNvPr>
            <p:cNvSpPr/>
            <p:nvPr/>
          </p:nvSpPr>
          <p:spPr>
            <a:xfrm>
              <a:off x="3069771" y="3292929"/>
              <a:ext cx="1837632" cy="1040862"/>
            </a:xfrm>
            <a:prstGeom prst="rect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BE415609-DD49-C267-01F0-EA8DA016F142}"/>
              </a:ext>
            </a:extLst>
          </p:cNvPr>
          <p:cNvGrpSpPr/>
          <p:nvPr/>
        </p:nvGrpSpPr>
        <p:grpSpPr>
          <a:xfrm>
            <a:off x="927338" y="11470631"/>
            <a:ext cx="2202717" cy="1733009"/>
            <a:chOff x="7354634" y="5104272"/>
            <a:chExt cx="2202717" cy="1733009"/>
          </a:xfrm>
        </p:grpSpPr>
        <p:sp>
          <p:nvSpPr>
            <p:cNvPr id="26" name="Text 23"/>
            <p:cNvSpPr/>
            <p:nvPr/>
          </p:nvSpPr>
          <p:spPr>
            <a:xfrm>
              <a:off x="7381915" y="6234687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1183" b="1">
                  <a:solidFill>
                    <a:srgbClr val="1A1A1A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Sculptra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27" name="Text 24"/>
            <p:cNvSpPr/>
            <p:nvPr/>
          </p:nvSpPr>
          <p:spPr>
            <a:xfrm>
              <a:off x="7381915" y="6450577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CN" sz="965">
                  <a:solidFill>
                    <a:srgbClr val="555555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PLLA — 自然丰盈感与均衡轮廓</a:t>
              </a: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BCD8F2FE-5D5E-8AC1-8B02-8005175B46E3}"/>
                </a:ext>
              </a:extLst>
            </p:cNvPr>
            <p:cNvSpPr/>
            <p:nvPr/>
          </p:nvSpPr>
          <p:spPr>
            <a:xfrm>
              <a:off x="7354634" y="5104272"/>
              <a:ext cx="1837632" cy="1040862"/>
            </a:xfrm>
            <a:prstGeom prst="rect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896F72D-9F51-4BEA-799D-655D1545DD4F}"/>
              </a:ext>
            </a:extLst>
          </p:cNvPr>
          <p:cNvGrpSpPr/>
          <p:nvPr/>
        </p:nvGrpSpPr>
        <p:grpSpPr>
          <a:xfrm>
            <a:off x="927338" y="9675648"/>
            <a:ext cx="2202716" cy="1685006"/>
            <a:chOff x="7354635" y="3300108"/>
            <a:chExt cx="2202716" cy="1685006"/>
          </a:xfrm>
        </p:grpSpPr>
        <p:sp>
          <p:nvSpPr>
            <p:cNvPr id="22" name="Text 19"/>
            <p:cNvSpPr/>
            <p:nvPr/>
          </p:nvSpPr>
          <p:spPr>
            <a:xfrm>
              <a:off x="7381915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1183" b="1">
                  <a:solidFill>
                    <a:srgbClr val="1A1A1A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 xml:space="preserve">Olidia </a:t>
              </a:r>
              <a:r>
                <a:rPr lang="zh-CN" sz="934">
                  <a:solidFill>
                    <a:srgbClr val="6E6E6E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 xml:space="preserve">120 · 365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23" name="Text 20"/>
            <p:cNvSpPr/>
            <p:nvPr/>
          </p:nvSpPr>
          <p:spPr>
            <a:xfrm>
              <a:off x="7381915" y="4598410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CN" sz="965">
                  <a:solidFill>
                    <a:srgbClr val="555555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PLLA — 刺激成纤维细胞，促进胶原蛋白生成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DFCC2E1F-378F-2FA4-C71B-961B07F06797}"/>
                </a:ext>
              </a:extLst>
            </p:cNvPr>
            <p:cNvSpPr/>
            <p:nvPr/>
          </p:nvSpPr>
          <p:spPr>
            <a:xfrm>
              <a:off x="7354635" y="3300108"/>
              <a:ext cx="1837632" cy="1040862"/>
            </a:xfrm>
            <a:prstGeom prst="rect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50A7581D-D363-162D-470A-28A79D76B2D1}"/>
              </a:ext>
            </a:extLst>
          </p:cNvPr>
          <p:cNvGrpSpPr/>
          <p:nvPr/>
        </p:nvGrpSpPr>
        <p:grpSpPr>
          <a:xfrm>
            <a:off x="3078864" y="9675648"/>
            <a:ext cx="2193623" cy="1733009"/>
            <a:chOff x="5212202" y="5104272"/>
            <a:chExt cx="2193623" cy="1733009"/>
          </a:xfrm>
        </p:grpSpPr>
        <p:sp>
          <p:nvSpPr>
            <p:cNvPr id="24" name="Text 21"/>
            <p:cNvSpPr/>
            <p:nvPr/>
          </p:nvSpPr>
          <p:spPr>
            <a:xfrm>
              <a:off x="5230389" y="6234687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1183" b="1">
                  <a:solidFill>
                    <a:srgbClr val="1A1A1A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Radiesse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25" name="Text 22"/>
            <p:cNvSpPr/>
            <p:nvPr/>
          </p:nvSpPr>
          <p:spPr>
            <a:xfrm>
              <a:off x="5230390" y="6450577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CN" sz="965">
                  <a:solidFill>
                    <a:srgbClr val="555555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CaHA — 即时丰盈与持久弹力</a:t>
              </a: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F25357A3-24F0-10F9-3F57-01C1A0F34EAE}"/>
                </a:ext>
              </a:extLst>
            </p:cNvPr>
            <p:cNvSpPr/>
            <p:nvPr/>
          </p:nvSpPr>
          <p:spPr>
            <a:xfrm>
              <a:off x="5212202" y="5104272"/>
              <a:ext cx="1837632" cy="1040862"/>
            </a:xfrm>
            <a:prstGeom prst="rect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54C190F9-BDA6-D466-EC6D-0E6D9D573C8B}"/>
              </a:ext>
            </a:extLst>
          </p:cNvPr>
          <p:cNvGrpSpPr/>
          <p:nvPr/>
        </p:nvGrpSpPr>
        <p:grpSpPr>
          <a:xfrm>
            <a:off x="927338" y="7871484"/>
            <a:ext cx="2175437" cy="1562646"/>
            <a:chOff x="927338" y="5097093"/>
            <a:chExt cx="2175437" cy="1562646"/>
          </a:xfrm>
        </p:grpSpPr>
        <p:sp>
          <p:nvSpPr>
            <p:cNvPr id="50" name="Text 15">
              <a:extLst>
                <a:ext uri="{FF2B5EF4-FFF2-40B4-BE49-F238E27FC236}">
                  <a16:creationId xmlns:a16="http://schemas.microsoft.com/office/drawing/2014/main" id="{B267F8B4-B4A0-BF67-6F01-F232C05EFE80}"/>
                </a:ext>
              </a:extLst>
            </p:cNvPr>
            <p:cNvSpPr/>
            <p:nvPr/>
          </p:nvSpPr>
          <p:spPr>
            <a:xfrm>
              <a:off x="927339" y="6234687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1183" b="1">
                  <a:solidFill>
                    <a:srgbClr val="1A1A1A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Juvelook Skin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1" name="Text 16">
              <a:extLst>
                <a:ext uri="{FF2B5EF4-FFF2-40B4-BE49-F238E27FC236}">
                  <a16:creationId xmlns:a16="http://schemas.microsoft.com/office/drawing/2014/main" id="{1B32C0F2-7B72-51EC-8E75-6BE570894F8E}"/>
                </a:ext>
              </a:extLst>
            </p:cNvPr>
            <p:cNvSpPr/>
            <p:nvPr/>
          </p:nvSpPr>
          <p:spPr>
            <a:xfrm>
              <a:off x="927339" y="6450577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CN" sz="965">
                  <a:solidFill>
                    <a:srgbClr val="555555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PDLLA — 改善肤质 · 收缩毛孔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0730483F-ED13-E0B0-94A9-17B6EBC20138}"/>
                </a:ext>
              </a:extLst>
            </p:cNvPr>
            <p:cNvSpPr/>
            <p:nvPr/>
          </p:nvSpPr>
          <p:spPr>
            <a:xfrm>
              <a:off x="927338" y="5097093"/>
              <a:ext cx="1837632" cy="1040862"/>
            </a:xfrm>
            <a:prstGeom prst="rect">
              <a:avLst/>
            </a:prstGeom>
            <a:blipFill dpi="0"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0AAF7C7-7E88-959E-4B8F-1097235CB6AD}"/>
              </a:ext>
            </a:extLst>
          </p:cNvPr>
          <p:cNvGrpSpPr/>
          <p:nvPr/>
        </p:nvGrpSpPr>
        <p:grpSpPr>
          <a:xfrm>
            <a:off x="3069770" y="7871484"/>
            <a:ext cx="2184529" cy="1740188"/>
            <a:chOff x="3069770" y="5097093"/>
            <a:chExt cx="2184529" cy="1740188"/>
          </a:xfrm>
        </p:grpSpPr>
        <p:sp>
          <p:nvSpPr>
            <p:cNvPr id="55" name="Text 17">
              <a:extLst>
                <a:ext uri="{FF2B5EF4-FFF2-40B4-BE49-F238E27FC236}">
                  <a16:creationId xmlns:a16="http://schemas.microsoft.com/office/drawing/2014/main" id="{B0BECB8D-00BB-52AA-0DCE-4B70AE925F25}"/>
                </a:ext>
              </a:extLst>
            </p:cNvPr>
            <p:cNvSpPr/>
            <p:nvPr/>
          </p:nvSpPr>
          <p:spPr>
            <a:xfrm>
              <a:off x="3078863" y="6234687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1183" b="1">
                  <a:solidFill>
                    <a:srgbClr val="1A1A1A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Juvelook Volume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7" name="Text 18">
              <a:extLst>
                <a:ext uri="{FF2B5EF4-FFF2-40B4-BE49-F238E27FC236}">
                  <a16:creationId xmlns:a16="http://schemas.microsoft.com/office/drawing/2014/main" id="{37C54209-7E29-29E8-2B1C-C7DFCD7E6D68}"/>
                </a:ext>
              </a:extLst>
            </p:cNvPr>
            <p:cNvSpPr/>
            <p:nvPr/>
          </p:nvSpPr>
          <p:spPr>
            <a:xfrm>
              <a:off x="3078863" y="6450577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CN" sz="965">
                  <a:solidFill>
                    <a:srgbClr val="555555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打造优雅轮廓的胶原蛋白焕活剂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3B2E1963-D386-0B1D-1573-EC480B2F2AFA}"/>
                </a:ext>
              </a:extLst>
            </p:cNvPr>
            <p:cNvSpPr/>
            <p:nvPr/>
          </p:nvSpPr>
          <p:spPr>
            <a:xfrm>
              <a:off x="3069770" y="5097093"/>
              <a:ext cx="1837632" cy="1040862"/>
            </a:xfrm>
            <a:prstGeom prst="rect">
              <a:avLst/>
            </a:prstGeom>
            <a:blipFill dpi="0"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 26"/>
          <p:cNvSpPr/>
          <p:nvPr/>
        </p:nvSpPr>
        <p:spPr>
          <a:xfrm>
            <a:off x="927339" y="7460460"/>
            <a:ext cx="2904432" cy="22225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85000" lnSpcReduction="20000"/>
          </a:bodyPr>
          <a:lstStyle/>
          <a:p>
            <a:r>
              <a:rPr lang="zh-CN" sz="1556" b="1" dirty="0">
                <a:solidFill>
                  <a:srgbClr val="1A1A1A"/>
                </a:solidFill>
                <a:latin typeface="신세계 Regular" panose="02000300000000000000" pitchFamily="50" charset="-127"/>
                <a:ea typeface="Microsoft YaHei"/>
                <a:cs typeface="Sinsegye" pitchFamily="34" charset="-120"/>
              </a:rPr>
              <a:t>胶原蛋白 / 丰盈</a:t>
            </a:r>
            <a:endParaRPr lang="en-US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22D1372-66B1-421E-EC60-58B7C0D34C44}"/>
              </a:ext>
            </a:extLst>
          </p:cNvPr>
          <p:cNvGrpSpPr/>
          <p:nvPr/>
        </p:nvGrpSpPr>
        <p:grpSpPr>
          <a:xfrm>
            <a:off x="5379520" y="3338169"/>
            <a:ext cx="2175436" cy="1732206"/>
            <a:chOff x="927338" y="5508117"/>
            <a:chExt cx="2175436" cy="1732206"/>
          </a:xfrm>
        </p:grpSpPr>
        <p:sp>
          <p:nvSpPr>
            <p:cNvPr id="30" name="Text 27"/>
            <p:cNvSpPr/>
            <p:nvPr/>
          </p:nvSpPr>
          <p:spPr>
            <a:xfrm>
              <a:off x="927338" y="6637729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Celcore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1" name="Text 28"/>
            <p:cNvSpPr/>
            <p:nvPr/>
          </p:nvSpPr>
          <p:spPr>
            <a:xfrm>
              <a:off x="927338" y="6853619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CN" sz="965">
                  <a:solidFill>
                    <a:srgbClr val="555555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ECM 基底 — 皮肤结构性再生与修复</a:t>
              </a: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A2976A93-3C2E-C979-685E-253010963591}"/>
                </a:ext>
              </a:extLst>
            </p:cNvPr>
            <p:cNvSpPr/>
            <p:nvPr/>
          </p:nvSpPr>
          <p:spPr>
            <a:xfrm>
              <a:off x="927338" y="5508117"/>
              <a:ext cx="1837632" cy="1040862"/>
            </a:xfrm>
            <a:prstGeom prst="rect">
              <a:avLst/>
            </a:prstGeom>
            <a:blipFill dpi="0" rotWithShape="1">
              <a:blip r:embed="rId13"/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3A4B7FF-5B05-CC18-2AF5-6EE4C045689E}"/>
              </a:ext>
            </a:extLst>
          </p:cNvPr>
          <p:cNvGrpSpPr/>
          <p:nvPr/>
        </p:nvGrpSpPr>
        <p:grpSpPr>
          <a:xfrm>
            <a:off x="7521952" y="3338169"/>
            <a:ext cx="2184530" cy="1732206"/>
            <a:chOff x="3069770" y="5508117"/>
            <a:chExt cx="2184530" cy="1732206"/>
          </a:xfrm>
        </p:grpSpPr>
        <p:sp>
          <p:nvSpPr>
            <p:cNvPr id="32" name="Text 29"/>
            <p:cNvSpPr/>
            <p:nvPr/>
          </p:nvSpPr>
          <p:spPr>
            <a:xfrm>
              <a:off x="3078864" y="6637729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Elravie Re2O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3" name="Text 30"/>
            <p:cNvSpPr/>
            <p:nvPr/>
          </p:nvSpPr>
          <p:spPr>
            <a:xfrm>
              <a:off x="3078864" y="6853619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CN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同种真皮来源 — 即时皮肤重塑</a:t>
              </a: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6FAA6388-BBFB-432C-0BD8-E98CD8943AF2}"/>
                </a:ext>
              </a:extLst>
            </p:cNvPr>
            <p:cNvSpPr/>
            <p:nvPr/>
          </p:nvSpPr>
          <p:spPr>
            <a:xfrm>
              <a:off x="3069770" y="5508117"/>
              <a:ext cx="1837632" cy="1040862"/>
            </a:xfrm>
            <a:prstGeom prst="rect">
              <a:avLst/>
            </a:prstGeom>
            <a:blipFill dpi="0" rotWithShape="1"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FC42B10-3699-9EEA-87F1-59402B3CC5BC}"/>
              </a:ext>
            </a:extLst>
          </p:cNvPr>
          <p:cNvGrpSpPr/>
          <p:nvPr/>
        </p:nvGrpSpPr>
        <p:grpSpPr>
          <a:xfrm>
            <a:off x="5379520" y="5174312"/>
            <a:ext cx="2193623" cy="1725027"/>
            <a:chOff x="5212202" y="5515296"/>
            <a:chExt cx="2193623" cy="1725027"/>
          </a:xfrm>
        </p:grpSpPr>
        <p:sp>
          <p:nvSpPr>
            <p:cNvPr id="34" name="Text 31"/>
            <p:cNvSpPr/>
            <p:nvPr/>
          </p:nvSpPr>
          <p:spPr>
            <a:xfrm>
              <a:off x="5230389" y="6637729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Elravie Re2O Fine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5" name="Text 32"/>
            <p:cNvSpPr/>
            <p:nvPr/>
          </p:nvSpPr>
          <p:spPr>
            <a:xfrm>
              <a:off x="5230390" y="6853619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CN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适用于细致部位的同种真皮焕活剂</a:t>
              </a: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7677C29C-E50A-C685-B8A6-C022B8388B8D}"/>
                </a:ext>
              </a:extLst>
            </p:cNvPr>
            <p:cNvSpPr/>
            <p:nvPr/>
          </p:nvSpPr>
          <p:spPr>
            <a:xfrm>
              <a:off x="5212202" y="5515296"/>
              <a:ext cx="1837632" cy="1040862"/>
            </a:xfrm>
            <a:prstGeom prst="rect">
              <a:avLst/>
            </a:prstGeom>
            <a:blipFill dpi="0"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9" name="Text 36"/>
          <p:cNvSpPr/>
          <p:nvPr/>
        </p:nvSpPr>
        <p:spPr>
          <a:xfrm>
            <a:off x="5379521" y="2959124"/>
            <a:ext cx="4382546" cy="24233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1556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ECM</a:t>
            </a:r>
            <a:endParaRPr lang="en-US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05C39862-A3A3-AB2E-CAC7-7A613C171073}"/>
              </a:ext>
            </a:extLst>
          </p:cNvPr>
          <p:cNvGrpSpPr/>
          <p:nvPr/>
        </p:nvGrpSpPr>
        <p:grpSpPr>
          <a:xfrm>
            <a:off x="5379520" y="7851915"/>
            <a:ext cx="2175436" cy="1586642"/>
            <a:chOff x="927338" y="7840652"/>
            <a:chExt cx="2175436" cy="1586642"/>
          </a:xfrm>
        </p:grpSpPr>
        <p:sp>
          <p:nvSpPr>
            <p:cNvPr id="40" name="Text 37"/>
            <p:cNvSpPr/>
            <p:nvPr/>
          </p:nvSpPr>
          <p:spPr>
            <a:xfrm>
              <a:off x="927338" y="9002242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Lilied M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41" name="Text 38"/>
            <p:cNvSpPr/>
            <p:nvPr/>
          </p:nvSpPr>
          <p:spPr>
            <a:xfrm>
              <a:off x="927338" y="9218132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CN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HA — 保湿并调节水油平衡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F8820AC2-0B7C-F3C3-C322-D7F474366210}"/>
                </a:ext>
              </a:extLst>
            </p:cNvPr>
            <p:cNvSpPr/>
            <p:nvPr/>
          </p:nvSpPr>
          <p:spPr>
            <a:xfrm>
              <a:off x="927338" y="7840652"/>
              <a:ext cx="1837632" cy="1040862"/>
            </a:xfrm>
            <a:prstGeom prst="rect">
              <a:avLst/>
            </a:prstGeom>
            <a:blipFill dpi="0"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B7983FEA-4D67-7A57-F534-1D009731D8B9}"/>
              </a:ext>
            </a:extLst>
          </p:cNvPr>
          <p:cNvGrpSpPr/>
          <p:nvPr/>
        </p:nvGrpSpPr>
        <p:grpSpPr>
          <a:xfrm>
            <a:off x="7521952" y="7851915"/>
            <a:ext cx="2184530" cy="1764184"/>
            <a:chOff x="3069770" y="7840652"/>
            <a:chExt cx="2184530" cy="1764184"/>
          </a:xfrm>
        </p:grpSpPr>
        <p:sp>
          <p:nvSpPr>
            <p:cNvPr id="42" name="Text 39"/>
            <p:cNvSpPr/>
            <p:nvPr/>
          </p:nvSpPr>
          <p:spPr>
            <a:xfrm>
              <a:off x="3078864" y="9002242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Hilowave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43" name="Text 40"/>
            <p:cNvSpPr/>
            <p:nvPr/>
          </p:nvSpPr>
          <p:spPr>
            <a:xfrm>
              <a:off x="3078864" y="9218132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CN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高纯度 HA 胶原蛋白焕活剂 — 水润 · 弹力 · 肤质</a:t>
              </a:r>
              <a:endParaRPr lang="en-US" sz="96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07AC3AC3-F052-C230-853A-99FEF9369ACB}"/>
                </a:ext>
              </a:extLst>
            </p:cNvPr>
            <p:cNvSpPr/>
            <p:nvPr/>
          </p:nvSpPr>
          <p:spPr>
            <a:xfrm>
              <a:off x="3069770" y="7840652"/>
              <a:ext cx="1837632" cy="1040862"/>
            </a:xfrm>
            <a:prstGeom prst="rect">
              <a:avLst/>
            </a:prstGeom>
            <a:blipFill dpi="0" rotWithShape="1"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C93FF9B0-2397-3227-5BB6-AC461D01FDA9}"/>
              </a:ext>
            </a:extLst>
          </p:cNvPr>
          <p:cNvGrpSpPr/>
          <p:nvPr/>
        </p:nvGrpSpPr>
        <p:grpSpPr>
          <a:xfrm>
            <a:off x="5379520" y="9675648"/>
            <a:ext cx="4345149" cy="1757005"/>
            <a:chOff x="9664384" y="7263323"/>
            <a:chExt cx="4345149" cy="1757005"/>
          </a:xfrm>
        </p:grpSpPr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8CBC44F5-AC36-CF95-37DC-3400D4038C9F}"/>
                </a:ext>
              </a:extLst>
            </p:cNvPr>
            <p:cNvGrpSpPr/>
            <p:nvPr/>
          </p:nvGrpSpPr>
          <p:grpSpPr>
            <a:xfrm>
              <a:off x="9664384" y="7263323"/>
              <a:ext cx="2193623" cy="1757005"/>
              <a:chOff x="5212202" y="7847831"/>
              <a:chExt cx="2193623" cy="1757005"/>
            </a:xfrm>
          </p:grpSpPr>
          <p:sp>
            <p:nvSpPr>
              <p:cNvPr id="44" name="Text 41"/>
              <p:cNvSpPr/>
              <p:nvPr/>
            </p:nvSpPr>
            <p:spPr>
              <a:xfrm>
                <a:off x="5230389" y="9002242"/>
                <a:ext cx="2175436" cy="192223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rmAutofit fontScale="92500" lnSpcReduction="20000"/>
              </a:bodyPr>
              <a:lstStyle/>
              <a:p>
                <a:r>
                  <a:rPr lang="zh-CN" sz="1183" b="1" dirty="0">
                    <a:solidFill>
                      <a:srgbClr val="1A1A1A"/>
                    </a:solidFill>
                    <a:latin typeface="신세계 Regular" panose="02000300000000000000" pitchFamily="50" charset="-127"/>
                    <a:ea typeface="Microsoft YaHei"/>
                    <a:cs typeface="Sinsegye" pitchFamily="34" charset="-120"/>
                  </a:rPr>
                  <a:t>Juvéderm SKINVIVE</a:t>
                </a:r>
                <a:endParaRPr lang="en-US" sz="1183" dirty="0">
                  <a:latin typeface="신세계 Regular" panose="02000300000000000000" pitchFamily="50" charset="-127"/>
                  <a:ea typeface="신세계 Regular" panose="02000300000000000000" pitchFamily="50" charset="-127"/>
                </a:endParaRPr>
              </a:p>
            </p:txBody>
          </p:sp>
          <p:sp>
            <p:nvSpPr>
              <p:cNvPr id="45" name="Text 42"/>
              <p:cNvSpPr/>
              <p:nvPr/>
            </p:nvSpPr>
            <p:spPr>
              <a:xfrm>
                <a:off x="5230390" y="9218132"/>
                <a:ext cx="2039112" cy="411480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Autofit/>
              </a:bodyPr>
              <a:lstStyle/>
              <a:p>
                <a:pPr>
                  <a:lnSpc>
                    <a:spcPct val="131104"/>
                  </a:lnSpc>
                </a:pPr>
                <a:r>
                  <a:rPr lang="zh-CN" sz="965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Microsoft YaHei"/>
                    <a:cs typeface="Sinsegye" pitchFamily="34" charset="-120"/>
                  </a:rPr>
                  <a:t>高端 HA — 持久保湿 · 改善细纹</a:t>
                </a:r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78D7F5B0-12CF-C48D-0374-D756879E73E1}"/>
                  </a:ext>
                </a:extLst>
              </p:cNvPr>
              <p:cNvSpPr/>
              <p:nvPr/>
            </p:nvSpPr>
            <p:spPr>
              <a:xfrm>
                <a:off x="5212202" y="7847831"/>
                <a:ext cx="1837632" cy="1040862"/>
              </a:xfrm>
              <a:prstGeom prst="rect">
                <a:avLst/>
              </a:prstGeom>
              <a:blipFill dpi="0" rotWithShape="1"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22A4D949-DF8A-3352-E43B-9DF607312FC8}"/>
                </a:ext>
              </a:extLst>
            </p:cNvPr>
            <p:cNvGrpSpPr/>
            <p:nvPr/>
          </p:nvGrpSpPr>
          <p:grpSpPr>
            <a:xfrm>
              <a:off x="11806816" y="7263323"/>
              <a:ext cx="2202717" cy="1757005"/>
              <a:chOff x="7354634" y="7847831"/>
              <a:chExt cx="2202717" cy="1757005"/>
            </a:xfrm>
          </p:grpSpPr>
          <p:sp>
            <p:nvSpPr>
              <p:cNvPr id="46" name="Text 43"/>
              <p:cNvSpPr/>
              <p:nvPr/>
            </p:nvSpPr>
            <p:spPr>
              <a:xfrm>
                <a:off x="7381915" y="9002242"/>
                <a:ext cx="2175436" cy="192223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rmAutofit fontScale="92500" lnSpcReduction="20000"/>
              </a:bodyPr>
              <a:lstStyle/>
              <a:p>
                <a:r>
                  <a:rPr lang="zh-CN" sz="1183" b="1" dirty="0">
                    <a:solidFill>
                      <a:srgbClr val="1A1A1A"/>
                    </a:solidFill>
                    <a:latin typeface="신세계 Regular" panose="02000300000000000000" pitchFamily="50" charset="-127"/>
                    <a:ea typeface="Microsoft YaHei"/>
                    <a:cs typeface="Sinsegye" pitchFamily="34" charset="-120"/>
                  </a:rPr>
                  <a:t>Belotero Revive</a:t>
                </a:r>
                <a:endParaRPr lang="en-US" sz="1183" dirty="0">
                  <a:latin typeface="신세계 Regular" panose="02000300000000000000" pitchFamily="50" charset="-127"/>
                  <a:ea typeface="신세계 Regular" panose="02000300000000000000" pitchFamily="50" charset="-127"/>
                </a:endParaRPr>
              </a:p>
            </p:txBody>
          </p:sp>
          <p:sp>
            <p:nvSpPr>
              <p:cNvPr id="47" name="Text 44"/>
              <p:cNvSpPr/>
              <p:nvPr/>
            </p:nvSpPr>
            <p:spPr>
              <a:xfrm>
                <a:off x="7381915" y="9218132"/>
                <a:ext cx="2039112" cy="411480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Autofit/>
              </a:bodyPr>
              <a:lstStyle/>
              <a:p>
                <a:pPr>
                  <a:lnSpc>
                    <a:spcPct val="131104"/>
                  </a:lnSpc>
                </a:pPr>
                <a:r>
                  <a:rPr lang="zh-CN" sz="965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Microsoft YaHei"/>
                    <a:cs typeface="Sinsegye" pitchFamily="34" charset="-120"/>
                  </a:rPr>
                  <a:t>HA + 甘油 — 保湿 · 强化屏障 · 抗炎</a:t>
                </a:r>
                <a:endParaRPr lang="en-US" sz="965" dirty="0">
                  <a:latin typeface="신세계 Regular" panose="02000300000000000000" pitchFamily="50" charset="-127"/>
                  <a:ea typeface="신세계 Regular" panose="02000300000000000000" pitchFamily="50" charset="-127"/>
                </a:endParaRPr>
              </a:p>
            </p:txBody>
          </p:sp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6842A6A3-0F28-D48F-2F62-69A6C2DCCBC8}"/>
                  </a:ext>
                </a:extLst>
              </p:cNvPr>
              <p:cNvSpPr/>
              <p:nvPr/>
            </p:nvSpPr>
            <p:spPr>
              <a:xfrm>
                <a:off x="7354634" y="7847831"/>
                <a:ext cx="1837632" cy="1040862"/>
              </a:xfrm>
              <a:prstGeom prst="rect">
                <a:avLst/>
              </a:prstGeom>
              <a:blipFill dpi="0" rotWithShape="1"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92" name="Text 36">
            <a:extLst>
              <a:ext uri="{FF2B5EF4-FFF2-40B4-BE49-F238E27FC236}">
                <a16:creationId xmlns:a16="http://schemas.microsoft.com/office/drawing/2014/main" id="{7E4C7A88-8F87-BC7C-5E4F-37B6E63124F1}"/>
              </a:ext>
            </a:extLst>
          </p:cNvPr>
          <p:cNvSpPr/>
          <p:nvPr/>
        </p:nvSpPr>
        <p:spPr>
          <a:xfrm>
            <a:off x="5379521" y="7460460"/>
            <a:ext cx="4382546" cy="24233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CN" sz="1556" b="1" dirty="0">
                <a:solidFill>
                  <a:srgbClr val="1A1A1A"/>
                </a:solidFill>
                <a:latin typeface="신세계 Regular" panose="02000300000000000000" pitchFamily="50" charset="-127"/>
                <a:ea typeface="Microsoft YaHei"/>
                <a:cs typeface="Sinsegye" pitchFamily="34" charset="-120"/>
              </a:rPr>
              <a:t>弹力 / 水光</a:t>
            </a:r>
            <a:endParaRPr lang="en-US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7" name="Text 37">
            <a:extLst>
              <a:ext uri="{FF2B5EF4-FFF2-40B4-BE49-F238E27FC236}">
                <a16:creationId xmlns:a16="http://schemas.microsoft.com/office/drawing/2014/main" id="{8703C385-418D-C576-3BD5-9C9EBF15EAC0}"/>
              </a:ext>
            </a:extLst>
          </p:cNvPr>
          <p:cNvSpPr/>
          <p:nvPr/>
        </p:nvSpPr>
        <p:spPr>
          <a:xfrm>
            <a:off x="5379520" y="12632221"/>
            <a:ext cx="2175436" cy="192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zh-CN" sz="1183" b="1">
                <a:solidFill>
                  <a:srgbClr val="1A1A1A"/>
                </a:solidFill>
                <a:latin typeface="신세계 Regular" panose="02000300000000000000" pitchFamily="50" charset="-127"/>
                <a:ea typeface="Microsoft YaHei"/>
                <a:cs typeface="Sinsegye" pitchFamily="34" charset="-120"/>
              </a:rPr>
              <a:t>HIJU</a:t>
            </a:r>
            <a:endParaRPr lang="en-US" sz="118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8" name="Text 38">
            <a:extLst>
              <a:ext uri="{FF2B5EF4-FFF2-40B4-BE49-F238E27FC236}">
                <a16:creationId xmlns:a16="http://schemas.microsoft.com/office/drawing/2014/main" id="{D156B3FE-DADC-EC72-3392-A81F5090B9B2}"/>
              </a:ext>
            </a:extLst>
          </p:cNvPr>
          <p:cNvSpPr/>
          <p:nvPr/>
        </p:nvSpPr>
        <p:spPr>
          <a:xfrm>
            <a:off x="5379520" y="12848111"/>
            <a:ext cx="2039112" cy="411480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31104"/>
              </a:lnSpc>
            </a:pPr>
            <a:r>
              <a:rPr lang="zh-CN" sz="965" dirty="0">
                <a:solidFill>
                  <a:srgbClr val="555555"/>
                </a:solidFill>
                <a:latin typeface="신세계 Regular" panose="02000300000000000000" pitchFamily="50" charset="-127"/>
                <a:ea typeface="Microsoft YaHei"/>
                <a:cs typeface="Sinsegye" pitchFamily="34" charset="-120"/>
              </a:rPr>
              <a:t>高密度保湿护理</a:t>
            </a:r>
            <a:endParaRPr lang="en-US" sz="96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CF773360-A023-032B-A4FA-4B0B80893B79}"/>
              </a:ext>
            </a:extLst>
          </p:cNvPr>
          <p:cNvGrpSpPr/>
          <p:nvPr/>
        </p:nvGrpSpPr>
        <p:grpSpPr>
          <a:xfrm>
            <a:off x="927338" y="3248885"/>
            <a:ext cx="8432248" cy="0"/>
            <a:chOff x="927338" y="3248885"/>
            <a:chExt cx="8432248" cy="0"/>
          </a:xfrm>
        </p:grpSpPr>
        <p:cxnSp>
          <p:nvCxnSpPr>
            <p:cNvPr id="190" name="직선 연결선 189">
              <a:extLst>
                <a:ext uri="{FF2B5EF4-FFF2-40B4-BE49-F238E27FC236}">
                  <a16:creationId xmlns:a16="http://schemas.microsoft.com/office/drawing/2014/main" id="{01735976-8FB8-113C-2A04-C4D5B5403F33}"/>
                </a:ext>
              </a:extLst>
            </p:cNvPr>
            <p:cNvCxnSpPr>
              <a:cxnSpLocks/>
            </p:cNvCxnSpPr>
            <p:nvPr/>
          </p:nvCxnSpPr>
          <p:spPr>
            <a:xfrm>
              <a:off x="927338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9715F6CC-9CE3-EF6B-DD40-AC5C9FBB3CEB}"/>
                </a:ext>
              </a:extLst>
            </p:cNvPr>
            <p:cNvCxnSpPr>
              <a:cxnSpLocks/>
            </p:cNvCxnSpPr>
            <p:nvPr/>
          </p:nvCxnSpPr>
          <p:spPr>
            <a:xfrm>
              <a:off x="5379521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6780811B-7007-8124-B2BB-2B884832C080}"/>
              </a:ext>
            </a:extLst>
          </p:cNvPr>
          <p:cNvGrpSpPr/>
          <p:nvPr/>
        </p:nvGrpSpPr>
        <p:grpSpPr>
          <a:xfrm>
            <a:off x="927338" y="7760260"/>
            <a:ext cx="8432248" cy="0"/>
            <a:chOff x="927338" y="3248885"/>
            <a:chExt cx="8432248" cy="0"/>
          </a:xfrm>
        </p:grpSpPr>
        <p:cxnSp>
          <p:nvCxnSpPr>
            <p:cNvPr id="194" name="직선 연결선 193">
              <a:extLst>
                <a:ext uri="{FF2B5EF4-FFF2-40B4-BE49-F238E27FC236}">
                  <a16:creationId xmlns:a16="http://schemas.microsoft.com/office/drawing/2014/main" id="{A10763DF-B096-9E02-9E98-EBF1ADD6F58F}"/>
                </a:ext>
              </a:extLst>
            </p:cNvPr>
            <p:cNvCxnSpPr>
              <a:cxnSpLocks/>
            </p:cNvCxnSpPr>
            <p:nvPr/>
          </p:nvCxnSpPr>
          <p:spPr>
            <a:xfrm>
              <a:off x="927338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5" name="직선 연결선 194">
              <a:extLst>
                <a:ext uri="{FF2B5EF4-FFF2-40B4-BE49-F238E27FC236}">
                  <a16:creationId xmlns:a16="http://schemas.microsoft.com/office/drawing/2014/main" id="{1CE9895A-F689-72E1-7C5E-6FA1C9D5BE46}"/>
                </a:ext>
              </a:extLst>
            </p:cNvPr>
            <p:cNvCxnSpPr>
              <a:cxnSpLocks/>
            </p:cNvCxnSpPr>
            <p:nvPr/>
          </p:nvCxnSpPr>
          <p:spPr>
            <a:xfrm>
              <a:off x="5379521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DFCF7E86-60CC-4359-125C-759FD1CF35A7}"/>
              </a:ext>
            </a:extLst>
          </p:cNvPr>
          <p:cNvGrpSpPr/>
          <p:nvPr/>
        </p:nvGrpSpPr>
        <p:grpSpPr>
          <a:xfrm>
            <a:off x="3087956" y="6304259"/>
            <a:ext cx="2175436" cy="642064"/>
            <a:chOff x="5230389" y="4422876"/>
            <a:chExt cx="2175436" cy="642064"/>
          </a:xfrm>
        </p:grpSpPr>
        <p:sp>
          <p:nvSpPr>
            <p:cNvPr id="4" name="Text 13">
              <a:extLst>
                <a:ext uri="{FF2B5EF4-FFF2-40B4-BE49-F238E27FC236}">
                  <a16:creationId xmlns:a16="http://schemas.microsoft.com/office/drawing/2014/main" id="{204CB965-F157-1162-5997-13DAB2EC61C2}"/>
                </a:ext>
              </a:extLst>
            </p:cNvPr>
            <p:cNvSpPr/>
            <p:nvPr/>
          </p:nvSpPr>
          <p:spPr>
            <a:xfrm>
              <a:off x="5230389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EXOXE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7" name="Text 14">
              <a:extLst>
                <a:ext uri="{FF2B5EF4-FFF2-40B4-BE49-F238E27FC236}">
                  <a16:creationId xmlns:a16="http://schemas.microsoft.com/office/drawing/2014/main" id="{0D2CF46A-E595-122C-D7CC-3B57F54930E5}"/>
                </a:ext>
              </a:extLst>
            </p:cNvPr>
            <p:cNvSpPr/>
            <p:nvPr/>
          </p:nvSpPr>
          <p:spPr>
            <a:xfrm>
              <a:off x="5230389" y="4638766"/>
              <a:ext cx="2039112" cy="42617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zh-CN" sz="9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Microsoft YaHei"/>
                  <a:cs typeface="Sinsegye" pitchFamily="34" charset="-120"/>
                </a:rPr>
                <a:t>干细胞衍生成分 — 皮肤再生与强化屏障</a:t>
              </a:r>
              <a:endParaRPr lang="en-US" altLang="ko-KR" sz="9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0">
    <wetp:webextensionref xmlns:r="http://schemas.openxmlformats.org/officeDocument/2006/relationships" r:id="rId1"/>
  </wetp:taskpane>
  <wetp:taskpane dockstate="right" visibility="0" width="613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6EA11EE-D77F-4A04-B1C8-08FBA8B6870C}">
  <we:reference id="wa200007130" version="1.0.0.1" store="ko-KR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82F30BB-FF99-4E57-A1D1-210899C0DE76}">
  <we:reference id="wa200005669" version="2.0.0.0" store="ko-KR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2674</TotalTime>
  <Words>2081</Words>
  <Application>Microsoft Office PowerPoint</Application>
  <PresentationFormat>사용자 지정</PresentationFormat>
  <Paragraphs>533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신세계 Regular</vt:lpstr>
      <vt:lpstr>Arial</vt:lpstr>
      <vt:lpstr>신세계 SemiBold</vt:lpstr>
      <vt:lpstr>신세계 Medium</vt:lpstr>
      <vt:lpstr>신세계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natunohikari030@gmail.com</cp:lastModifiedBy>
  <cp:revision>73</cp:revision>
  <cp:lastPrinted>2026-07-22T06:48:58Z</cp:lastPrinted>
  <dcterms:created xsi:type="dcterms:W3CDTF">2026-07-20T01:44:47Z</dcterms:created>
  <dcterms:modified xsi:type="dcterms:W3CDTF">2026-09-29T09:33:17Z</dcterms:modified>
</cp:coreProperties>
</file>